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8" r:id="rId2"/>
    <p:sldId id="280" r:id="rId3"/>
    <p:sldId id="281" r:id="rId4"/>
    <p:sldId id="282" r:id="rId5"/>
    <p:sldId id="283" r:id="rId6"/>
    <p:sldId id="284" r:id="rId7"/>
    <p:sldId id="285" r:id="rId8"/>
    <p:sldId id="286" r:id="rId9"/>
    <p:sldId id="322" r:id="rId10"/>
    <p:sldId id="300" r:id="rId11"/>
    <p:sldId id="287" r:id="rId12"/>
    <p:sldId id="305" r:id="rId13"/>
    <p:sldId id="288" r:id="rId14"/>
    <p:sldId id="289" r:id="rId15"/>
    <p:sldId id="290" r:id="rId16"/>
    <p:sldId id="291" r:id="rId17"/>
    <p:sldId id="292" r:id="rId18"/>
    <p:sldId id="293" r:id="rId19"/>
    <p:sldId id="295" r:id="rId20"/>
    <p:sldId id="306" r:id="rId21"/>
    <p:sldId id="296" r:id="rId22"/>
    <p:sldId id="316" r:id="rId23"/>
    <p:sldId id="323" r:id="rId24"/>
    <p:sldId id="297" r:id="rId25"/>
    <p:sldId id="298" r:id="rId26"/>
    <p:sldId id="309" r:id="rId27"/>
    <p:sldId id="310" r:id="rId28"/>
    <p:sldId id="311" r:id="rId29"/>
    <p:sldId id="312" r:id="rId30"/>
    <p:sldId id="313" r:id="rId31"/>
    <p:sldId id="314"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84" autoAdjust="0"/>
    <p:restoredTop sz="94685" autoAdjust="0"/>
  </p:normalViewPr>
  <p:slideViewPr>
    <p:cSldViewPr>
      <p:cViewPr varScale="1">
        <p:scale>
          <a:sx n="39" d="100"/>
          <a:sy n="39" d="100"/>
        </p:scale>
        <p:origin x="1416"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7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1B60B7-542A-403F-A8B2-C0123543DA5A}" type="datetimeFigureOut">
              <a:rPr lang="en-US" smtClean="0"/>
              <a:t>22-Jan-26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DC5912-9A15-4DFB-853F-4907FBC4C72D}" type="slidenum">
              <a:rPr lang="en-US" smtClean="0"/>
              <a:t>‹#›</a:t>
            </a:fld>
            <a:endParaRPr lang="en-US"/>
          </a:p>
        </p:txBody>
      </p:sp>
    </p:spTree>
    <p:extLst>
      <p:ext uri="{BB962C8B-B14F-4D97-AF65-F5344CB8AC3E}">
        <p14:creationId xmlns:p14="http://schemas.microsoft.com/office/powerpoint/2010/main" val="3440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4598172-D1B0-4949-804A-DB4EBB20547D}" type="slidenum">
              <a:rPr lang="en-US"/>
              <a:pPr/>
              <a:t>‹#›</a:t>
            </a:fld>
            <a:endParaRPr lang="en-US"/>
          </a:p>
        </p:txBody>
      </p:sp>
      <p:pic>
        <p:nvPicPr>
          <p:cNvPr id="7" name="Picture 6"/>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75260" y="95568"/>
            <a:ext cx="662940" cy="703580"/>
          </a:xfrm>
          <a:prstGeom prst="rect">
            <a:avLst/>
          </a:prstGeom>
          <a:noFill/>
          <a:ln>
            <a:noFill/>
          </a:ln>
        </p:spPr>
      </p:pic>
      <p:pic>
        <p:nvPicPr>
          <p:cNvPr id="8" name="Picture 7"/>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66800" y="113348"/>
            <a:ext cx="1028700" cy="685800"/>
          </a:xfrm>
          <a:prstGeom prst="rect">
            <a:avLst/>
          </a:prstGeom>
          <a:noFill/>
          <a:ln>
            <a:noFill/>
          </a:ln>
        </p:spPr>
      </p:pic>
    </p:spTree>
    <p:extLst>
      <p:ext uri="{BB962C8B-B14F-4D97-AF65-F5344CB8AC3E}">
        <p14:creationId xmlns:p14="http://schemas.microsoft.com/office/powerpoint/2010/main" val="36400333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390B5B7-F15C-4210-9E96-2DC0D523856B}" type="slidenum">
              <a:rPr lang="en-US"/>
              <a:pPr/>
              <a:t>‹#›</a:t>
            </a:fld>
            <a:endParaRPr lang="en-US"/>
          </a:p>
        </p:txBody>
      </p:sp>
    </p:spTree>
    <p:extLst>
      <p:ext uri="{BB962C8B-B14F-4D97-AF65-F5344CB8AC3E}">
        <p14:creationId xmlns:p14="http://schemas.microsoft.com/office/powerpoint/2010/main" val="17005174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B39918E-82C4-46EE-AFFE-35F2931C3B4E}" type="slidenum">
              <a:rPr lang="en-US"/>
              <a:pPr/>
              <a:t>‹#›</a:t>
            </a:fld>
            <a:endParaRPr lang="en-US"/>
          </a:p>
        </p:txBody>
      </p:sp>
    </p:spTree>
    <p:extLst>
      <p:ext uri="{BB962C8B-B14F-4D97-AF65-F5344CB8AC3E}">
        <p14:creationId xmlns:p14="http://schemas.microsoft.com/office/powerpoint/2010/main" val="96814215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817F128-AB87-40D3-91F5-E8D2D4911240}" type="slidenum">
              <a:rPr lang="en-US"/>
              <a:pPr/>
              <a:t>‹#›</a:t>
            </a:fld>
            <a:endParaRPr lang="en-US"/>
          </a:p>
        </p:txBody>
      </p:sp>
    </p:spTree>
    <p:extLst>
      <p:ext uri="{BB962C8B-B14F-4D97-AF65-F5344CB8AC3E}">
        <p14:creationId xmlns:p14="http://schemas.microsoft.com/office/powerpoint/2010/main" val="18014125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A28A746E-5D8E-46A4-95D4-E817B93FE65F}" type="slidenum">
              <a:rPr lang="en-US"/>
              <a:pPr/>
              <a:t>‹#›</a:t>
            </a:fld>
            <a:endParaRPr lang="en-US"/>
          </a:p>
        </p:txBody>
      </p:sp>
    </p:spTree>
    <p:extLst>
      <p:ext uri="{BB962C8B-B14F-4D97-AF65-F5344CB8AC3E}">
        <p14:creationId xmlns:p14="http://schemas.microsoft.com/office/powerpoint/2010/main" val="74217439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7E8006E1-3323-4F0D-99E1-AB16C4E0CE03}" type="slidenum">
              <a:rPr lang="en-US"/>
              <a:pPr/>
              <a:t>‹#›</a:t>
            </a:fld>
            <a:endParaRPr lang="en-US"/>
          </a:p>
        </p:txBody>
      </p:sp>
    </p:spTree>
    <p:extLst>
      <p:ext uri="{BB962C8B-B14F-4D97-AF65-F5344CB8AC3E}">
        <p14:creationId xmlns:p14="http://schemas.microsoft.com/office/powerpoint/2010/main" val="33534577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F1DAF161-6D8C-436B-8B66-C520E250A5F9}" type="slidenum">
              <a:rPr lang="en-US"/>
              <a:pPr/>
              <a:t>‹#›</a:t>
            </a:fld>
            <a:endParaRPr lang="en-US"/>
          </a:p>
        </p:txBody>
      </p:sp>
    </p:spTree>
    <p:extLst>
      <p:ext uri="{BB962C8B-B14F-4D97-AF65-F5344CB8AC3E}">
        <p14:creationId xmlns:p14="http://schemas.microsoft.com/office/powerpoint/2010/main" val="22883344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9D16F90-5C92-432B-9D06-E454A2C00AFB}" type="slidenum">
              <a:rPr lang="en-US"/>
              <a:pPr/>
              <a:t>‹#›</a:t>
            </a:fld>
            <a:endParaRPr lang="en-US"/>
          </a:p>
        </p:txBody>
      </p:sp>
    </p:spTree>
    <p:extLst>
      <p:ext uri="{BB962C8B-B14F-4D97-AF65-F5344CB8AC3E}">
        <p14:creationId xmlns:p14="http://schemas.microsoft.com/office/powerpoint/2010/main" val="354744290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8165C83-5359-4E39-9921-2C8A9F3FE8A6}" type="slidenum">
              <a:rPr lang="en-US"/>
              <a:pPr/>
              <a:t>‹#›</a:t>
            </a:fld>
            <a:endParaRPr lang="en-US"/>
          </a:p>
        </p:txBody>
      </p:sp>
    </p:spTree>
    <p:extLst>
      <p:ext uri="{BB962C8B-B14F-4D97-AF65-F5344CB8AC3E}">
        <p14:creationId xmlns:p14="http://schemas.microsoft.com/office/powerpoint/2010/main" val="23197459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0EC5B71-F004-45EC-B422-50583B63651E}" type="slidenum">
              <a:rPr lang="en-US"/>
              <a:pPr/>
              <a:t>‹#›</a:t>
            </a:fld>
            <a:endParaRPr lang="en-US"/>
          </a:p>
        </p:txBody>
      </p:sp>
    </p:spTree>
    <p:extLst>
      <p:ext uri="{BB962C8B-B14F-4D97-AF65-F5344CB8AC3E}">
        <p14:creationId xmlns:p14="http://schemas.microsoft.com/office/powerpoint/2010/main" val="29475348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8848735-2DDC-4205-941A-6401DA88150E}" type="slidenum">
              <a:rPr lang="en-US"/>
              <a:pPr/>
              <a:t>‹#›</a:t>
            </a:fld>
            <a:endParaRPr lang="en-US"/>
          </a:p>
        </p:txBody>
      </p:sp>
    </p:spTree>
    <p:extLst>
      <p:ext uri="{BB962C8B-B14F-4D97-AF65-F5344CB8AC3E}">
        <p14:creationId xmlns:p14="http://schemas.microsoft.com/office/powerpoint/2010/main" val="217369772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507F9F28-9B7C-4D4F-9A38-71431083EC50}"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26"/>
          <p:cNvSpPr>
            <a:spLocks noGrp="1" noChangeArrowheads="1"/>
          </p:cNvSpPr>
          <p:nvPr>
            <p:ph type="ctrTitle"/>
          </p:nvPr>
        </p:nvSpPr>
        <p:spPr>
          <a:xfrm>
            <a:off x="762000" y="1524000"/>
            <a:ext cx="7696200" cy="1295400"/>
          </a:xfrm>
        </p:spPr>
        <p:txBody>
          <a:bodyPr/>
          <a:lstStyle/>
          <a:p>
            <a:r>
              <a:rPr lang="en-US" sz="6600" dirty="0">
                <a:latin typeface="Arial Rounded MT Bold" pitchFamily="34" charset="0"/>
              </a:rPr>
              <a:t>5.2 Microsoft Excel</a:t>
            </a:r>
          </a:p>
        </p:txBody>
      </p:sp>
      <p:pic>
        <p:nvPicPr>
          <p:cNvPr id="2" name="Picture 1"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393" y="3259393"/>
            <a:ext cx="3751007" cy="37510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subTitle" idx="1"/>
          </p:nvPr>
        </p:nvSpPr>
        <p:spPr>
          <a:xfrm>
            <a:off x="457200" y="2438400"/>
            <a:ext cx="8229600" cy="1752600"/>
          </a:xfrm>
        </p:spPr>
        <p:txBody>
          <a:bodyPr/>
          <a:lstStyle/>
          <a:p>
            <a:pPr algn="l"/>
            <a:r>
              <a:rPr lang="en-US" sz="3600" dirty="0"/>
              <a:t>…Microsoft Excel is the spreadsheet component of the Microsoft Office Suite.</a:t>
            </a:r>
          </a:p>
          <a:p>
            <a:pPr algn="l"/>
            <a:r>
              <a:rPr lang="en-US" sz="3600" dirty="0"/>
              <a:t>It is used primarily to enter, edit, format, sort, perform mathematical computations, save, retrieve and     print numeric data.</a:t>
            </a:r>
            <a:endParaRPr lang="en-US" dirty="0"/>
          </a:p>
        </p:txBody>
      </p:sp>
      <p:sp>
        <p:nvSpPr>
          <p:cNvPr id="5" name="Rectangle 1026"/>
          <p:cNvSpPr>
            <a:spLocks noGrp="1" noChangeArrowheads="1"/>
          </p:cNvSpPr>
          <p:nvPr>
            <p:ph type="ctrTitle"/>
          </p:nvPr>
        </p:nvSpPr>
        <p:spPr>
          <a:xfrm>
            <a:off x="4419599" y="304800"/>
            <a:ext cx="4744453" cy="2133600"/>
          </a:xfrm>
        </p:spPr>
        <p:txBody>
          <a:bodyPr/>
          <a:lstStyle/>
          <a:p>
            <a:r>
              <a:rPr lang="en-US" sz="6600" dirty="0">
                <a:latin typeface="Arial Rounded MT Bold" pitchFamily="34" charset="0"/>
              </a:rPr>
              <a:t>Microsoft</a:t>
            </a:r>
            <a:br>
              <a:rPr lang="en-US" sz="6600" dirty="0">
                <a:latin typeface="Arial Rounded MT Bold" pitchFamily="34" charset="0"/>
              </a:rPr>
            </a:br>
            <a:r>
              <a:rPr lang="en-US" sz="6600" dirty="0">
                <a:latin typeface="Arial Rounded MT Bold" pitchFamily="34" charset="0"/>
              </a:rPr>
              <a:t>Excel…</a:t>
            </a:r>
          </a:p>
        </p:txBody>
      </p:sp>
      <p:pic>
        <p:nvPicPr>
          <p:cNvPr id="6" name="Picture 5"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5410200"/>
            <a:ext cx="1447800" cy="1447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1000"/>
                                        <p:tgtEl>
                                          <p:spTgt spid="27651">
                                            <p:txEl>
                                              <p:pRg st="0" end="0"/>
                                            </p:txEl>
                                          </p:spTgt>
                                        </p:tgtEl>
                                      </p:cBhvr>
                                    </p:animEffect>
                                    <p:anim calcmode="lin" valueType="num">
                                      <p:cBhvr>
                                        <p:cTn id="8"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Effect transition="in" filter="fade">
                                      <p:cBhvr>
                                        <p:cTn id="13" dur="1000"/>
                                        <p:tgtEl>
                                          <p:spTgt spid="27651">
                                            <p:txEl>
                                              <p:pRg st="1" end="1"/>
                                            </p:txEl>
                                          </p:spTgt>
                                        </p:tgtEl>
                                      </p:cBhvr>
                                    </p:animEffect>
                                    <p:anim calcmode="lin" valueType="num">
                                      <p:cBhvr>
                                        <p:cTn id="14"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subTitle" idx="1"/>
          </p:nvPr>
        </p:nvSpPr>
        <p:spPr>
          <a:xfrm>
            <a:off x="457200" y="2971800"/>
            <a:ext cx="8229600" cy="3429000"/>
          </a:xfrm>
        </p:spPr>
        <p:txBody>
          <a:bodyPr/>
          <a:lstStyle/>
          <a:p>
            <a:pPr marL="571500" lvl="0" indent="-571500" algn="l">
              <a:buFont typeface="Arial" pitchFamily="34" charset="0"/>
              <a:buChar char="•"/>
            </a:pPr>
            <a:r>
              <a:rPr lang="en-US" sz="3600" dirty="0"/>
              <a:t>Identify the main parts of the Excel window.</a:t>
            </a:r>
          </a:p>
          <a:p>
            <a:pPr marL="571500" lvl="0" indent="-571500" algn="l">
              <a:buFont typeface="Arial" pitchFamily="34" charset="0"/>
              <a:buChar char="•"/>
            </a:pPr>
            <a:r>
              <a:rPr lang="en-US" sz="3600" dirty="0"/>
              <a:t>Identify the purpose of the commands on the menu bar.</a:t>
            </a:r>
          </a:p>
          <a:p>
            <a:pPr marL="571500" indent="-571500" algn="l">
              <a:buFont typeface="Arial" pitchFamily="34" charset="0"/>
              <a:buChar char="•"/>
            </a:pPr>
            <a:r>
              <a:rPr lang="en-US" sz="3600" dirty="0"/>
              <a:t>Work with the buttons on the toolbar.</a:t>
            </a:r>
          </a:p>
          <a:p>
            <a:pPr lvl="0" algn="l"/>
            <a:endParaRPr lang="en-US" sz="3600" dirty="0"/>
          </a:p>
        </p:txBody>
      </p:sp>
      <p:sp>
        <p:nvSpPr>
          <p:cNvPr id="5" name="Rectangle 1026"/>
          <p:cNvSpPr>
            <a:spLocks noGrp="1" noChangeArrowheads="1"/>
          </p:cNvSpPr>
          <p:nvPr>
            <p:ph type="ctrTitle"/>
          </p:nvPr>
        </p:nvSpPr>
        <p:spPr>
          <a:xfrm>
            <a:off x="762000" y="1524000"/>
            <a:ext cx="7696200" cy="1295400"/>
          </a:xfrm>
        </p:spPr>
        <p:txBody>
          <a:bodyPr/>
          <a:lstStyle/>
          <a:p>
            <a:r>
              <a:rPr lang="en-US" sz="6600" dirty="0">
                <a:latin typeface="Arial Rounded MT Bold" pitchFamily="34" charset="0"/>
              </a:rPr>
              <a:t>Objectives</a:t>
            </a:r>
          </a:p>
        </p:txBody>
      </p:sp>
      <p:pic>
        <p:nvPicPr>
          <p:cNvPr id="6" name="Picture 5"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600" y="3962400"/>
            <a:ext cx="1371600" cy="1447800"/>
          </a:xfrm>
          <a:prstGeom prst="rect">
            <a:avLst/>
          </a:prstGeom>
        </p:spPr>
      </p:pic>
    </p:spTree>
    <p:extLst>
      <p:ext uri="{BB962C8B-B14F-4D97-AF65-F5344CB8AC3E}">
        <p14:creationId xmlns:p14="http://schemas.microsoft.com/office/powerpoint/2010/main" val="12931459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1000"/>
                                        <p:tgtEl>
                                          <p:spTgt spid="27651">
                                            <p:txEl>
                                              <p:pRg st="0" end="0"/>
                                            </p:txEl>
                                          </p:spTgt>
                                        </p:tgtEl>
                                      </p:cBhvr>
                                    </p:animEffect>
                                    <p:anim calcmode="lin" valueType="num">
                                      <p:cBhvr>
                                        <p:cTn id="8"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txEl>
                                              <p:pRg st="1" end="1"/>
                                            </p:txEl>
                                          </p:spTgt>
                                        </p:tgtEl>
                                        <p:attrNameLst>
                                          <p:attrName>style.visibility</p:attrName>
                                        </p:attrNameLst>
                                      </p:cBhvr>
                                      <p:to>
                                        <p:strVal val="visible"/>
                                      </p:to>
                                    </p:set>
                                    <p:animEffect transition="in" filter="fade">
                                      <p:cBhvr>
                                        <p:cTn id="14" dur="1000"/>
                                        <p:tgtEl>
                                          <p:spTgt spid="27651">
                                            <p:txEl>
                                              <p:pRg st="1" end="1"/>
                                            </p:txEl>
                                          </p:spTgt>
                                        </p:tgtEl>
                                      </p:cBhvr>
                                    </p:animEffect>
                                    <p:anim calcmode="lin" valueType="num">
                                      <p:cBhvr>
                                        <p:cTn id="15"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651">
                                            <p:txEl>
                                              <p:pRg st="2" end="2"/>
                                            </p:txEl>
                                          </p:spTgt>
                                        </p:tgtEl>
                                        <p:attrNameLst>
                                          <p:attrName>style.visibility</p:attrName>
                                        </p:attrNameLst>
                                      </p:cBhvr>
                                      <p:to>
                                        <p:strVal val="visible"/>
                                      </p:to>
                                    </p:set>
                                    <p:animEffect transition="in" filter="fade">
                                      <p:cBhvr>
                                        <p:cTn id="21" dur="1000"/>
                                        <p:tgtEl>
                                          <p:spTgt spid="27651">
                                            <p:txEl>
                                              <p:pRg st="2" end="2"/>
                                            </p:txEl>
                                          </p:spTgt>
                                        </p:tgtEl>
                                      </p:cBhvr>
                                    </p:animEffect>
                                    <p:anim calcmode="lin" valueType="num">
                                      <p:cBhvr>
                                        <p:cTn id="22"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765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subTitle" idx="1"/>
          </p:nvPr>
        </p:nvSpPr>
        <p:spPr>
          <a:xfrm>
            <a:off x="457200" y="2971800"/>
            <a:ext cx="8229600" cy="3429000"/>
          </a:xfrm>
        </p:spPr>
        <p:txBody>
          <a:bodyPr/>
          <a:lstStyle/>
          <a:p>
            <a:pPr marL="571500" indent="-571500" algn="l">
              <a:buFont typeface="Arial" pitchFamily="34" charset="0"/>
              <a:buChar char="•"/>
            </a:pPr>
            <a:r>
              <a:rPr lang="en-US" sz="3600" dirty="0"/>
              <a:t>Explain the purpose of options available for printing a spreadsheet.</a:t>
            </a:r>
          </a:p>
          <a:p>
            <a:pPr marL="571500" indent="-571500" algn="l">
              <a:buFont typeface="Arial" pitchFamily="34" charset="0"/>
              <a:buChar char="•"/>
            </a:pPr>
            <a:r>
              <a:rPr lang="en-US" sz="3600" dirty="0"/>
              <a:t>Enter and format text and numbers into cells</a:t>
            </a:r>
            <a:r>
              <a:rPr lang="en-US" sz="3600"/>
              <a:t>. </a:t>
            </a:r>
            <a:endParaRPr lang="en-US" sz="3600" dirty="0"/>
          </a:p>
        </p:txBody>
      </p:sp>
      <p:sp>
        <p:nvSpPr>
          <p:cNvPr id="5" name="Rectangle 1026"/>
          <p:cNvSpPr>
            <a:spLocks noGrp="1" noChangeArrowheads="1"/>
          </p:cNvSpPr>
          <p:nvPr>
            <p:ph type="ctrTitle"/>
          </p:nvPr>
        </p:nvSpPr>
        <p:spPr>
          <a:xfrm>
            <a:off x="762000" y="1524000"/>
            <a:ext cx="7696200" cy="1295400"/>
          </a:xfrm>
        </p:spPr>
        <p:txBody>
          <a:bodyPr/>
          <a:lstStyle/>
          <a:p>
            <a:r>
              <a:rPr lang="en-US" sz="6600" dirty="0">
                <a:latin typeface="Arial Rounded MT Bold" pitchFamily="34" charset="0"/>
              </a:rPr>
              <a:t>Objectives</a:t>
            </a:r>
          </a:p>
        </p:txBody>
      </p:sp>
      <p:pic>
        <p:nvPicPr>
          <p:cNvPr id="6" name="Picture 5"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5410200"/>
            <a:ext cx="1447800" cy="1447800"/>
          </a:xfrm>
          <a:prstGeom prst="rect">
            <a:avLst/>
          </a:prstGeom>
        </p:spPr>
      </p:pic>
    </p:spTree>
    <p:extLst>
      <p:ext uri="{BB962C8B-B14F-4D97-AF65-F5344CB8AC3E}">
        <p14:creationId xmlns:p14="http://schemas.microsoft.com/office/powerpoint/2010/main" val="12541852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1000"/>
                                        <p:tgtEl>
                                          <p:spTgt spid="27651">
                                            <p:txEl>
                                              <p:pRg st="0" end="0"/>
                                            </p:txEl>
                                          </p:spTgt>
                                        </p:tgtEl>
                                      </p:cBhvr>
                                    </p:animEffect>
                                    <p:anim calcmode="lin" valueType="num">
                                      <p:cBhvr>
                                        <p:cTn id="8"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txEl>
                                              <p:pRg st="1" end="1"/>
                                            </p:txEl>
                                          </p:spTgt>
                                        </p:tgtEl>
                                        <p:attrNameLst>
                                          <p:attrName>style.visibility</p:attrName>
                                        </p:attrNameLst>
                                      </p:cBhvr>
                                      <p:to>
                                        <p:strVal val="visible"/>
                                      </p:to>
                                    </p:set>
                                    <p:animEffect transition="in" filter="fade">
                                      <p:cBhvr>
                                        <p:cTn id="14" dur="1000"/>
                                        <p:tgtEl>
                                          <p:spTgt spid="27651">
                                            <p:txEl>
                                              <p:pRg st="1" end="1"/>
                                            </p:txEl>
                                          </p:spTgt>
                                        </p:tgtEl>
                                      </p:cBhvr>
                                    </p:animEffect>
                                    <p:anim calcmode="lin" valueType="num">
                                      <p:cBhvr>
                                        <p:cTn id="15"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subTitle" idx="1"/>
          </p:nvPr>
        </p:nvSpPr>
        <p:spPr>
          <a:xfrm>
            <a:off x="457200" y="2971800"/>
            <a:ext cx="7962900" cy="3429000"/>
          </a:xfrm>
        </p:spPr>
        <p:txBody>
          <a:bodyPr/>
          <a:lstStyle/>
          <a:p>
            <a:pPr marL="571500" lvl="0" indent="-571500" algn="l">
              <a:buFont typeface="Arial" pitchFamily="34" charset="0"/>
              <a:buChar char="•"/>
            </a:pPr>
            <a:r>
              <a:rPr lang="en-US" sz="3600" dirty="0"/>
              <a:t>Successfully move from one cell to another containing formulas and text.</a:t>
            </a:r>
          </a:p>
          <a:p>
            <a:pPr marL="571500" lvl="0" indent="-571500" algn="l">
              <a:buFont typeface="Arial" pitchFamily="34" charset="0"/>
              <a:buChar char="•"/>
            </a:pPr>
            <a:r>
              <a:rPr lang="en-US" sz="3600" dirty="0"/>
              <a:t>Copy, Cut and Paste text and formulas.</a:t>
            </a:r>
          </a:p>
          <a:p>
            <a:pPr marL="571500" lvl="0" indent="-571500" algn="l">
              <a:buFont typeface="Arial" pitchFamily="34" charset="0"/>
              <a:buChar char="•"/>
            </a:pPr>
            <a:r>
              <a:rPr lang="en-US" sz="3600" dirty="0"/>
              <a:t>Understand cell references.</a:t>
            </a:r>
          </a:p>
        </p:txBody>
      </p:sp>
      <p:sp>
        <p:nvSpPr>
          <p:cNvPr id="5" name="Rectangle 1026"/>
          <p:cNvSpPr>
            <a:spLocks noGrp="1" noChangeArrowheads="1"/>
          </p:cNvSpPr>
          <p:nvPr>
            <p:ph type="ctrTitle"/>
          </p:nvPr>
        </p:nvSpPr>
        <p:spPr>
          <a:xfrm>
            <a:off x="762000" y="1524000"/>
            <a:ext cx="7696200" cy="1295400"/>
          </a:xfrm>
        </p:spPr>
        <p:txBody>
          <a:bodyPr/>
          <a:lstStyle/>
          <a:p>
            <a:r>
              <a:rPr lang="en-US" sz="6600" dirty="0">
                <a:latin typeface="Arial Rounded MT Bold" pitchFamily="34" charset="0"/>
              </a:rPr>
              <a:t>Objectives</a:t>
            </a:r>
          </a:p>
        </p:txBody>
      </p:sp>
      <p:pic>
        <p:nvPicPr>
          <p:cNvPr id="6" name="Picture 5"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5410200"/>
            <a:ext cx="1447800" cy="1447800"/>
          </a:xfrm>
          <a:prstGeom prst="rect">
            <a:avLst/>
          </a:prstGeom>
        </p:spPr>
      </p:pic>
    </p:spTree>
    <p:extLst>
      <p:ext uri="{BB962C8B-B14F-4D97-AF65-F5344CB8AC3E}">
        <p14:creationId xmlns:p14="http://schemas.microsoft.com/office/powerpoint/2010/main" val="21105362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1000"/>
                                        <p:tgtEl>
                                          <p:spTgt spid="27651">
                                            <p:txEl>
                                              <p:pRg st="0" end="0"/>
                                            </p:txEl>
                                          </p:spTgt>
                                        </p:tgtEl>
                                      </p:cBhvr>
                                    </p:animEffect>
                                    <p:anim calcmode="lin" valueType="num">
                                      <p:cBhvr>
                                        <p:cTn id="8"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6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txEl>
                                              <p:pRg st="1" end="1"/>
                                            </p:txEl>
                                          </p:spTgt>
                                        </p:tgtEl>
                                        <p:attrNameLst>
                                          <p:attrName>style.visibility</p:attrName>
                                        </p:attrNameLst>
                                      </p:cBhvr>
                                      <p:to>
                                        <p:strVal val="visible"/>
                                      </p:to>
                                    </p:set>
                                    <p:animEffect transition="in" filter="fade">
                                      <p:cBhvr>
                                        <p:cTn id="14" dur="1000"/>
                                        <p:tgtEl>
                                          <p:spTgt spid="27651">
                                            <p:txEl>
                                              <p:pRg st="1" end="1"/>
                                            </p:txEl>
                                          </p:spTgt>
                                        </p:tgtEl>
                                      </p:cBhvr>
                                    </p:animEffect>
                                    <p:anim calcmode="lin" valueType="num">
                                      <p:cBhvr>
                                        <p:cTn id="15"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76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651">
                                            <p:txEl>
                                              <p:pRg st="2" end="2"/>
                                            </p:txEl>
                                          </p:spTgt>
                                        </p:tgtEl>
                                        <p:attrNameLst>
                                          <p:attrName>style.visibility</p:attrName>
                                        </p:attrNameLst>
                                      </p:cBhvr>
                                      <p:to>
                                        <p:strVal val="visible"/>
                                      </p:to>
                                    </p:set>
                                    <p:animEffect transition="in" filter="fade">
                                      <p:cBhvr>
                                        <p:cTn id="21" dur="1000"/>
                                        <p:tgtEl>
                                          <p:spTgt spid="27651">
                                            <p:txEl>
                                              <p:pRg st="2" end="2"/>
                                            </p:txEl>
                                          </p:spTgt>
                                        </p:tgtEl>
                                      </p:cBhvr>
                                    </p:animEffect>
                                    <p:anim calcmode="lin" valueType="num">
                                      <p:cBhvr>
                                        <p:cTn id="22"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765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subTitle" idx="1"/>
          </p:nvPr>
        </p:nvSpPr>
        <p:spPr>
          <a:xfrm>
            <a:off x="457200" y="2971800"/>
            <a:ext cx="8229600" cy="3429000"/>
          </a:xfrm>
        </p:spPr>
        <p:txBody>
          <a:bodyPr/>
          <a:lstStyle/>
          <a:p>
            <a:pPr marL="571500" lvl="0" indent="-571500" algn="l">
              <a:buFont typeface="Arial" pitchFamily="34" charset="0"/>
              <a:buChar char="•"/>
            </a:pPr>
            <a:r>
              <a:rPr lang="en-US" sz="3600" dirty="0"/>
              <a:t>Understand cell references.</a:t>
            </a:r>
          </a:p>
          <a:p>
            <a:pPr marL="571500" lvl="0" indent="-571500" algn="l">
              <a:buFont typeface="Arial" pitchFamily="34" charset="0"/>
              <a:buChar char="•"/>
            </a:pPr>
            <a:r>
              <a:rPr lang="en-US" sz="3600" dirty="0"/>
              <a:t>Perform basic mathematical operations in a spreadsheet.</a:t>
            </a:r>
          </a:p>
          <a:p>
            <a:pPr marL="571500" lvl="0" indent="-571500" algn="l">
              <a:buFont typeface="Arial" pitchFamily="34" charset="0"/>
              <a:buChar char="•"/>
            </a:pPr>
            <a:r>
              <a:rPr lang="en-US" sz="3600" dirty="0"/>
              <a:t>Copy, Cut and Paste text and formulas.</a:t>
            </a:r>
          </a:p>
          <a:p>
            <a:pPr marL="457200" lvl="0" indent="-457200" algn="l">
              <a:buFont typeface="Arial" pitchFamily="34" charset="0"/>
              <a:buChar char="•"/>
            </a:pPr>
            <a:endParaRPr lang="en-US" sz="3600" dirty="0"/>
          </a:p>
          <a:p>
            <a:pPr marL="571500" indent="-571500" algn="l">
              <a:buFont typeface="Arial" pitchFamily="34" charset="0"/>
              <a:buChar char="•"/>
            </a:pPr>
            <a:endParaRPr lang="en-US" sz="3600" dirty="0"/>
          </a:p>
        </p:txBody>
      </p:sp>
      <p:sp>
        <p:nvSpPr>
          <p:cNvPr id="5" name="Rectangle 1026"/>
          <p:cNvSpPr>
            <a:spLocks noGrp="1" noChangeArrowheads="1"/>
          </p:cNvSpPr>
          <p:nvPr>
            <p:ph type="ctrTitle"/>
          </p:nvPr>
        </p:nvSpPr>
        <p:spPr>
          <a:xfrm>
            <a:off x="762000" y="1524000"/>
            <a:ext cx="7696200" cy="1295400"/>
          </a:xfrm>
        </p:spPr>
        <p:txBody>
          <a:bodyPr/>
          <a:lstStyle/>
          <a:p>
            <a:r>
              <a:rPr lang="en-US" sz="6600" dirty="0">
                <a:latin typeface="Arial Rounded MT Bold" pitchFamily="34" charset="0"/>
              </a:rPr>
              <a:t>Objectives</a:t>
            </a:r>
          </a:p>
        </p:txBody>
      </p:sp>
      <p:pic>
        <p:nvPicPr>
          <p:cNvPr id="6" name="Picture 5" title="Microsoft Excel Ic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200" y="5410200"/>
            <a:ext cx="1447800" cy="1447800"/>
          </a:xfrm>
          <a:prstGeom prst="rect">
            <a:avLst/>
          </a:prstGeom>
        </p:spPr>
      </p:pic>
    </p:spTree>
    <p:extLst>
      <p:ext uri="{BB962C8B-B14F-4D97-AF65-F5344CB8AC3E}">
        <p14:creationId xmlns:p14="http://schemas.microsoft.com/office/powerpoint/2010/main" val="21259391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Rectangle 1026"/>
          <p:cNvSpPr>
            <a:spLocks noGrp="1" noChangeArrowheads="1"/>
          </p:cNvSpPr>
          <p:nvPr>
            <p:ph type="ctrTitle"/>
          </p:nvPr>
        </p:nvSpPr>
        <p:spPr>
          <a:xfrm>
            <a:off x="228600" y="1524000"/>
            <a:ext cx="8763000" cy="1295400"/>
          </a:xfrm>
        </p:spPr>
        <p:txBody>
          <a:bodyPr/>
          <a:lstStyle/>
          <a:p>
            <a:r>
              <a:rPr lang="en-US" sz="6600" dirty="0">
                <a:latin typeface="Arial Rounded MT Bold" pitchFamily="34" charset="0"/>
              </a:rPr>
              <a:t>Screen Components</a:t>
            </a:r>
          </a:p>
        </p:txBody>
      </p:sp>
      <p:sp>
        <p:nvSpPr>
          <p:cNvPr id="6" name="Rectangle 3"/>
          <p:cNvSpPr>
            <a:spLocks noGrp="1" noChangeArrowheads="1"/>
          </p:cNvSpPr>
          <p:nvPr>
            <p:ph type="subTitle" idx="1"/>
          </p:nvPr>
        </p:nvSpPr>
        <p:spPr>
          <a:xfrm>
            <a:off x="457200" y="2971800"/>
            <a:ext cx="8229600" cy="3429000"/>
          </a:xfrm>
        </p:spPr>
        <p:txBody>
          <a:bodyPr/>
          <a:lstStyle/>
          <a:p>
            <a:pPr algn="l"/>
            <a:r>
              <a:rPr lang="en-US" sz="3600" dirty="0"/>
              <a:t>The opening screen for</a:t>
            </a:r>
          </a:p>
          <a:p>
            <a:pPr algn="l"/>
            <a:r>
              <a:rPr lang="en-US" sz="3600" dirty="0"/>
              <a:t>Microsoft Excel 2010 looks like this…</a:t>
            </a:r>
          </a:p>
        </p:txBody>
      </p:sp>
    </p:spTree>
    <p:extLst>
      <p:ext uri="{BB962C8B-B14F-4D97-AF65-F5344CB8AC3E}">
        <p14:creationId xmlns:p14="http://schemas.microsoft.com/office/powerpoint/2010/main" val="405293741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197" name="Text Box 5"/>
          <p:cNvSpPr txBox="1">
            <a:spLocks noChangeArrowheads="1"/>
          </p:cNvSpPr>
          <p:nvPr/>
        </p:nvSpPr>
        <p:spPr bwMode="auto">
          <a:xfrm>
            <a:off x="457200" y="3048000"/>
            <a:ext cx="8229600" cy="293926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While different versions have different appearances, they all have most of the same features. If you know what to call it, you should be able to find it in other versions.</a:t>
            </a:r>
          </a:p>
          <a:p>
            <a:endParaRPr lang="en-US" sz="700" dirty="0"/>
          </a:p>
          <a:p>
            <a:endParaRPr lang="en-US" dirty="0"/>
          </a:p>
        </p:txBody>
      </p:sp>
      <p:sp>
        <p:nvSpPr>
          <p:cNvPr id="5" name="Rectangle 1026"/>
          <p:cNvSpPr txBox="1">
            <a:spLocks noChangeArrowheads="1"/>
          </p:cNvSpPr>
          <p:nvPr/>
        </p:nvSpPr>
        <p:spPr>
          <a:xfrm>
            <a:off x="762000" y="1905000"/>
            <a:ext cx="7696200" cy="1295400"/>
          </a:xfrm>
          <a:prstGeom prst="rect">
            <a:avLst/>
          </a:prstGeom>
        </p:spPr>
        <p:txBody>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sz="6600" dirty="0">
                <a:latin typeface="Arial Rounded MT Bold" pitchFamily="34" charset="0"/>
              </a:rPr>
              <a:t>Terminology</a:t>
            </a:r>
          </a:p>
        </p:txBody>
      </p:sp>
      <p:sp>
        <p:nvSpPr>
          <p:cNvPr id="2" name="Title 1" hidden="1"/>
          <p:cNvSpPr>
            <a:spLocks noGrp="1"/>
          </p:cNvSpPr>
          <p:nvPr>
            <p:ph type="title" idx="4294967295"/>
          </p:nvPr>
        </p:nvSpPr>
        <p:spPr/>
        <p:txBody>
          <a:bodyPr/>
          <a:lstStyle/>
          <a:p>
            <a:r>
              <a:rPr lang="en-US" dirty="0"/>
              <a:t>Terminology</a:t>
            </a:r>
          </a:p>
        </p:txBody>
      </p:sp>
    </p:spTree>
    <p:extLst>
      <p:ext uri="{BB962C8B-B14F-4D97-AF65-F5344CB8AC3E}">
        <p14:creationId xmlns:p14="http://schemas.microsoft.com/office/powerpoint/2010/main" val="7759803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fade">
                                      <p:cBhvr>
                                        <p:cTn id="7" dur="1000"/>
                                        <p:tgtEl>
                                          <p:spTgt spid="8197"/>
                                        </p:tgtEl>
                                      </p:cBhvr>
                                    </p:animEffect>
                                    <p:anim calcmode="lin" valueType="num">
                                      <p:cBhvr>
                                        <p:cTn id="8" dur="1000" fill="hold"/>
                                        <p:tgtEl>
                                          <p:spTgt spid="8197"/>
                                        </p:tgtEl>
                                        <p:attrNameLst>
                                          <p:attrName>ppt_x</p:attrName>
                                        </p:attrNameLst>
                                      </p:cBhvr>
                                      <p:tavLst>
                                        <p:tav tm="0">
                                          <p:val>
                                            <p:strVal val="#ppt_x"/>
                                          </p:val>
                                        </p:tav>
                                        <p:tav tm="100000">
                                          <p:val>
                                            <p:strVal val="#ppt_x"/>
                                          </p:val>
                                        </p:tav>
                                      </p:tavLst>
                                    </p:anim>
                                    <p:anim calcmode="lin" valueType="num">
                                      <p:cBhvr>
                                        <p:cTn id="9" dur="1000" fill="hold"/>
                                        <p:tgtEl>
                                          <p:spTgt spid="81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title="Screenshot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457200"/>
            <a:ext cx="8915400"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hidden="1"/>
          <p:cNvSpPr>
            <a:spLocks noGrp="1"/>
          </p:cNvSpPr>
          <p:nvPr>
            <p:ph type="title" idx="4294967295"/>
          </p:nvPr>
        </p:nvSpPr>
        <p:spPr/>
        <p:txBody>
          <a:bodyPr/>
          <a:lstStyle/>
          <a:p>
            <a:r>
              <a:rPr lang="en-US" dirty="0"/>
              <a:t>Diagram</a:t>
            </a:r>
          </a:p>
        </p:txBody>
      </p:sp>
    </p:spTree>
    <p:extLst>
      <p:ext uri="{BB962C8B-B14F-4D97-AF65-F5344CB8AC3E}">
        <p14:creationId xmlns:p14="http://schemas.microsoft.com/office/powerpoint/2010/main" val="21828392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197" name="Text Box 5"/>
          <p:cNvSpPr txBox="1">
            <a:spLocks noChangeArrowheads="1"/>
          </p:cNvSpPr>
          <p:nvPr/>
        </p:nvSpPr>
        <p:spPr bwMode="auto">
          <a:xfrm>
            <a:off x="304800" y="1752600"/>
            <a:ext cx="8610600" cy="49244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2800" dirty="0"/>
          </a:p>
          <a:p>
            <a:r>
              <a:rPr lang="en-US" sz="3600" dirty="0"/>
              <a:t>The area outlined in red is called the</a:t>
            </a:r>
          </a:p>
          <a:p>
            <a:r>
              <a:rPr lang="en-US" sz="3600" dirty="0"/>
              <a:t>title bar.</a:t>
            </a:r>
          </a:p>
          <a:p>
            <a:endParaRPr lang="en-US" sz="3600" dirty="0"/>
          </a:p>
          <a:p>
            <a:r>
              <a:rPr lang="en-US" sz="3600" dirty="0"/>
              <a:t>It displays the names of the open program (in this case Microsoft  Excel)</a:t>
            </a:r>
          </a:p>
          <a:p>
            <a:r>
              <a:rPr lang="en-US" sz="3600" dirty="0"/>
              <a:t>and the name of the current file.</a:t>
            </a:r>
          </a:p>
          <a:p>
            <a:endParaRPr lang="en-US" sz="2400" dirty="0"/>
          </a:p>
          <a:p>
            <a:endParaRPr lang="en-US" dirty="0"/>
          </a:p>
          <a:p>
            <a:pPr algn="r"/>
            <a:endParaRPr lang="en-US" sz="2800" dirty="0"/>
          </a:p>
        </p:txBody>
      </p:sp>
      <p:sp>
        <p:nvSpPr>
          <p:cNvPr id="3" name="Rectangle 2" title="Title Bar"/>
          <p:cNvSpPr/>
          <p:nvPr/>
        </p:nvSpPr>
        <p:spPr>
          <a:xfrm>
            <a:off x="990600" y="0"/>
            <a:ext cx="72390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Title Bar</a:t>
            </a:r>
          </a:p>
        </p:txBody>
      </p:sp>
    </p:spTree>
    <p:extLst>
      <p:ext uri="{BB962C8B-B14F-4D97-AF65-F5344CB8AC3E}">
        <p14:creationId xmlns:p14="http://schemas.microsoft.com/office/powerpoint/2010/main" val="31130724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fade">
                                      <p:cBhvr>
                                        <p:cTn id="7" dur="1000"/>
                                        <p:tgtEl>
                                          <p:spTgt spid="8197"/>
                                        </p:tgtEl>
                                      </p:cBhvr>
                                    </p:animEffect>
                                    <p:anim calcmode="lin" valueType="num">
                                      <p:cBhvr>
                                        <p:cTn id="8" dur="1000" fill="hold"/>
                                        <p:tgtEl>
                                          <p:spTgt spid="8197"/>
                                        </p:tgtEl>
                                        <p:attrNameLst>
                                          <p:attrName>ppt_x</p:attrName>
                                        </p:attrNameLst>
                                      </p:cBhvr>
                                      <p:tavLst>
                                        <p:tav tm="0">
                                          <p:val>
                                            <p:strVal val="#ppt_x"/>
                                          </p:val>
                                        </p:tav>
                                        <p:tav tm="100000">
                                          <p:val>
                                            <p:strVal val="#ppt_x"/>
                                          </p:val>
                                        </p:tav>
                                      </p:tavLst>
                                    </p:anim>
                                    <p:anim calcmode="lin" valueType="num">
                                      <p:cBhvr>
                                        <p:cTn id="9" dur="1000" fill="hold"/>
                                        <p:tgtEl>
                                          <p:spTgt spid="819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Window Control Button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172" name="Text Box 4"/>
          <p:cNvSpPr txBox="1">
            <a:spLocks noChangeArrowheads="1"/>
          </p:cNvSpPr>
          <p:nvPr/>
        </p:nvSpPr>
        <p:spPr bwMode="auto">
          <a:xfrm>
            <a:off x="419100" y="1752600"/>
            <a:ext cx="84963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2800" dirty="0"/>
          </a:p>
          <a:p>
            <a:r>
              <a:rPr lang="en-US" sz="3600" dirty="0"/>
              <a:t>The area outlined in red contains the minimize, maximize/restore and close buttons for the program window.</a:t>
            </a:r>
          </a:p>
          <a:p>
            <a:endParaRPr lang="en-US" sz="3600" dirty="0"/>
          </a:p>
          <a:p>
            <a:endParaRPr lang="en-US" sz="3600" dirty="0"/>
          </a:p>
          <a:p>
            <a:endParaRPr lang="en-US" sz="3600" dirty="0"/>
          </a:p>
          <a:p>
            <a:endParaRPr lang="en-US" sz="2400" dirty="0"/>
          </a:p>
          <a:p>
            <a:pPr algn="r"/>
            <a:endParaRPr lang="en-US" sz="2800" dirty="0"/>
          </a:p>
        </p:txBody>
      </p:sp>
      <p:pic>
        <p:nvPicPr>
          <p:cNvPr id="11" name="Picture 5" descr="program butt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4267200"/>
            <a:ext cx="3429000" cy="7858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title="Window Control Buttons"/>
          <p:cNvSpPr/>
          <p:nvPr/>
        </p:nvSpPr>
        <p:spPr>
          <a:xfrm>
            <a:off x="8305800" y="0"/>
            <a:ext cx="8382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title="Window Control Buttons"/>
          <p:cNvSpPr/>
          <p:nvPr/>
        </p:nvSpPr>
        <p:spPr>
          <a:xfrm>
            <a:off x="4067734" y="4267200"/>
            <a:ext cx="2218765"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Window Control</a:t>
            </a:r>
          </a:p>
        </p:txBody>
      </p:sp>
    </p:spTree>
    <p:extLst>
      <p:ext uri="{BB962C8B-B14F-4D97-AF65-F5344CB8AC3E}">
        <p14:creationId xmlns:p14="http://schemas.microsoft.com/office/powerpoint/2010/main" val="7429723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fade">
                                      <p:cBhvr>
                                        <p:cTn id="7" dur="1000"/>
                                        <p:tgtEl>
                                          <p:spTgt spid="7172"/>
                                        </p:tgtEl>
                                      </p:cBhvr>
                                    </p:animEffect>
                                    <p:anim calcmode="lin" valueType="num">
                                      <p:cBhvr>
                                        <p:cTn id="8" dur="1000" fill="hold"/>
                                        <p:tgtEl>
                                          <p:spTgt spid="7172"/>
                                        </p:tgtEl>
                                        <p:attrNameLst>
                                          <p:attrName>ppt_x</p:attrName>
                                        </p:attrNameLst>
                                      </p:cBhvr>
                                      <p:tavLst>
                                        <p:tav tm="0">
                                          <p:val>
                                            <p:strVal val="#ppt_x"/>
                                          </p:val>
                                        </p:tav>
                                        <p:tav tm="100000">
                                          <p:val>
                                            <p:strVal val="#ppt_x"/>
                                          </p:val>
                                        </p:tav>
                                      </p:tavLst>
                                    </p:anim>
                                    <p:anim calcmode="lin" valueType="num">
                                      <p:cBhvr>
                                        <p:cTn id="9" dur="1000" fill="hold"/>
                                        <p:tgtEl>
                                          <p:spTgt spid="717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par>
                          <p:cTn id="14" fill="hold">
                            <p:stCondLst>
                              <p:cond delay="3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172" name="Text Box 4"/>
          <p:cNvSpPr txBox="1">
            <a:spLocks noChangeArrowheads="1"/>
          </p:cNvSpPr>
          <p:nvPr/>
        </p:nvSpPr>
        <p:spPr bwMode="auto">
          <a:xfrm>
            <a:off x="419100" y="1752600"/>
            <a:ext cx="8496300" cy="472437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3600" dirty="0"/>
          </a:p>
          <a:p>
            <a:r>
              <a:rPr lang="en-US" sz="3600" dirty="0"/>
              <a:t>These three buttons are on almost every window that opens in a Windows based platform.</a:t>
            </a:r>
          </a:p>
          <a:p>
            <a:r>
              <a:rPr lang="en-US" sz="3600" dirty="0"/>
              <a:t>They are on Mac windows as well, but they are circles instead of squares.</a:t>
            </a:r>
          </a:p>
          <a:p>
            <a:endParaRPr lang="en-US" sz="1100" dirty="0"/>
          </a:p>
          <a:p>
            <a:endParaRPr lang="en-US" sz="2400" dirty="0"/>
          </a:p>
          <a:p>
            <a:endParaRPr lang="en-US" sz="3200" dirty="0"/>
          </a:p>
          <a:p>
            <a:pPr algn="r"/>
            <a:endParaRPr lang="en-US" dirty="0"/>
          </a:p>
        </p:txBody>
      </p:sp>
      <p:pic>
        <p:nvPicPr>
          <p:cNvPr id="11" name="Picture 5" descr="program butt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5053013"/>
            <a:ext cx="3429000" cy="7858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title="Window Control Buttons"/>
          <p:cNvSpPr/>
          <p:nvPr/>
        </p:nvSpPr>
        <p:spPr>
          <a:xfrm>
            <a:off x="8305800" y="0"/>
            <a:ext cx="8382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title="Window Control Buttons"/>
          <p:cNvSpPr/>
          <p:nvPr/>
        </p:nvSpPr>
        <p:spPr>
          <a:xfrm>
            <a:off x="3801035" y="5056642"/>
            <a:ext cx="2218765"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Window Control Buttons</a:t>
            </a:r>
          </a:p>
        </p:txBody>
      </p:sp>
    </p:spTree>
    <p:extLst>
      <p:ext uri="{BB962C8B-B14F-4D97-AF65-F5344CB8AC3E}">
        <p14:creationId xmlns:p14="http://schemas.microsoft.com/office/powerpoint/2010/main" val="17302941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fade">
                                      <p:cBhvr>
                                        <p:cTn id="7" dur="1000"/>
                                        <p:tgtEl>
                                          <p:spTgt spid="7172"/>
                                        </p:tgtEl>
                                      </p:cBhvr>
                                    </p:animEffect>
                                    <p:anim calcmode="lin" valueType="num">
                                      <p:cBhvr>
                                        <p:cTn id="8" dur="1000" fill="hold"/>
                                        <p:tgtEl>
                                          <p:spTgt spid="7172"/>
                                        </p:tgtEl>
                                        <p:attrNameLst>
                                          <p:attrName>ppt_x</p:attrName>
                                        </p:attrNameLst>
                                      </p:cBhvr>
                                      <p:tavLst>
                                        <p:tav tm="0">
                                          <p:val>
                                            <p:strVal val="#ppt_x"/>
                                          </p:val>
                                        </p:tav>
                                        <p:tav tm="100000">
                                          <p:val>
                                            <p:strVal val="#ppt_x"/>
                                          </p:val>
                                        </p:tav>
                                      </p:tavLst>
                                    </p:anim>
                                    <p:anim calcmode="lin" valueType="num">
                                      <p:cBhvr>
                                        <p:cTn id="9" dur="1000" fill="hold"/>
                                        <p:tgtEl>
                                          <p:spTgt spid="717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par>
                          <p:cTn id="14" fill="hold">
                            <p:stCondLst>
                              <p:cond delay="3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3974" name="Text Box 6"/>
          <p:cNvSpPr txBox="1">
            <a:spLocks noChangeArrowheads="1"/>
          </p:cNvSpPr>
          <p:nvPr/>
        </p:nvSpPr>
        <p:spPr bwMode="auto">
          <a:xfrm>
            <a:off x="228600" y="1752600"/>
            <a:ext cx="8686800" cy="467820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3600" dirty="0"/>
          </a:p>
          <a:p>
            <a:r>
              <a:rPr lang="en-US" sz="3600" dirty="0"/>
              <a:t>When you click the </a:t>
            </a:r>
            <a:r>
              <a:rPr lang="en-US" sz="3600" dirty="0">
                <a:solidFill>
                  <a:srgbClr val="FF0000"/>
                </a:solidFill>
              </a:rPr>
              <a:t>minimize</a:t>
            </a:r>
            <a:r>
              <a:rPr lang="en-US" sz="3600" dirty="0"/>
              <a:t> button the program becomes a button on the Windows taskbar located at the bottom of the screen.</a:t>
            </a:r>
          </a:p>
          <a:p>
            <a:endParaRPr lang="en-US" sz="2400" dirty="0"/>
          </a:p>
          <a:p>
            <a:endParaRPr lang="en-US" sz="2400" dirty="0"/>
          </a:p>
          <a:p>
            <a:endParaRPr lang="en-US" sz="2400" dirty="0"/>
          </a:p>
          <a:p>
            <a:endParaRPr lang="en-US" sz="1200" dirty="0"/>
          </a:p>
          <a:p>
            <a:endParaRPr lang="en-US" sz="1000" dirty="0"/>
          </a:p>
          <a:p>
            <a:pPr algn="r"/>
            <a:endParaRPr lang="en-US" sz="2400" dirty="0"/>
          </a:p>
        </p:txBody>
      </p:sp>
      <p:pic>
        <p:nvPicPr>
          <p:cNvPr id="83973" name="Picture 5" descr="program butt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5186" y="4367212"/>
            <a:ext cx="3886200" cy="8905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title="Minimize Button"/>
          <p:cNvSpPr/>
          <p:nvPr/>
        </p:nvSpPr>
        <p:spPr>
          <a:xfrm>
            <a:off x="8610600" y="0"/>
            <a:ext cx="3048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title="Minimize Button"/>
          <p:cNvSpPr/>
          <p:nvPr/>
        </p:nvSpPr>
        <p:spPr>
          <a:xfrm>
            <a:off x="4114800" y="4466122"/>
            <a:ext cx="762000" cy="6392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Minimize</a:t>
            </a:r>
          </a:p>
        </p:txBody>
      </p:sp>
    </p:spTree>
    <p:extLst>
      <p:ext uri="{BB962C8B-B14F-4D97-AF65-F5344CB8AC3E}">
        <p14:creationId xmlns:p14="http://schemas.microsoft.com/office/powerpoint/2010/main" val="8283072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3974"/>
                                        </p:tgtEl>
                                        <p:attrNameLst>
                                          <p:attrName>style.visibility</p:attrName>
                                        </p:attrNameLst>
                                      </p:cBhvr>
                                      <p:to>
                                        <p:strVal val="visible"/>
                                      </p:to>
                                    </p:set>
                                    <p:animEffect transition="in" filter="fade">
                                      <p:cBhvr>
                                        <p:cTn id="7" dur="1000"/>
                                        <p:tgtEl>
                                          <p:spTgt spid="83974"/>
                                        </p:tgtEl>
                                      </p:cBhvr>
                                    </p:animEffect>
                                    <p:anim calcmode="lin" valueType="num">
                                      <p:cBhvr>
                                        <p:cTn id="8" dur="1000" fill="hold"/>
                                        <p:tgtEl>
                                          <p:spTgt spid="83974"/>
                                        </p:tgtEl>
                                        <p:attrNameLst>
                                          <p:attrName>ppt_x</p:attrName>
                                        </p:attrNameLst>
                                      </p:cBhvr>
                                      <p:tavLst>
                                        <p:tav tm="0">
                                          <p:val>
                                            <p:strVal val="#ppt_x"/>
                                          </p:val>
                                        </p:tav>
                                        <p:tav tm="100000">
                                          <p:val>
                                            <p:strVal val="#ppt_x"/>
                                          </p:val>
                                        </p:tav>
                                      </p:tavLst>
                                    </p:anim>
                                    <p:anim calcmode="lin" valueType="num">
                                      <p:cBhvr>
                                        <p:cTn id="9" dur="1000" fill="hold"/>
                                        <p:tgtEl>
                                          <p:spTgt spid="8397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par>
                          <p:cTn id="14" fill="hold">
                            <p:stCondLst>
                              <p:cond delay="3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animBg="1"/>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246" name="Text Box 6"/>
          <p:cNvSpPr txBox="1">
            <a:spLocks noChangeArrowheads="1"/>
          </p:cNvSpPr>
          <p:nvPr/>
        </p:nvSpPr>
        <p:spPr bwMode="auto">
          <a:xfrm>
            <a:off x="228600" y="1752600"/>
            <a:ext cx="86868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3600" dirty="0"/>
          </a:p>
          <a:p>
            <a:r>
              <a:rPr lang="en-US" sz="3600" dirty="0"/>
              <a:t>You can restore the document to its original shape and size by either:</a:t>
            </a:r>
          </a:p>
          <a:p>
            <a:r>
              <a:rPr lang="en-US" sz="3600" dirty="0"/>
              <a:t>Clicking on the button on the task bar one time to restore it to active mode,</a:t>
            </a:r>
          </a:p>
          <a:p>
            <a:endParaRPr lang="en-US" sz="3600" dirty="0"/>
          </a:p>
          <a:p>
            <a:endParaRPr lang="en-US" sz="3600" dirty="0"/>
          </a:p>
          <a:p>
            <a:endParaRPr lang="en-US" dirty="0"/>
          </a:p>
          <a:p>
            <a:endParaRPr lang="en-US" sz="2800" dirty="0"/>
          </a:p>
        </p:txBody>
      </p:sp>
      <p:pic>
        <p:nvPicPr>
          <p:cNvPr id="3" name="Picture 2" title="Task Ba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5" y="4659796"/>
            <a:ext cx="8172450" cy="762000"/>
          </a:xfrm>
          <a:prstGeom prst="rect">
            <a:avLst/>
          </a:prstGeom>
        </p:spPr>
      </p:pic>
      <p:sp>
        <p:nvSpPr>
          <p:cNvPr id="5" name="Rectangle 4" title="Excel Icon"/>
          <p:cNvSpPr/>
          <p:nvPr/>
        </p:nvSpPr>
        <p:spPr>
          <a:xfrm>
            <a:off x="6400800" y="4648200"/>
            <a:ext cx="914400" cy="762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Task</a:t>
            </a:r>
            <a:r>
              <a:rPr lang="en-US" baseline="0" dirty="0"/>
              <a:t> Bar</a:t>
            </a:r>
            <a:endParaRPr lang="en-US" dirty="0"/>
          </a:p>
        </p:txBody>
      </p:sp>
    </p:spTree>
    <p:extLst>
      <p:ext uri="{BB962C8B-B14F-4D97-AF65-F5344CB8AC3E}">
        <p14:creationId xmlns:p14="http://schemas.microsoft.com/office/powerpoint/2010/main" val="259218802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246"/>
                                        </p:tgtEl>
                                        <p:attrNameLst>
                                          <p:attrName>style.visibility</p:attrName>
                                        </p:attrNameLst>
                                      </p:cBhvr>
                                      <p:to>
                                        <p:strVal val="visible"/>
                                      </p:to>
                                    </p:set>
                                    <p:animEffect transition="in" filter="fade">
                                      <p:cBhvr>
                                        <p:cTn id="7" dur="1000"/>
                                        <p:tgtEl>
                                          <p:spTgt spid="10246"/>
                                        </p:tgtEl>
                                      </p:cBhvr>
                                    </p:animEffect>
                                    <p:anim calcmode="lin" valueType="num">
                                      <p:cBhvr>
                                        <p:cTn id="8" dur="1000" fill="hold"/>
                                        <p:tgtEl>
                                          <p:spTgt spid="10246"/>
                                        </p:tgtEl>
                                        <p:attrNameLst>
                                          <p:attrName>ppt_x</p:attrName>
                                        </p:attrNameLst>
                                      </p:cBhvr>
                                      <p:tavLst>
                                        <p:tav tm="0">
                                          <p:val>
                                            <p:strVal val="#ppt_x"/>
                                          </p:val>
                                        </p:tav>
                                        <p:tav tm="100000">
                                          <p:val>
                                            <p:strVal val="#ppt_x"/>
                                          </p:val>
                                        </p:tav>
                                      </p:tavLst>
                                    </p:anim>
                                    <p:anim calcmode="lin" valueType="num">
                                      <p:cBhvr>
                                        <p:cTn id="9" dur="1000" fill="hold"/>
                                        <p:tgtEl>
                                          <p:spTgt spid="1024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292" name="Text Box 4"/>
          <p:cNvSpPr txBox="1">
            <a:spLocks noChangeArrowheads="1"/>
          </p:cNvSpPr>
          <p:nvPr/>
        </p:nvSpPr>
        <p:spPr bwMode="auto">
          <a:xfrm>
            <a:off x="304800" y="1752600"/>
            <a:ext cx="8534400" cy="480131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1600" dirty="0"/>
          </a:p>
          <a:p>
            <a:r>
              <a:rPr lang="en-US" sz="3600" dirty="0"/>
              <a:t>If you have multiple files from the same program open you will need to select the one you want to restore to active mode.</a:t>
            </a:r>
          </a:p>
          <a:p>
            <a:endParaRPr lang="en-US" sz="3600" dirty="0"/>
          </a:p>
          <a:p>
            <a:endParaRPr lang="en-US" sz="3600" dirty="0"/>
          </a:p>
          <a:p>
            <a:endParaRPr lang="en-US" sz="3600" dirty="0"/>
          </a:p>
          <a:p>
            <a:endParaRPr lang="en-US" sz="2400" dirty="0"/>
          </a:p>
          <a:p>
            <a:endParaRPr lang="en-US" sz="3200" dirty="0"/>
          </a:p>
          <a:p>
            <a:pPr algn="r"/>
            <a:endParaRPr lang="en-US" sz="1400" dirty="0"/>
          </a:p>
        </p:txBody>
      </p:sp>
      <p:pic>
        <p:nvPicPr>
          <p:cNvPr id="3" name="Picture 2" title="Miltiple Files Op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733800"/>
            <a:ext cx="7934068" cy="2552700"/>
          </a:xfrm>
          <a:prstGeom prst="rect">
            <a:avLst/>
          </a:prstGeom>
        </p:spPr>
      </p:pic>
      <p:sp>
        <p:nvSpPr>
          <p:cNvPr id="2" name="Title 1" hidden="1"/>
          <p:cNvSpPr>
            <a:spLocks noGrp="1"/>
          </p:cNvSpPr>
          <p:nvPr>
            <p:ph type="title" idx="4294967295"/>
          </p:nvPr>
        </p:nvSpPr>
        <p:spPr/>
        <p:txBody>
          <a:bodyPr/>
          <a:lstStyle/>
          <a:p>
            <a:r>
              <a:rPr lang="en-US" dirty="0"/>
              <a:t>Multiple</a:t>
            </a:r>
            <a:r>
              <a:rPr lang="en-US" baseline="0" dirty="0"/>
              <a:t> Files</a:t>
            </a:r>
            <a:endParaRPr lang="en-US" dirty="0"/>
          </a:p>
        </p:txBody>
      </p:sp>
    </p:spTree>
    <p:extLst>
      <p:ext uri="{BB962C8B-B14F-4D97-AF65-F5344CB8AC3E}">
        <p14:creationId xmlns:p14="http://schemas.microsoft.com/office/powerpoint/2010/main" val="21470313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152" name="Text Box 8"/>
          <p:cNvSpPr txBox="1">
            <a:spLocks noChangeArrowheads="1"/>
          </p:cNvSpPr>
          <p:nvPr/>
        </p:nvSpPr>
        <p:spPr bwMode="auto">
          <a:xfrm>
            <a:off x="228600" y="1752600"/>
            <a:ext cx="87630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1200" dirty="0"/>
          </a:p>
          <a:p>
            <a:r>
              <a:rPr lang="en-US" sz="3600" dirty="0"/>
              <a:t>When you click the </a:t>
            </a:r>
            <a:r>
              <a:rPr lang="en-US" sz="3600" dirty="0">
                <a:solidFill>
                  <a:srgbClr val="FF0000"/>
                </a:solidFill>
              </a:rPr>
              <a:t>maximize / restore</a:t>
            </a:r>
            <a:r>
              <a:rPr lang="en-US" sz="3600" dirty="0"/>
              <a:t> button the program assumes the same shape and size it was before you minimized it.</a:t>
            </a:r>
          </a:p>
          <a:p>
            <a:r>
              <a:rPr lang="en-US" sz="3600" dirty="0"/>
              <a:t>Or</a:t>
            </a:r>
          </a:p>
          <a:p>
            <a:r>
              <a:rPr lang="en-US" sz="3600" dirty="0"/>
              <a:t>The program window will fill the screen.</a:t>
            </a:r>
          </a:p>
          <a:p>
            <a:endParaRPr lang="en-US" sz="2400" dirty="0"/>
          </a:p>
          <a:p>
            <a:endParaRPr lang="en-US" sz="2400" dirty="0"/>
          </a:p>
          <a:p>
            <a:pPr algn="r"/>
            <a:endParaRPr lang="en-US" sz="2400" dirty="0"/>
          </a:p>
        </p:txBody>
      </p:sp>
      <p:pic>
        <p:nvPicPr>
          <p:cNvPr id="6151" name="Picture 7" descr="program butt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721863"/>
            <a:ext cx="3886200" cy="8905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title="Restore Button"/>
          <p:cNvSpPr/>
          <p:nvPr/>
        </p:nvSpPr>
        <p:spPr>
          <a:xfrm>
            <a:off x="8839200" y="0"/>
            <a:ext cx="15240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title="Restore Button"/>
          <p:cNvSpPr/>
          <p:nvPr/>
        </p:nvSpPr>
        <p:spPr>
          <a:xfrm>
            <a:off x="5334000" y="3770199"/>
            <a:ext cx="838200" cy="7256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Restore</a:t>
            </a:r>
          </a:p>
        </p:txBody>
      </p:sp>
    </p:spTree>
    <p:extLst>
      <p:ext uri="{BB962C8B-B14F-4D97-AF65-F5344CB8AC3E}">
        <p14:creationId xmlns:p14="http://schemas.microsoft.com/office/powerpoint/2010/main" val="29965276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152"/>
                                        </p:tgtEl>
                                        <p:attrNameLst>
                                          <p:attrName>style.visibility</p:attrName>
                                        </p:attrNameLst>
                                      </p:cBhvr>
                                      <p:to>
                                        <p:strVal val="visible"/>
                                      </p:to>
                                    </p:set>
                                    <p:animEffect transition="in" filter="fade">
                                      <p:cBhvr>
                                        <p:cTn id="7" dur="1000"/>
                                        <p:tgtEl>
                                          <p:spTgt spid="6152"/>
                                        </p:tgtEl>
                                      </p:cBhvr>
                                    </p:animEffect>
                                    <p:anim calcmode="lin" valueType="num">
                                      <p:cBhvr>
                                        <p:cTn id="8" dur="1000" fill="hold"/>
                                        <p:tgtEl>
                                          <p:spTgt spid="6152"/>
                                        </p:tgtEl>
                                        <p:attrNameLst>
                                          <p:attrName>ppt_x</p:attrName>
                                        </p:attrNameLst>
                                      </p:cBhvr>
                                      <p:tavLst>
                                        <p:tav tm="0">
                                          <p:val>
                                            <p:strVal val="#ppt_x"/>
                                          </p:val>
                                        </p:tav>
                                        <p:tav tm="100000">
                                          <p:val>
                                            <p:strVal val="#ppt_x"/>
                                          </p:val>
                                        </p:tav>
                                      </p:tavLst>
                                    </p:anim>
                                    <p:anim calcmode="lin" valueType="num">
                                      <p:cBhvr>
                                        <p:cTn id="9" dur="1000" fill="hold"/>
                                        <p:tgtEl>
                                          <p:spTgt spid="615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par>
                          <p:cTn id="14" fill="hold">
                            <p:stCondLst>
                              <p:cond delay="3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animBg="1"/>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269" name="Text Box 5"/>
          <p:cNvSpPr txBox="1">
            <a:spLocks noChangeArrowheads="1"/>
          </p:cNvSpPr>
          <p:nvPr/>
        </p:nvSpPr>
        <p:spPr bwMode="auto">
          <a:xfrm>
            <a:off x="304800" y="1676400"/>
            <a:ext cx="8629650" cy="487825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2000" dirty="0"/>
          </a:p>
          <a:p>
            <a:r>
              <a:rPr lang="en-US" sz="3600" dirty="0"/>
              <a:t>When you click the </a:t>
            </a:r>
            <a:r>
              <a:rPr lang="en-US" sz="3600" dirty="0">
                <a:solidFill>
                  <a:srgbClr val="FF0000"/>
                </a:solidFill>
              </a:rPr>
              <a:t>close</a:t>
            </a:r>
            <a:r>
              <a:rPr lang="en-US" sz="3600" dirty="0"/>
              <a:t> button the program will ask you if you want to save the changes if you have made any changes. Once you have responded to this question the program will close.</a:t>
            </a:r>
          </a:p>
          <a:p>
            <a:endParaRPr lang="en-US" sz="2400" dirty="0"/>
          </a:p>
          <a:p>
            <a:endParaRPr lang="en-US" sz="2400" dirty="0"/>
          </a:p>
          <a:p>
            <a:endParaRPr lang="en-US" sz="2400" dirty="0"/>
          </a:p>
          <a:p>
            <a:endParaRPr lang="en-US" sz="1000" dirty="0"/>
          </a:p>
          <a:p>
            <a:pPr algn="r"/>
            <a:endParaRPr lang="en-US" sz="2800" dirty="0"/>
          </a:p>
        </p:txBody>
      </p:sp>
      <p:pic>
        <p:nvPicPr>
          <p:cNvPr id="11268" name="Picture 4" descr="program butt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748212"/>
            <a:ext cx="3886200" cy="8905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title="Close Button"/>
          <p:cNvSpPr/>
          <p:nvPr/>
        </p:nvSpPr>
        <p:spPr>
          <a:xfrm>
            <a:off x="8934450" y="0"/>
            <a:ext cx="209550"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title="Close Button"/>
          <p:cNvSpPr/>
          <p:nvPr/>
        </p:nvSpPr>
        <p:spPr>
          <a:xfrm>
            <a:off x="5708650" y="4773612"/>
            <a:ext cx="838200" cy="7479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Close</a:t>
            </a:r>
          </a:p>
        </p:txBody>
      </p:sp>
    </p:spTree>
    <p:extLst>
      <p:ext uri="{BB962C8B-B14F-4D97-AF65-F5344CB8AC3E}">
        <p14:creationId xmlns:p14="http://schemas.microsoft.com/office/powerpoint/2010/main" val="69177544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fade">
                                      <p:cBhvr>
                                        <p:cTn id="7" dur="1000"/>
                                        <p:tgtEl>
                                          <p:spTgt spid="11269"/>
                                        </p:tgtEl>
                                      </p:cBhvr>
                                    </p:animEffect>
                                    <p:anim calcmode="lin" valueType="num">
                                      <p:cBhvr>
                                        <p:cTn id="8" dur="1000" fill="hold"/>
                                        <p:tgtEl>
                                          <p:spTgt spid="11269"/>
                                        </p:tgtEl>
                                        <p:attrNameLst>
                                          <p:attrName>ppt_x</p:attrName>
                                        </p:attrNameLst>
                                      </p:cBhvr>
                                      <p:tavLst>
                                        <p:tav tm="0">
                                          <p:val>
                                            <p:strVal val="#ppt_x"/>
                                          </p:val>
                                        </p:tav>
                                        <p:tav tm="100000">
                                          <p:val>
                                            <p:strVal val="#ppt_x"/>
                                          </p:val>
                                        </p:tav>
                                      </p:tavLst>
                                    </p:anim>
                                    <p:anim calcmode="lin" valueType="num">
                                      <p:cBhvr>
                                        <p:cTn id="9" dur="1000" fill="hold"/>
                                        <p:tgtEl>
                                          <p:spTgt spid="1126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1" presetClass="entr" presetSubtype="1"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par>
                          <p:cTn id="14" fill="hold">
                            <p:stCondLst>
                              <p:cond delay="3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3317" name="Text Box 5"/>
          <p:cNvSpPr txBox="1">
            <a:spLocks noChangeArrowheads="1"/>
          </p:cNvSpPr>
          <p:nvPr/>
        </p:nvSpPr>
        <p:spPr bwMode="auto">
          <a:xfrm>
            <a:off x="228600" y="1752600"/>
            <a:ext cx="8686800" cy="47859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1200" dirty="0"/>
          </a:p>
          <a:p>
            <a:r>
              <a:rPr lang="en-US" sz="3600" dirty="0"/>
              <a:t>The area outlined in red is called the quick access toolbar.</a:t>
            </a:r>
          </a:p>
          <a:p>
            <a:endParaRPr lang="en-US" sz="1100" dirty="0"/>
          </a:p>
          <a:p>
            <a:r>
              <a:rPr lang="en-US" sz="3600" dirty="0"/>
              <a:t>It contains the most commonly used commands in Microsoft Word:</a:t>
            </a:r>
          </a:p>
          <a:p>
            <a:endParaRPr lang="en-US" sz="1000" dirty="0"/>
          </a:p>
          <a:p>
            <a:pPr marL="1371600" lvl="2" indent="-457200">
              <a:buFont typeface="+mj-lt"/>
              <a:buAutoNum type="arabicPeriod"/>
            </a:pPr>
            <a:r>
              <a:rPr lang="en-US" sz="3600" dirty="0"/>
              <a:t>Save</a:t>
            </a:r>
          </a:p>
          <a:p>
            <a:pPr marL="1371600" lvl="2" indent="-457200">
              <a:buFont typeface="+mj-lt"/>
              <a:buAutoNum type="arabicPeriod"/>
            </a:pPr>
            <a:r>
              <a:rPr lang="en-US" sz="3600" dirty="0"/>
              <a:t>Undo</a:t>
            </a:r>
          </a:p>
          <a:p>
            <a:pPr marL="1371600" lvl="2" indent="-457200">
              <a:buFont typeface="+mj-lt"/>
              <a:buAutoNum type="arabicPeriod"/>
            </a:pPr>
            <a:r>
              <a:rPr lang="en-US" sz="3600" dirty="0"/>
              <a:t>Repeat</a:t>
            </a:r>
          </a:p>
          <a:p>
            <a:pPr lvl="2" algn="r"/>
            <a:endParaRPr lang="en-US" sz="1600" dirty="0"/>
          </a:p>
        </p:txBody>
      </p:sp>
      <p:sp>
        <p:nvSpPr>
          <p:cNvPr id="5" name="Rectangle 4" title="Quick Access Toolbar"/>
          <p:cNvSpPr/>
          <p:nvPr/>
        </p:nvSpPr>
        <p:spPr>
          <a:xfrm>
            <a:off x="-27214" y="0"/>
            <a:ext cx="1094014"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Quick Access Toolbar</a:t>
            </a:r>
          </a:p>
        </p:txBody>
      </p:sp>
    </p:spTree>
    <p:extLst>
      <p:ext uri="{BB962C8B-B14F-4D97-AF65-F5344CB8AC3E}">
        <p14:creationId xmlns:p14="http://schemas.microsoft.com/office/powerpoint/2010/main" val="16056180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317">
                                            <p:txEl>
                                              <p:pRg st="3" end="3"/>
                                            </p:txEl>
                                          </p:spTgt>
                                        </p:tgtEl>
                                        <p:attrNameLst>
                                          <p:attrName>style.visibility</p:attrName>
                                        </p:attrNameLst>
                                      </p:cBhvr>
                                      <p:to>
                                        <p:strVal val="visible"/>
                                      </p:to>
                                    </p:set>
                                    <p:animEffect transition="in" filter="fade">
                                      <p:cBhvr>
                                        <p:cTn id="7" dur="1000"/>
                                        <p:tgtEl>
                                          <p:spTgt spid="13317">
                                            <p:txEl>
                                              <p:pRg st="3" end="3"/>
                                            </p:txEl>
                                          </p:spTgt>
                                        </p:tgtEl>
                                      </p:cBhvr>
                                    </p:animEffect>
                                    <p:anim calcmode="lin" valueType="num">
                                      <p:cBhvr>
                                        <p:cTn id="8" dur="1000" fill="hold"/>
                                        <p:tgtEl>
                                          <p:spTgt spid="1331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3317">
                                            <p:txEl>
                                              <p:pRg st="3" end="3"/>
                                            </p:txEl>
                                          </p:spTgt>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title="Ribbon Interca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Box 5"/>
          <p:cNvSpPr txBox="1">
            <a:spLocks noChangeArrowheads="1"/>
          </p:cNvSpPr>
          <p:nvPr/>
        </p:nvSpPr>
        <p:spPr bwMode="auto">
          <a:xfrm>
            <a:off x="381000" y="1752600"/>
            <a:ext cx="8534400" cy="421653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dirty="0"/>
          </a:p>
          <a:p>
            <a:r>
              <a:rPr lang="en-US" sz="3600" dirty="0"/>
              <a:t>Microsoft Office 2007 &amp; 2010 use what is referred to as the “Ribbon” interface. The area outlined in red is the Ribbon.</a:t>
            </a:r>
          </a:p>
          <a:p>
            <a:endParaRPr lang="en-US" dirty="0"/>
          </a:p>
          <a:p>
            <a:r>
              <a:rPr lang="en-US" sz="3600" dirty="0"/>
              <a:t>The ribbons we are going to go over today are the default ribbons.</a:t>
            </a:r>
          </a:p>
          <a:p>
            <a:endParaRPr lang="en-US" sz="2400" dirty="0"/>
          </a:p>
          <a:p>
            <a:pPr algn="r"/>
            <a:endParaRPr lang="en-US" sz="2800" dirty="0"/>
          </a:p>
        </p:txBody>
      </p:sp>
      <p:sp>
        <p:nvSpPr>
          <p:cNvPr id="5" name="Rectangle 4" title="Ribbon Interface"/>
          <p:cNvSpPr/>
          <p:nvPr/>
        </p:nvSpPr>
        <p:spPr>
          <a:xfrm>
            <a:off x="0" y="381000"/>
            <a:ext cx="9144000" cy="91439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Ribbon Interface</a:t>
            </a:r>
          </a:p>
        </p:txBody>
      </p:sp>
    </p:spTree>
    <p:extLst>
      <p:ext uri="{BB962C8B-B14F-4D97-AF65-F5344CB8AC3E}">
        <p14:creationId xmlns:p14="http://schemas.microsoft.com/office/powerpoint/2010/main" val="40457188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Box 5"/>
          <p:cNvSpPr txBox="1">
            <a:spLocks noChangeArrowheads="1"/>
          </p:cNvSpPr>
          <p:nvPr/>
        </p:nvSpPr>
        <p:spPr bwMode="auto">
          <a:xfrm>
            <a:off x="304800" y="1752600"/>
            <a:ext cx="86106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dirty="0"/>
          </a:p>
          <a:p>
            <a:r>
              <a:rPr lang="en-US" sz="3600" dirty="0"/>
              <a:t>You may customize the ribbon and or a group on the ribbon on your personal computer to have only the features you want to use.</a:t>
            </a:r>
          </a:p>
          <a:p>
            <a:r>
              <a:rPr lang="en-US" sz="3600" dirty="0"/>
              <a:t>In order to do this all you have to do is right mouse click on the ribbon or the group you want to customize.</a:t>
            </a:r>
            <a:endParaRPr lang="en-US" sz="2400" dirty="0"/>
          </a:p>
          <a:p>
            <a:pPr algn="r"/>
            <a:endParaRPr lang="en-US" sz="2800" dirty="0"/>
          </a:p>
        </p:txBody>
      </p:sp>
      <p:sp>
        <p:nvSpPr>
          <p:cNvPr id="2" name="Title 1" hidden="1"/>
          <p:cNvSpPr>
            <a:spLocks noGrp="1"/>
          </p:cNvSpPr>
          <p:nvPr>
            <p:ph type="title" idx="4294967295"/>
          </p:nvPr>
        </p:nvSpPr>
        <p:spPr/>
        <p:txBody>
          <a:bodyPr/>
          <a:lstStyle/>
          <a:p>
            <a:r>
              <a:rPr lang="en-US" dirty="0"/>
              <a:t>Ribbon Groups</a:t>
            </a:r>
          </a:p>
        </p:txBody>
      </p:sp>
    </p:spTree>
    <p:extLst>
      <p:ext uri="{BB962C8B-B14F-4D97-AF65-F5344CB8AC3E}">
        <p14:creationId xmlns:p14="http://schemas.microsoft.com/office/powerpoint/2010/main" val="28330888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title="Tabs Menu"/>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Box 5"/>
          <p:cNvSpPr txBox="1">
            <a:spLocks noChangeArrowheads="1"/>
          </p:cNvSpPr>
          <p:nvPr/>
        </p:nvSpPr>
        <p:spPr bwMode="auto">
          <a:xfrm>
            <a:off x="228600" y="1752600"/>
            <a:ext cx="8686800" cy="467820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n-US" sz="3600" dirty="0"/>
          </a:p>
          <a:p>
            <a:r>
              <a:rPr lang="en-US" sz="3600" dirty="0"/>
              <a:t>The words File, Home, Insert, etc… outlined in red are referred to as tabs. Each Tab has several Groups attached to it.</a:t>
            </a:r>
          </a:p>
          <a:p>
            <a:endParaRPr lang="en-US" sz="2400" dirty="0"/>
          </a:p>
          <a:p>
            <a:endParaRPr lang="en-US" dirty="0"/>
          </a:p>
          <a:p>
            <a:endParaRPr lang="en-US" sz="2400" dirty="0"/>
          </a:p>
          <a:p>
            <a:endParaRPr lang="en-US" sz="2400" dirty="0"/>
          </a:p>
          <a:p>
            <a:pPr algn="r"/>
            <a:endParaRPr lang="en-US" sz="2800" dirty="0"/>
          </a:p>
        </p:txBody>
      </p:sp>
      <p:sp>
        <p:nvSpPr>
          <p:cNvPr id="7" name="Rectangle 6" title="Tabs Menu"/>
          <p:cNvSpPr/>
          <p:nvPr/>
        </p:nvSpPr>
        <p:spPr>
          <a:xfrm>
            <a:off x="10886" y="228600"/>
            <a:ext cx="4561114" cy="228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hidden="1"/>
          <p:cNvSpPr>
            <a:spLocks noGrp="1"/>
          </p:cNvSpPr>
          <p:nvPr>
            <p:ph type="title" idx="4294967295"/>
          </p:nvPr>
        </p:nvSpPr>
        <p:spPr/>
        <p:txBody>
          <a:bodyPr/>
          <a:lstStyle/>
          <a:p>
            <a:r>
              <a:rPr lang="en-US" dirty="0"/>
              <a:t>Tab Menu</a:t>
            </a:r>
          </a:p>
        </p:txBody>
      </p:sp>
    </p:spTree>
    <p:extLst>
      <p:ext uri="{BB962C8B-B14F-4D97-AF65-F5344CB8AC3E}">
        <p14:creationId xmlns:p14="http://schemas.microsoft.com/office/powerpoint/2010/main" val="8446574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Workshee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44000" cy="6858000"/>
          </a:xfrm>
          <a:prstGeom prst="rect">
            <a:avLst/>
          </a:prstGeom>
        </p:spPr>
      </p:pic>
      <p:sp>
        <p:nvSpPr>
          <p:cNvPr id="8" name="Text Box 5"/>
          <p:cNvSpPr txBox="1">
            <a:spLocks noChangeArrowheads="1"/>
          </p:cNvSpPr>
          <p:nvPr/>
        </p:nvSpPr>
        <p:spPr bwMode="auto">
          <a:xfrm>
            <a:off x="228600" y="1463219"/>
            <a:ext cx="8610600" cy="50167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600" dirty="0"/>
              <a:t>The area outlined in red is referred to as the worksheet and most of its components remain the same regardless of which tab you are currently using.</a:t>
            </a:r>
          </a:p>
          <a:p>
            <a:endParaRPr lang="en-US" sz="4400" dirty="0"/>
          </a:p>
          <a:p>
            <a:endParaRPr lang="en-US" sz="2400" dirty="0"/>
          </a:p>
          <a:p>
            <a:endParaRPr lang="en-US" sz="1400" dirty="0"/>
          </a:p>
          <a:p>
            <a:endParaRPr lang="en-US" dirty="0"/>
          </a:p>
          <a:p>
            <a:endParaRPr lang="en-US" sz="2400" dirty="0"/>
          </a:p>
          <a:p>
            <a:endParaRPr lang="en-US" sz="2400" dirty="0"/>
          </a:p>
          <a:p>
            <a:pPr algn="r"/>
            <a:endParaRPr lang="en-US" sz="2800" dirty="0"/>
          </a:p>
        </p:txBody>
      </p:sp>
      <p:sp>
        <p:nvSpPr>
          <p:cNvPr id="7" name="Rectangle 6" title="Worksheet"/>
          <p:cNvSpPr/>
          <p:nvPr/>
        </p:nvSpPr>
        <p:spPr>
          <a:xfrm>
            <a:off x="0" y="1219200"/>
            <a:ext cx="9105900" cy="5608320"/>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Worksheet</a:t>
            </a:r>
          </a:p>
        </p:txBody>
      </p:sp>
    </p:spTree>
    <p:extLst>
      <p:ext uri="{BB962C8B-B14F-4D97-AF65-F5344CB8AC3E}">
        <p14:creationId xmlns:p14="http://schemas.microsoft.com/office/powerpoint/2010/main" val="6641472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title="Schreenshot Diagram"/>
          <p:cNvPicPr>
            <a:picLocks noChangeAspect="1" noChangeArrowheads="1"/>
          </p:cNvPicPr>
          <p:nvPr/>
        </p:nvPicPr>
        <p:blipFill rotWithShape="1">
          <a:blip r:embed="rId2">
            <a:extLst>
              <a:ext uri="{28A0092B-C50C-407E-A947-70E740481C1C}">
                <a14:useLocalDpi xmlns:a14="http://schemas.microsoft.com/office/drawing/2010/main" val="0"/>
              </a:ext>
            </a:extLst>
          </a:blip>
          <a:srcRect t="9197" r="1617"/>
          <a:stretch/>
        </p:blipFill>
        <p:spPr bwMode="auto">
          <a:xfrm>
            <a:off x="123013" y="176784"/>
            <a:ext cx="8771283" cy="4547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Box 5"/>
          <p:cNvSpPr txBox="1">
            <a:spLocks noChangeArrowheads="1"/>
          </p:cNvSpPr>
          <p:nvPr/>
        </p:nvSpPr>
        <p:spPr bwMode="auto">
          <a:xfrm>
            <a:off x="207496" y="4724400"/>
            <a:ext cx="8686800" cy="120032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600" dirty="0"/>
              <a:t>The name bar tells you the column and row of the cell that is selected.</a:t>
            </a:r>
          </a:p>
        </p:txBody>
      </p:sp>
      <p:sp>
        <p:nvSpPr>
          <p:cNvPr id="2" name="Title 1" hidden="1"/>
          <p:cNvSpPr>
            <a:spLocks noGrp="1"/>
          </p:cNvSpPr>
          <p:nvPr>
            <p:ph type="title" idx="4294967295"/>
          </p:nvPr>
        </p:nvSpPr>
        <p:spPr/>
        <p:txBody>
          <a:bodyPr/>
          <a:lstStyle/>
          <a:p>
            <a:r>
              <a:rPr lang="en-US" dirty="0"/>
              <a:t>Columns</a:t>
            </a:r>
            <a:r>
              <a:rPr lang="en-US" baseline="0" dirty="0"/>
              <a:t> and Rows</a:t>
            </a:r>
            <a:endParaRPr lang="en-US" dirty="0"/>
          </a:p>
        </p:txBody>
      </p:sp>
    </p:spTree>
    <p:extLst>
      <p:ext uri="{BB962C8B-B14F-4D97-AF65-F5344CB8AC3E}">
        <p14:creationId xmlns:p14="http://schemas.microsoft.com/office/powerpoint/2010/main" val="27272206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title="Screenshot of File Tab"/>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Box 5"/>
          <p:cNvSpPr txBox="1">
            <a:spLocks noChangeArrowheads="1"/>
          </p:cNvSpPr>
          <p:nvPr/>
        </p:nvSpPr>
        <p:spPr bwMode="auto">
          <a:xfrm>
            <a:off x="0" y="4795897"/>
            <a:ext cx="9156492" cy="206210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3"/>
            <a:r>
              <a:rPr lang="en-US" sz="3600" dirty="0"/>
              <a:t>The File Tab menu contains the commands most commonly associated with the file.</a:t>
            </a:r>
          </a:p>
          <a:p>
            <a:pPr marL="0" lvl="3"/>
            <a:endParaRPr lang="en-US" sz="2400" dirty="0"/>
          </a:p>
          <a:p>
            <a:pPr algn="r"/>
            <a:endParaRPr lang="en-US" sz="2800" dirty="0"/>
          </a:p>
        </p:txBody>
      </p:sp>
      <p:sp>
        <p:nvSpPr>
          <p:cNvPr id="2" name="Title 1" hidden="1"/>
          <p:cNvSpPr>
            <a:spLocks noGrp="1"/>
          </p:cNvSpPr>
          <p:nvPr>
            <p:ph type="title" idx="4294967295"/>
          </p:nvPr>
        </p:nvSpPr>
        <p:spPr/>
        <p:txBody>
          <a:bodyPr/>
          <a:lstStyle/>
          <a:p>
            <a:r>
              <a:rPr lang="en-US" dirty="0"/>
              <a:t>File Tab Menu</a:t>
            </a:r>
          </a:p>
        </p:txBody>
      </p:sp>
    </p:spTree>
    <p:extLst>
      <p:ext uri="{BB962C8B-B14F-4D97-AF65-F5344CB8AC3E}">
        <p14:creationId xmlns:p14="http://schemas.microsoft.com/office/powerpoint/2010/main" val="35883146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7999"/>
          </a:xfrm>
          <a:prstGeom prst="rect">
            <a:avLst/>
          </a:prstGeom>
        </p:spPr>
      </p:pic>
      <p:sp>
        <p:nvSpPr>
          <p:cNvPr id="8" name="Text Box 5"/>
          <p:cNvSpPr txBox="1">
            <a:spLocks noChangeArrowheads="1"/>
          </p:cNvSpPr>
          <p:nvPr/>
        </p:nvSpPr>
        <p:spPr bwMode="auto">
          <a:xfrm>
            <a:off x="228600" y="1524000"/>
            <a:ext cx="8763000" cy="46474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dirty="0"/>
              <a:t>The </a:t>
            </a:r>
            <a:r>
              <a:rPr lang="en-US" sz="3600" b="1" dirty="0"/>
              <a:t>Home Tab </a:t>
            </a:r>
            <a:r>
              <a:rPr lang="en-US" sz="2800" dirty="0"/>
              <a:t>Groups contain the commands most commonly associated with the formatting and editing of cells and their contents.</a:t>
            </a:r>
          </a:p>
          <a:p>
            <a:endParaRPr lang="en-US" sz="2400" dirty="0"/>
          </a:p>
          <a:p>
            <a:endParaRPr lang="en-US" sz="2400" dirty="0"/>
          </a:p>
          <a:p>
            <a:endParaRPr lang="en-US" sz="2400" dirty="0"/>
          </a:p>
          <a:p>
            <a:endParaRPr lang="en-US" sz="2400" dirty="0"/>
          </a:p>
          <a:p>
            <a:endParaRPr lang="en-US" sz="2400" dirty="0"/>
          </a:p>
          <a:p>
            <a:endParaRPr lang="en-US" sz="3600" dirty="0"/>
          </a:p>
          <a:p>
            <a:endParaRPr lang="en-US" sz="2400" dirty="0"/>
          </a:p>
          <a:p>
            <a:pPr algn="r"/>
            <a:endParaRPr lang="en-US" sz="2400" dirty="0"/>
          </a:p>
        </p:txBody>
      </p:sp>
      <p:sp>
        <p:nvSpPr>
          <p:cNvPr id="15" name="TextBox 14"/>
          <p:cNvSpPr txBox="1"/>
          <p:nvPr/>
        </p:nvSpPr>
        <p:spPr>
          <a:xfrm>
            <a:off x="498928" y="3505200"/>
            <a:ext cx="1938351" cy="584775"/>
          </a:xfrm>
          <a:prstGeom prst="rect">
            <a:avLst/>
          </a:prstGeom>
          <a:noFill/>
        </p:spPr>
        <p:txBody>
          <a:bodyPr wrap="none" rtlCol="0">
            <a:spAutoFit/>
          </a:bodyPr>
          <a:lstStyle/>
          <a:p>
            <a:r>
              <a:rPr lang="en-US" sz="3200" dirty="0"/>
              <a:t>Clipboard</a:t>
            </a:r>
          </a:p>
        </p:txBody>
      </p:sp>
      <p:sp>
        <p:nvSpPr>
          <p:cNvPr id="16" name="TextBox 15"/>
          <p:cNvSpPr txBox="1"/>
          <p:nvPr/>
        </p:nvSpPr>
        <p:spPr>
          <a:xfrm>
            <a:off x="4038600" y="3524117"/>
            <a:ext cx="1003801" cy="584775"/>
          </a:xfrm>
          <a:prstGeom prst="rect">
            <a:avLst/>
          </a:prstGeom>
          <a:noFill/>
        </p:spPr>
        <p:txBody>
          <a:bodyPr wrap="none" rtlCol="0">
            <a:spAutoFit/>
          </a:bodyPr>
          <a:lstStyle/>
          <a:p>
            <a:r>
              <a:rPr lang="en-US" sz="3200" dirty="0"/>
              <a:t>Font</a:t>
            </a:r>
          </a:p>
        </p:txBody>
      </p:sp>
      <p:sp>
        <p:nvSpPr>
          <p:cNvPr id="19" name="TextBox 18"/>
          <p:cNvSpPr txBox="1"/>
          <p:nvPr/>
        </p:nvSpPr>
        <p:spPr>
          <a:xfrm>
            <a:off x="6589751" y="3505200"/>
            <a:ext cx="2007281" cy="584775"/>
          </a:xfrm>
          <a:prstGeom prst="rect">
            <a:avLst/>
          </a:prstGeom>
          <a:noFill/>
        </p:spPr>
        <p:txBody>
          <a:bodyPr wrap="none" rtlCol="0">
            <a:spAutoFit/>
          </a:bodyPr>
          <a:lstStyle/>
          <a:p>
            <a:r>
              <a:rPr lang="en-US" sz="3200" dirty="0"/>
              <a:t>Alignment</a:t>
            </a:r>
          </a:p>
        </p:txBody>
      </p:sp>
      <p:sp>
        <p:nvSpPr>
          <p:cNvPr id="20" name="TextBox 19"/>
          <p:cNvSpPr txBox="1"/>
          <p:nvPr/>
        </p:nvSpPr>
        <p:spPr>
          <a:xfrm>
            <a:off x="491804" y="4673025"/>
            <a:ext cx="1641796" cy="584775"/>
          </a:xfrm>
          <a:prstGeom prst="rect">
            <a:avLst/>
          </a:prstGeom>
          <a:noFill/>
        </p:spPr>
        <p:txBody>
          <a:bodyPr wrap="none" rtlCol="0">
            <a:spAutoFit/>
          </a:bodyPr>
          <a:lstStyle/>
          <a:p>
            <a:r>
              <a:rPr lang="en-US" sz="3200" dirty="0"/>
              <a:t>Number</a:t>
            </a:r>
          </a:p>
        </p:txBody>
      </p:sp>
      <p:sp>
        <p:nvSpPr>
          <p:cNvPr id="21" name="TextBox 20"/>
          <p:cNvSpPr txBox="1"/>
          <p:nvPr/>
        </p:nvSpPr>
        <p:spPr>
          <a:xfrm>
            <a:off x="2895600" y="4673025"/>
            <a:ext cx="1301959" cy="584775"/>
          </a:xfrm>
          <a:prstGeom prst="rect">
            <a:avLst/>
          </a:prstGeom>
          <a:noFill/>
        </p:spPr>
        <p:txBody>
          <a:bodyPr wrap="none" rtlCol="0">
            <a:spAutoFit/>
          </a:bodyPr>
          <a:lstStyle/>
          <a:p>
            <a:r>
              <a:rPr lang="en-US" sz="3200" dirty="0"/>
              <a:t>Styles</a:t>
            </a:r>
          </a:p>
        </p:txBody>
      </p:sp>
      <p:sp>
        <p:nvSpPr>
          <p:cNvPr id="14" name="Rectangle 13" title="Clipboard Tab"/>
          <p:cNvSpPr/>
          <p:nvPr/>
        </p:nvSpPr>
        <p:spPr>
          <a:xfrm>
            <a:off x="-36286" y="457200"/>
            <a:ext cx="798286"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Font Tab"/>
          <p:cNvSpPr/>
          <p:nvPr/>
        </p:nvSpPr>
        <p:spPr>
          <a:xfrm>
            <a:off x="762000" y="464457"/>
            <a:ext cx="1864740"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Alignment Tab"/>
          <p:cNvSpPr/>
          <p:nvPr/>
        </p:nvSpPr>
        <p:spPr>
          <a:xfrm>
            <a:off x="2590800" y="457200"/>
            <a:ext cx="14478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Number Tab"/>
          <p:cNvSpPr/>
          <p:nvPr/>
        </p:nvSpPr>
        <p:spPr>
          <a:xfrm>
            <a:off x="4038600" y="464457"/>
            <a:ext cx="13716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title="Styles Tab"/>
          <p:cNvSpPr/>
          <p:nvPr/>
        </p:nvSpPr>
        <p:spPr>
          <a:xfrm>
            <a:off x="5410200" y="464457"/>
            <a:ext cx="15240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title="Cells Tab"/>
          <p:cNvSpPr/>
          <p:nvPr/>
        </p:nvSpPr>
        <p:spPr>
          <a:xfrm>
            <a:off x="6934200" y="464457"/>
            <a:ext cx="7620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title="Editing Tab"/>
          <p:cNvSpPr/>
          <p:nvPr/>
        </p:nvSpPr>
        <p:spPr>
          <a:xfrm>
            <a:off x="7696200" y="457200"/>
            <a:ext cx="10668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5022641" y="4673025"/>
            <a:ext cx="1096775" cy="584775"/>
          </a:xfrm>
          <a:prstGeom prst="rect">
            <a:avLst/>
          </a:prstGeom>
          <a:noFill/>
        </p:spPr>
        <p:txBody>
          <a:bodyPr wrap="none" rtlCol="0">
            <a:spAutoFit/>
          </a:bodyPr>
          <a:lstStyle/>
          <a:p>
            <a:r>
              <a:rPr lang="en-US" sz="3200" dirty="0"/>
              <a:t>Cells</a:t>
            </a:r>
          </a:p>
        </p:txBody>
      </p:sp>
      <p:sp>
        <p:nvSpPr>
          <p:cNvPr id="29" name="TextBox 28"/>
          <p:cNvSpPr txBox="1"/>
          <p:nvPr/>
        </p:nvSpPr>
        <p:spPr>
          <a:xfrm>
            <a:off x="7172386" y="4673025"/>
            <a:ext cx="1438214" cy="584775"/>
          </a:xfrm>
          <a:prstGeom prst="rect">
            <a:avLst/>
          </a:prstGeom>
          <a:noFill/>
        </p:spPr>
        <p:txBody>
          <a:bodyPr wrap="none" rtlCol="0">
            <a:spAutoFit/>
          </a:bodyPr>
          <a:lstStyle/>
          <a:p>
            <a:r>
              <a:rPr lang="en-US" sz="3200" dirty="0"/>
              <a:t>Editing</a:t>
            </a:r>
          </a:p>
        </p:txBody>
      </p:sp>
      <p:sp>
        <p:nvSpPr>
          <p:cNvPr id="3" name="Title 2" hidden="1"/>
          <p:cNvSpPr>
            <a:spLocks noGrp="1"/>
          </p:cNvSpPr>
          <p:nvPr>
            <p:ph type="title" idx="4294967295"/>
          </p:nvPr>
        </p:nvSpPr>
        <p:spPr/>
        <p:txBody>
          <a:bodyPr/>
          <a:lstStyle/>
          <a:p>
            <a:r>
              <a:rPr lang="en-US" dirty="0"/>
              <a:t>Home Tab</a:t>
            </a:r>
          </a:p>
        </p:txBody>
      </p:sp>
    </p:spTree>
    <p:extLst>
      <p:ext uri="{BB962C8B-B14F-4D97-AF65-F5344CB8AC3E}">
        <p14:creationId xmlns:p14="http://schemas.microsoft.com/office/powerpoint/2010/main" val="12068650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21"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heel(1)">
                                      <p:cBhvr>
                                        <p:cTn id="61" dur="2000"/>
                                        <p:tgtEl>
                                          <p:spTgt spid="25"/>
                                        </p:tgtEl>
                                      </p:cBhvr>
                                    </p:animEffect>
                                  </p:childTnLst>
                                </p:cTn>
                              </p:par>
                              <p:par>
                                <p:cTn id="62" presetID="21" presetClass="exit" presetSubtype="1" fill="hold" grpId="1" nodeType="withEffect">
                                  <p:stCondLst>
                                    <p:cond delay="0"/>
                                  </p:stCondLst>
                                  <p:childTnLst>
                                    <p:animEffect transition="out" filter="wheel(1)">
                                      <p:cBhvr>
                                        <p:cTn id="63" dur="2000"/>
                                        <p:tgtEl>
                                          <p:spTgt spid="24"/>
                                        </p:tgtEl>
                                      </p:cBhvr>
                                    </p:animEffect>
                                    <p:set>
                                      <p:cBhvr>
                                        <p:cTn id="64" dur="1" fill="hold">
                                          <p:stCondLst>
                                            <p:cond delay="1999"/>
                                          </p:stCondLst>
                                        </p:cTn>
                                        <p:tgtEl>
                                          <p:spTgt spid="24"/>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fade">
                                      <p:cBhvr>
                                        <p:cTn id="69" dur="1000"/>
                                        <p:tgtEl>
                                          <p:spTgt spid="28"/>
                                        </p:tgtEl>
                                      </p:cBhvr>
                                    </p:animEffect>
                                    <p:anim calcmode="lin" valueType="num">
                                      <p:cBhvr>
                                        <p:cTn id="70" dur="1000" fill="hold"/>
                                        <p:tgtEl>
                                          <p:spTgt spid="28"/>
                                        </p:tgtEl>
                                        <p:attrNameLst>
                                          <p:attrName>ppt_x</p:attrName>
                                        </p:attrNameLst>
                                      </p:cBhvr>
                                      <p:tavLst>
                                        <p:tav tm="0">
                                          <p:val>
                                            <p:strVal val="#ppt_x"/>
                                          </p:val>
                                        </p:tav>
                                        <p:tav tm="100000">
                                          <p:val>
                                            <p:strVal val="#ppt_x"/>
                                          </p:val>
                                        </p:tav>
                                      </p:tavLst>
                                    </p:anim>
                                    <p:anim calcmode="lin" valueType="num">
                                      <p:cBhvr>
                                        <p:cTn id="71" dur="1000" fill="hold"/>
                                        <p:tgtEl>
                                          <p:spTgt spid="28"/>
                                        </p:tgtEl>
                                        <p:attrNameLst>
                                          <p:attrName>ppt_y</p:attrName>
                                        </p:attrNameLst>
                                      </p:cBhvr>
                                      <p:tavLst>
                                        <p:tav tm="0">
                                          <p:val>
                                            <p:strVal val="#ppt_y+.1"/>
                                          </p:val>
                                        </p:tav>
                                        <p:tav tm="100000">
                                          <p:val>
                                            <p:strVal val="#ppt_y"/>
                                          </p:val>
                                        </p:tav>
                                      </p:tavLst>
                                    </p:anim>
                                  </p:childTnLst>
                                </p:cTn>
                              </p:par>
                              <p:par>
                                <p:cTn id="72" presetID="21" presetClass="entr" presetSubtype="1"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heel(1)">
                                      <p:cBhvr>
                                        <p:cTn id="74" dur="2000"/>
                                        <p:tgtEl>
                                          <p:spTgt spid="26"/>
                                        </p:tgtEl>
                                      </p:cBhvr>
                                    </p:animEffect>
                                  </p:childTnLst>
                                </p:cTn>
                              </p:par>
                              <p:par>
                                <p:cTn id="75" presetID="21" presetClass="exit" presetSubtype="1" fill="hold" grpId="1" nodeType="withEffect">
                                  <p:stCondLst>
                                    <p:cond delay="0"/>
                                  </p:stCondLst>
                                  <p:childTnLst>
                                    <p:animEffect transition="out" filter="wheel(1)">
                                      <p:cBhvr>
                                        <p:cTn id="76" dur="2000"/>
                                        <p:tgtEl>
                                          <p:spTgt spid="25"/>
                                        </p:tgtEl>
                                      </p:cBhvr>
                                    </p:animEffect>
                                    <p:set>
                                      <p:cBhvr>
                                        <p:cTn id="77" dur="1" fill="hold">
                                          <p:stCondLst>
                                            <p:cond delay="1999"/>
                                          </p:stCondLst>
                                        </p:cTn>
                                        <p:tgtEl>
                                          <p:spTgt spid="25"/>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1000"/>
                                        <p:tgtEl>
                                          <p:spTgt spid="29"/>
                                        </p:tgtEl>
                                      </p:cBhvr>
                                    </p:animEffect>
                                    <p:anim calcmode="lin" valueType="num">
                                      <p:cBhvr>
                                        <p:cTn id="83" dur="1000" fill="hold"/>
                                        <p:tgtEl>
                                          <p:spTgt spid="29"/>
                                        </p:tgtEl>
                                        <p:attrNameLst>
                                          <p:attrName>ppt_x</p:attrName>
                                        </p:attrNameLst>
                                      </p:cBhvr>
                                      <p:tavLst>
                                        <p:tav tm="0">
                                          <p:val>
                                            <p:strVal val="#ppt_x"/>
                                          </p:val>
                                        </p:tav>
                                        <p:tav tm="100000">
                                          <p:val>
                                            <p:strVal val="#ppt_x"/>
                                          </p:val>
                                        </p:tav>
                                      </p:tavLst>
                                    </p:anim>
                                    <p:anim calcmode="lin" valueType="num">
                                      <p:cBhvr>
                                        <p:cTn id="84" dur="1000" fill="hold"/>
                                        <p:tgtEl>
                                          <p:spTgt spid="29"/>
                                        </p:tgtEl>
                                        <p:attrNameLst>
                                          <p:attrName>ppt_y</p:attrName>
                                        </p:attrNameLst>
                                      </p:cBhvr>
                                      <p:tavLst>
                                        <p:tav tm="0">
                                          <p:val>
                                            <p:strVal val="#ppt_y+.1"/>
                                          </p:val>
                                        </p:tav>
                                        <p:tav tm="100000">
                                          <p:val>
                                            <p:strVal val="#ppt_y"/>
                                          </p:val>
                                        </p:tav>
                                      </p:tavLst>
                                    </p:anim>
                                  </p:childTnLst>
                                </p:cTn>
                              </p:par>
                              <p:par>
                                <p:cTn id="85" presetID="21" presetClass="entr" presetSubtype="1"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wheel(1)">
                                      <p:cBhvr>
                                        <p:cTn id="87" dur="2000"/>
                                        <p:tgtEl>
                                          <p:spTgt spid="27"/>
                                        </p:tgtEl>
                                      </p:cBhvr>
                                    </p:animEffect>
                                  </p:childTnLst>
                                </p:cTn>
                              </p:par>
                              <p:par>
                                <p:cTn id="88" presetID="21" presetClass="exit" presetSubtype="1" fill="hold" grpId="1" nodeType="withEffect">
                                  <p:stCondLst>
                                    <p:cond delay="0"/>
                                  </p:stCondLst>
                                  <p:childTnLst>
                                    <p:animEffect transition="out" filter="wheel(1)">
                                      <p:cBhvr>
                                        <p:cTn id="89" dur="2000"/>
                                        <p:tgtEl>
                                          <p:spTgt spid="26"/>
                                        </p:tgtEl>
                                      </p:cBhvr>
                                    </p:animEffect>
                                    <p:set>
                                      <p:cBhvr>
                                        <p:cTn id="90"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P spid="14" grpId="0" animBg="1"/>
      <p:bldP spid="14"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8" grpId="0"/>
      <p:bldP spid="2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8" name="Text Box 5"/>
          <p:cNvSpPr txBox="1">
            <a:spLocks noChangeArrowheads="1"/>
          </p:cNvSpPr>
          <p:nvPr/>
        </p:nvSpPr>
        <p:spPr bwMode="auto">
          <a:xfrm>
            <a:off x="152400" y="1752600"/>
            <a:ext cx="88392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Insert</a:t>
            </a:r>
            <a:r>
              <a:rPr lang="en-US" sz="3600" dirty="0"/>
              <a:t> </a:t>
            </a:r>
            <a:r>
              <a:rPr lang="en-US" sz="3600" b="1" dirty="0"/>
              <a:t>Tab</a:t>
            </a:r>
            <a:r>
              <a:rPr lang="en-US" sz="3600" dirty="0"/>
              <a:t> </a:t>
            </a:r>
            <a:r>
              <a:rPr lang="en-US" sz="3200" dirty="0"/>
              <a:t>Groups contain the commands most commonly associated with adding something to the document.</a:t>
            </a:r>
          </a:p>
          <a:p>
            <a:endParaRPr lang="en-US" sz="32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p:txBody>
      </p:sp>
      <p:sp>
        <p:nvSpPr>
          <p:cNvPr id="15" name="TextBox 14"/>
          <p:cNvSpPr txBox="1"/>
          <p:nvPr/>
        </p:nvSpPr>
        <p:spPr>
          <a:xfrm>
            <a:off x="498928" y="3587308"/>
            <a:ext cx="1368708" cy="584775"/>
          </a:xfrm>
          <a:prstGeom prst="rect">
            <a:avLst/>
          </a:prstGeom>
          <a:noFill/>
        </p:spPr>
        <p:txBody>
          <a:bodyPr wrap="none" rtlCol="0">
            <a:spAutoFit/>
          </a:bodyPr>
          <a:lstStyle/>
          <a:p>
            <a:r>
              <a:rPr lang="en-US" sz="3200" dirty="0"/>
              <a:t>Tables</a:t>
            </a:r>
          </a:p>
        </p:txBody>
      </p:sp>
      <p:sp>
        <p:nvSpPr>
          <p:cNvPr id="16" name="TextBox 15"/>
          <p:cNvSpPr txBox="1"/>
          <p:nvPr/>
        </p:nvSpPr>
        <p:spPr>
          <a:xfrm>
            <a:off x="3429000" y="3606225"/>
            <a:ext cx="2257349" cy="584775"/>
          </a:xfrm>
          <a:prstGeom prst="rect">
            <a:avLst/>
          </a:prstGeom>
          <a:noFill/>
        </p:spPr>
        <p:txBody>
          <a:bodyPr wrap="none" rtlCol="0">
            <a:spAutoFit/>
          </a:bodyPr>
          <a:lstStyle/>
          <a:p>
            <a:r>
              <a:rPr lang="en-US" sz="3200" dirty="0"/>
              <a:t>Illustrations</a:t>
            </a:r>
          </a:p>
        </p:txBody>
      </p:sp>
      <p:sp>
        <p:nvSpPr>
          <p:cNvPr id="19" name="TextBox 18"/>
          <p:cNvSpPr txBox="1"/>
          <p:nvPr/>
        </p:nvSpPr>
        <p:spPr>
          <a:xfrm>
            <a:off x="6837872" y="3581400"/>
            <a:ext cx="1391728" cy="584775"/>
          </a:xfrm>
          <a:prstGeom prst="rect">
            <a:avLst/>
          </a:prstGeom>
          <a:noFill/>
        </p:spPr>
        <p:txBody>
          <a:bodyPr wrap="none" rtlCol="0">
            <a:spAutoFit/>
          </a:bodyPr>
          <a:lstStyle/>
          <a:p>
            <a:r>
              <a:rPr lang="en-US" sz="3200" dirty="0"/>
              <a:t>Charts</a:t>
            </a:r>
          </a:p>
        </p:txBody>
      </p:sp>
      <p:sp>
        <p:nvSpPr>
          <p:cNvPr id="20" name="TextBox 19"/>
          <p:cNvSpPr txBox="1"/>
          <p:nvPr/>
        </p:nvSpPr>
        <p:spPr>
          <a:xfrm>
            <a:off x="457200" y="4648200"/>
            <a:ext cx="2098651" cy="584775"/>
          </a:xfrm>
          <a:prstGeom prst="rect">
            <a:avLst/>
          </a:prstGeom>
          <a:noFill/>
        </p:spPr>
        <p:txBody>
          <a:bodyPr wrap="none" rtlCol="0">
            <a:spAutoFit/>
          </a:bodyPr>
          <a:lstStyle/>
          <a:p>
            <a:r>
              <a:rPr lang="en-US" sz="3200" dirty="0" err="1"/>
              <a:t>Sparklines</a:t>
            </a:r>
            <a:endParaRPr lang="en-US" sz="3200" dirty="0"/>
          </a:p>
        </p:txBody>
      </p:sp>
      <p:sp>
        <p:nvSpPr>
          <p:cNvPr id="21" name="TextBox 20"/>
          <p:cNvSpPr txBox="1"/>
          <p:nvPr/>
        </p:nvSpPr>
        <p:spPr>
          <a:xfrm>
            <a:off x="4010228" y="4572000"/>
            <a:ext cx="1095172" cy="584775"/>
          </a:xfrm>
          <a:prstGeom prst="rect">
            <a:avLst/>
          </a:prstGeom>
          <a:noFill/>
        </p:spPr>
        <p:txBody>
          <a:bodyPr wrap="none" rtlCol="0">
            <a:spAutoFit/>
          </a:bodyPr>
          <a:lstStyle/>
          <a:p>
            <a:r>
              <a:rPr lang="en-US" sz="3200" dirty="0"/>
              <a:t>Filter</a:t>
            </a:r>
          </a:p>
        </p:txBody>
      </p:sp>
      <p:sp>
        <p:nvSpPr>
          <p:cNvPr id="14" name="Rectangle 13" title="Tables Tab"/>
          <p:cNvSpPr/>
          <p:nvPr/>
        </p:nvSpPr>
        <p:spPr>
          <a:xfrm>
            <a:off x="-36286" y="464457"/>
            <a:ext cx="1026886"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Illustrations Tab"/>
          <p:cNvSpPr/>
          <p:nvPr/>
        </p:nvSpPr>
        <p:spPr>
          <a:xfrm>
            <a:off x="973366" y="457200"/>
            <a:ext cx="1660026"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Charts Tab"/>
          <p:cNvSpPr/>
          <p:nvPr/>
        </p:nvSpPr>
        <p:spPr>
          <a:xfrm>
            <a:off x="2613660" y="457200"/>
            <a:ext cx="19050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Sparklines Tab"/>
          <p:cNvSpPr/>
          <p:nvPr/>
        </p:nvSpPr>
        <p:spPr>
          <a:xfrm>
            <a:off x="4518660" y="464457"/>
            <a:ext cx="7239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7087941" y="4648200"/>
            <a:ext cx="1141659" cy="584775"/>
          </a:xfrm>
          <a:prstGeom prst="rect">
            <a:avLst/>
          </a:prstGeom>
          <a:noFill/>
        </p:spPr>
        <p:txBody>
          <a:bodyPr wrap="none" rtlCol="0">
            <a:spAutoFit/>
          </a:bodyPr>
          <a:lstStyle/>
          <a:p>
            <a:r>
              <a:rPr lang="en-US" sz="3200" dirty="0"/>
              <a:t>Links</a:t>
            </a:r>
          </a:p>
        </p:txBody>
      </p:sp>
      <p:sp>
        <p:nvSpPr>
          <p:cNvPr id="27" name="Rectangle 26" title="Filter Tab"/>
          <p:cNvSpPr/>
          <p:nvPr/>
        </p:nvSpPr>
        <p:spPr>
          <a:xfrm>
            <a:off x="5222828" y="464457"/>
            <a:ext cx="415972"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2590800" y="5587425"/>
            <a:ext cx="935897" cy="584775"/>
          </a:xfrm>
          <a:prstGeom prst="rect">
            <a:avLst/>
          </a:prstGeom>
          <a:noFill/>
        </p:spPr>
        <p:txBody>
          <a:bodyPr wrap="none" rtlCol="0">
            <a:spAutoFit/>
          </a:bodyPr>
          <a:lstStyle/>
          <a:p>
            <a:r>
              <a:rPr lang="en-US" sz="3200" dirty="0"/>
              <a:t>Text</a:t>
            </a:r>
          </a:p>
        </p:txBody>
      </p:sp>
      <p:sp>
        <p:nvSpPr>
          <p:cNvPr id="29" name="Rectangle 28" title="Links Tab"/>
          <p:cNvSpPr/>
          <p:nvPr/>
        </p:nvSpPr>
        <p:spPr>
          <a:xfrm>
            <a:off x="5638800" y="464457"/>
            <a:ext cx="657983"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title="Text Tab"/>
          <p:cNvSpPr/>
          <p:nvPr/>
        </p:nvSpPr>
        <p:spPr>
          <a:xfrm>
            <a:off x="6296783" y="464457"/>
            <a:ext cx="1856617"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5329388" y="5587425"/>
            <a:ext cx="1757212" cy="584775"/>
          </a:xfrm>
          <a:prstGeom prst="rect">
            <a:avLst/>
          </a:prstGeom>
          <a:noFill/>
        </p:spPr>
        <p:txBody>
          <a:bodyPr wrap="none" rtlCol="0">
            <a:spAutoFit/>
          </a:bodyPr>
          <a:lstStyle/>
          <a:p>
            <a:r>
              <a:rPr lang="en-US" sz="3200" dirty="0"/>
              <a:t>Symbols</a:t>
            </a:r>
          </a:p>
        </p:txBody>
      </p:sp>
      <p:sp>
        <p:nvSpPr>
          <p:cNvPr id="32" name="Rectangle 31" title="Symbols Tab"/>
          <p:cNvSpPr/>
          <p:nvPr/>
        </p:nvSpPr>
        <p:spPr>
          <a:xfrm>
            <a:off x="8153400" y="457200"/>
            <a:ext cx="8382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Insert Tab</a:t>
            </a:r>
          </a:p>
        </p:txBody>
      </p:sp>
    </p:spTree>
    <p:extLst>
      <p:ext uri="{BB962C8B-B14F-4D97-AF65-F5344CB8AC3E}">
        <p14:creationId xmlns:p14="http://schemas.microsoft.com/office/powerpoint/2010/main" val="33491080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21" presetClass="exit" presetSubtype="1" fill="hold" grpId="1" nodeType="withEffect">
                                  <p:stCondLst>
                                    <p:cond delay="0"/>
                                  </p:stCondLst>
                                  <p:childTnLst>
                                    <p:animEffect transition="out" filter="wheel(1)">
                                      <p:cBhvr>
                                        <p:cTn id="60" dur="2000"/>
                                        <p:tgtEl>
                                          <p:spTgt spid="24"/>
                                        </p:tgtEl>
                                      </p:cBhvr>
                                    </p:animEffect>
                                    <p:set>
                                      <p:cBhvr>
                                        <p:cTn id="61" dur="1" fill="hold">
                                          <p:stCondLst>
                                            <p:cond delay="1999"/>
                                          </p:stCondLst>
                                        </p:cTn>
                                        <p:tgtEl>
                                          <p:spTgt spid="24"/>
                                        </p:tgtEl>
                                        <p:attrNameLst>
                                          <p:attrName>style.visibility</p:attrName>
                                        </p:attrNameLst>
                                      </p:cBhvr>
                                      <p:to>
                                        <p:strVal val="hidden"/>
                                      </p:to>
                                    </p:set>
                                  </p:childTnLst>
                                </p:cTn>
                              </p:par>
                              <p:par>
                                <p:cTn id="62" presetID="21" presetClass="entr" presetSubtype="1"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heel(1)">
                                      <p:cBhvr>
                                        <p:cTn id="64" dur="20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1000"/>
                                        <p:tgtEl>
                                          <p:spTgt spid="26"/>
                                        </p:tgtEl>
                                      </p:cBhvr>
                                    </p:animEffect>
                                    <p:anim calcmode="lin" valueType="num">
                                      <p:cBhvr>
                                        <p:cTn id="70" dur="1000" fill="hold"/>
                                        <p:tgtEl>
                                          <p:spTgt spid="26"/>
                                        </p:tgtEl>
                                        <p:attrNameLst>
                                          <p:attrName>ppt_x</p:attrName>
                                        </p:attrNameLst>
                                      </p:cBhvr>
                                      <p:tavLst>
                                        <p:tav tm="0">
                                          <p:val>
                                            <p:strVal val="#ppt_x"/>
                                          </p:val>
                                        </p:tav>
                                        <p:tav tm="100000">
                                          <p:val>
                                            <p:strVal val="#ppt_x"/>
                                          </p:val>
                                        </p:tav>
                                      </p:tavLst>
                                    </p:anim>
                                    <p:anim calcmode="lin" valueType="num">
                                      <p:cBhvr>
                                        <p:cTn id="71" dur="1000" fill="hold"/>
                                        <p:tgtEl>
                                          <p:spTgt spid="26"/>
                                        </p:tgtEl>
                                        <p:attrNameLst>
                                          <p:attrName>ppt_y</p:attrName>
                                        </p:attrNameLst>
                                      </p:cBhvr>
                                      <p:tavLst>
                                        <p:tav tm="0">
                                          <p:val>
                                            <p:strVal val="#ppt_y+.1"/>
                                          </p:val>
                                        </p:tav>
                                        <p:tav tm="100000">
                                          <p:val>
                                            <p:strVal val="#ppt_y"/>
                                          </p:val>
                                        </p:tav>
                                      </p:tavLst>
                                    </p:anim>
                                  </p:childTnLst>
                                </p:cTn>
                              </p:par>
                              <p:par>
                                <p:cTn id="72" presetID="21" presetClass="exit" presetSubtype="1" fill="hold" grpId="1" nodeType="withEffect">
                                  <p:stCondLst>
                                    <p:cond delay="0"/>
                                  </p:stCondLst>
                                  <p:childTnLst>
                                    <p:animEffect transition="out" filter="wheel(1)">
                                      <p:cBhvr>
                                        <p:cTn id="73" dur="2000"/>
                                        <p:tgtEl>
                                          <p:spTgt spid="27"/>
                                        </p:tgtEl>
                                      </p:cBhvr>
                                    </p:animEffect>
                                    <p:set>
                                      <p:cBhvr>
                                        <p:cTn id="74" dur="1" fill="hold">
                                          <p:stCondLst>
                                            <p:cond delay="1999"/>
                                          </p:stCondLst>
                                        </p:cTn>
                                        <p:tgtEl>
                                          <p:spTgt spid="27"/>
                                        </p:tgtEl>
                                        <p:attrNameLst>
                                          <p:attrName>style.visibility</p:attrName>
                                        </p:attrNameLst>
                                      </p:cBhvr>
                                      <p:to>
                                        <p:strVal val="hidden"/>
                                      </p:to>
                                    </p:set>
                                  </p:childTnLst>
                                </p:cTn>
                              </p:par>
                              <p:par>
                                <p:cTn id="75" presetID="21" presetClass="entr" presetSubtype="1"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wheel(1)">
                                      <p:cBhvr>
                                        <p:cTn id="77" dur="2000"/>
                                        <p:tgtEl>
                                          <p:spTgt spid="29"/>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1000"/>
                                        <p:tgtEl>
                                          <p:spTgt spid="28"/>
                                        </p:tgtEl>
                                      </p:cBhvr>
                                    </p:animEffect>
                                    <p:anim calcmode="lin" valueType="num">
                                      <p:cBhvr>
                                        <p:cTn id="83" dur="1000" fill="hold"/>
                                        <p:tgtEl>
                                          <p:spTgt spid="28"/>
                                        </p:tgtEl>
                                        <p:attrNameLst>
                                          <p:attrName>ppt_x</p:attrName>
                                        </p:attrNameLst>
                                      </p:cBhvr>
                                      <p:tavLst>
                                        <p:tav tm="0">
                                          <p:val>
                                            <p:strVal val="#ppt_x"/>
                                          </p:val>
                                        </p:tav>
                                        <p:tav tm="100000">
                                          <p:val>
                                            <p:strVal val="#ppt_x"/>
                                          </p:val>
                                        </p:tav>
                                      </p:tavLst>
                                    </p:anim>
                                    <p:anim calcmode="lin" valueType="num">
                                      <p:cBhvr>
                                        <p:cTn id="84" dur="1000" fill="hold"/>
                                        <p:tgtEl>
                                          <p:spTgt spid="28"/>
                                        </p:tgtEl>
                                        <p:attrNameLst>
                                          <p:attrName>ppt_y</p:attrName>
                                        </p:attrNameLst>
                                      </p:cBhvr>
                                      <p:tavLst>
                                        <p:tav tm="0">
                                          <p:val>
                                            <p:strVal val="#ppt_y+.1"/>
                                          </p:val>
                                        </p:tav>
                                        <p:tav tm="100000">
                                          <p:val>
                                            <p:strVal val="#ppt_y"/>
                                          </p:val>
                                        </p:tav>
                                      </p:tavLst>
                                    </p:anim>
                                  </p:childTnLst>
                                </p:cTn>
                              </p:par>
                              <p:par>
                                <p:cTn id="85" presetID="21" presetClass="exit" presetSubtype="1" fill="hold" grpId="1" nodeType="withEffect">
                                  <p:stCondLst>
                                    <p:cond delay="0"/>
                                  </p:stCondLst>
                                  <p:childTnLst>
                                    <p:animEffect transition="out" filter="wheel(1)">
                                      <p:cBhvr>
                                        <p:cTn id="86" dur="2000"/>
                                        <p:tgtEl>
                                          <p:spTgt spid="29"/>
                                        </p:tgtEl>
                                      </p:cBhvr>
                                    </p:animEffect>
                                    <p:set>
                                      <p:cBhvr>
                                        <p:cTn id="87" dur="1" fill="hold">
                                          <p:stCondLst>
                                            <p:cond delay="1999"/>
                                          </p:stCondLst>
                                        </p:cTn>
                                        <p:tgtEl>
                                          <p:spTgt spid="29"/>
                                        </p:tgtEl>
                                        <p:attrNameLst>
                                          <p:attrName>style.visibility</p:attrName>
                                        </p:attrNameLst>
                                      </p:cBhvr>
                                      <p:to>
                                        <p:strVal val="hidden"/>
                                      </p:to>
                                    </p:set>
                                  </p:childTnLst>
                                </p:cTn>
                              </p:par>
                              <p:par>
                                <p:cTn id="88" presetID="21" presetClass="entr" presetSubtype="1"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wheel(1)">
                                      <p:cBhvr>
                                        <p:cTn id="90" dur="2000"/>
                                        <p:tgtEl>
                                          <p:spTgt spid="30"/>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1000"/>
                                        <p:tgtEl>
                                          <p:spTgt spid="31"/>
                                        </p:tgtEl>
                                      </p:cBhvr>
                                    </p:animEffect>
                                    <p:anim calcmode="lin" valueType="num">
                                      <p:cBhvr>
                                        <p:cTn id="96" dur="1000" fill="hold"/>
                                        <p:tgtEl>
                                          <p:spTgt spid="31"/>
                                        </p:tgtEl>
                                        <p:attrNameLst>
                                          <p:attrName>ppt_x</p:attrName>
                                        </p:attrNameLst>
                                      </p:cBhvr>
                                      <p:tavLst>
                                        <p:tav tm="0">
                                          <p:val>
                                            <p:strVal val="#ppt_x"/>
                                          </p:val>
                                        </p:tav>
                                        <p:tav tm="100000">
                                          <p:val>
                                            <p:strVal val="#ppt_x"/>
                                          </p:val>
                                        </p:tav>
                                      </p:tavLst>
                                    </p:anim>
                                    <p:anim calcmode="lin" valueType="num">
                                      <p:cBhvr>
                                        <p:cTn id="97" dur="1000" fill="hold"/>
                                        <p:tgtEl>
                                          <p:spTgt spid="31"/>
                                        </p:tgtEl>
                                        <p:attrNameLst>
                                          <p:attrName>ppt_y</p:attrName>
                                        </p:attrNameLst>
                                      </p:cBhvr>
                                      <p:tavLst>
                                        <p:tav tm="0">
                                          <p:val>
                                            <p:strVal val="#ppt_y+.1"/>
                                          </p:val>
                                        </p:tav>
                                        <p:tav tm="100000">
                                          <p:val>
                                            <p:strVal val="#ppt_y"/>
                                          </p:val>
                                        </p:tav>
                                      </p:tavLst>
                                    </p:anim>
                                  </p:childTnLst>
                                </p:cTn>
                              </p:par>
                              <p:par>
                                <p:cTn id="98" presetID="21" presetClass="exit" presetSubtype="1" fill="hold" grpId="1" nodeType="withEffect">
                                  <p:stCondLst>
                                    <p:cond delay="0"/>
                                  </p:stCondLst>
                                  <p:childTnLst>
                                    <p:animEffect transition="out" filter="wheel(1)">
                                      <p:cBhvr>
                                        <p:cTn id="99" dur="2000"/>
                                        <p:tgtEl>
                                          <p:spTgt spid="30"/>
                                        </p:tgtEl>
                                      </p:cBhvr>
                                    </p:animEffect>
                                    <p:set>
                                      <p:cBhvr>
                                        <p:cTn id="100" dur="1" fill="hold">
                                          <p:stCondLst>
                                            <p:cond delay="1999"/>
                                          </p:stCondLst>
                                        </p:cTn>
                                        <p:tgtEl>
                                          <p:spTgt spid="30"/>
                                        </p:tgtEl>
                                        <p:attrNameLst>
                                          <p:attrName>style.visibility</p:attrName>
                                        </p:attrNameLst>
                                      </p:cBhvr>
                                      <p:to>
                                        <p:strVal val="hidden"/>
                                      </p:to>
                                    </p:set>
                                  </p:childTnLst>
                                </p:cTn>
                              </p:par>
                              <p:par>
                                <p:cTn id="101" presetID="21" presetClass="entr" presetSubtype="1"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heel(1)">
                                      <p:cBhvr>
                                        <p:cTn id="103" dur="2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P spid="14" grpId="0" animBg="1"/>
      <p:bldP spid="14" grpId="1" animBg="1"/>
      <p:bldP spid="22" grpId="0" animBg="1"/>
      <p:bldP spid="22" grpId="1" animBg="1"/>
      <p:bldP spid="23" grpId="0" animBg="1"/>
      <p:bldP spid="23" grpId="1" animBg="1"/>
      <p:bldP spid="24" grpId="0" animBg="1"/>
      <p:bldP spid="24" grpId="1" animBg="1"/>
      <p:bldP spid="26" grpId="0"/>
      <p:bldP spid="27" grpId="0" animBg="1"/>
      <p:bldP spid="27" grpId="1" animBg="1"/>
      <p:bldP spid="28" grpId="0"/>
      <p:bldP spid="29" grpId="0" animBg="1"/>
      <p:bldP spid="29" grpId="1" animBg="1"/>
      <p:bldP spid="30" grpId="0" animBg="1"/>
      <p:bldP spid="30" grpId="1" animBg="1"/>
      <p:bldP spid="31" grpId="0"/>
      <p:bldP spid="3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ext Box 5"/>
          <p:cNvSpPr txBox="1">
            <a:spLocks noChangeArrowheads="1"/>
          </p:cNvSpPr>
          <p:nvPr/>
        </p:nvSpPr>
        <p:spPr bwMode="auto">
          <a:xfrm>
            <a:off x="152400" y="1539419"/>
            <a:ext cx="8915400" cy="47089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Page Layout </a:t>
            </a:r>
            <a:r>
              <a:rPr lang="en-US" sz="3200" dirty="0"/>
              <a:t>Groups contain the commands most commonly associated with settings that would affect the entire page or worksheet.</a:t>
            </a:r>
          </a:p>
          <a:p>
            <a:endParaRPr lang="en-US" sz="2400" dirty="0"/>
          </a:p>
          <a:p>
            <a:endParaRPr lang="en-US" sz="2400" dirty="0"/>
          </a:p>
          <a:p>
            <a:endParaRPr lang="en-US" sz="2400" dirty="0"/>
          </a:p>
          <a:p>
            <a:endParaRPr lang="en-US" sz="2400" dirty="0"/>
          </a:p>
          <a:p>
            <a:endParaRPr lang="en-US" sz="2400" dirty="0"/>
          </a:p>
          <a:p>
            <a:pPr algn="r"/>
            <a:endParaRPr lang="en-US" sz="2400" dirty="0"/>
          </a:p>
          <a:p>
            <a:pPr algn="r"/>
            <a:endParaRPr lang="en-US" sz="2400" dirty="0"/>
          </a:p>
        </p:txBody>
      </p:sp>
      <p:sp>
        <p:nvSpPr>
          <p:cNvPr id="15" name="TextBox 14"/>
          <p:cNvSpPr txBox="1"/>
          <p:nvPr/>
        </p:nvSpPr>
        <p:spPr>
          <a:xfrm>
            <a:off x="498928" y="3968308"/>
            <a:ext cx="1664238" cy="584775"/>
          </a:xfrm>
          <a:prstGeom prst="rect">
            <a:avLst/>
          </a:prstGeom>
          <a:noFill/>
        </p:spPr>
        <p:txBody>
          <a:bodyPr wrap="none" rtlCol="0">
            <a:spAutoFit/>
          </a:bodyPr>
          <a:lstStyle/>
          <a:p>
            <a:r>
              <a:rPr lang="en-US" sz="3200" dirty="0"/>
              <a:t>Themes</a:t>
            </a:r>
          </a:p>
        </p:txBody>
      </p:sp>
      <p:sp>
        <p:nvSpPr>
          <p:cNvPr id="16" name="TextBox 15"/>
          <p:cNvSpPr txBox="1"/>
          <p:nvPr/>
        </p:nvSpPr>
        <p:spPr>
          <a:xfrm>
            <a:off x="3926128" y="3987225"/>
            <a:ext cx="1255472" cy="1077218"/>
          </a:xfrm>
          <a:prstGeom prst="rect">
            <a:avLst/>
          </a:prstGeom>
          <a:noFill/>
        </p:spPr>
        <p:txBody>
          <a:bodyPr wrap="none" rtlCol="0">
            <a:spAutoFit/>
          </a:bodyPr>
          <a:lstStyle/>
          <a:p>
            <a:r>
              <a:rPr lang="en-US" sz="3200" dirty="0"/>
              <a:t>Page</a:t>
            </a:r>
          </a:p>
          <a:p>
            <a:r>
              <a:rPr lang="en-US" sz="3200" dirty="0"/>
              <a:t>Setup</a:t>
            </a:r>
          </a:p>
        </p:txBody>
      </p:sp>
      <p:sp>
        <p:nvSpPr>
          <p:cNvPr id="19" name="TextBox 18"/>
          <p:cNvSpPr txBox="1"/>
          <p:nvPr/>
        </p:nvSpPr>
        <p:spPr>
          <a:xfrm>
            <a:off x="6400800" y="3962400"/>
            <a:ext cx="2371162" cy="1077218"/>
          </a:xfrm>
          <a:prstGeom prst="rect">
            <a:avLst/>
          </a:prstGeom>
          <a:noFill/>
        </p:spPr>
        <p:txBody>
          <a:bodyPr wrap="none" rtlCol="0">
            <a:spAutoFit/>
          </a:bodyPr>
          <a:lstStyle/>
          <a:p>
            <a:pPr algn="ctr"/>
            <a:r>
              <a:rPr lang="en-US" sz="3200" dirty="0"/>
              <a:t>Page</a:t>
            </a:r>
          </a:p>
          <a:p>
            <a:pPr algn="ctr"/>
            <a:r>
              <a:rPr lang="en-US" sz="3200" dirty="0"/>
              <a:t>Background</a:t>
            </a:r>
          </a:p>
        </p:txBody>
      </p:sp>
      <p:sp>
        <p:nvSpPr>
          <p:cNvPr id="20" name="TextBox 19"/>
          <p:cNvSpPr txBox="1"/>
          <p:nvPr/>
        </p:nvSpPr>
        <p:spPr>
          <a:xfrm>
            <a:off x="1981200" y="5486400"/>
            <a:ext cx="2097049" cy="584775"/>
          </a:xfrm>
          <a:prstGeom prst="rect">
            <a:avLst/>
          </a:prstGeom>
          <a:noFill/>
        </p:spPr>
        <p:txBody>
          <a:bodyPr wrap="none" rtlCol="0">
            <a:spAutoFit/>
          </a:bodyPr>
          <a:lstStyle/>
          <a:p>
            <a:r>
              <a:rPr lang="en-US" sz="3200" dirty="0"/>
              <a:t>Paragraph</a:t>
            </a:r>
          </a:p>
        </p:txBody>
      </p:sp>
      <p:sp>
        <p:nvSpPr>
          <p:cNvPr id="21" name="TextBox 20"/>
          <p:cNvSpPr txBox="1"/>
          <p:nvPr/>
        </p:nvSpPr>
        <p:spPr>
          <a:xfrm>
            <a:off x="5214863" y="5486400"/>
            <a:ext cx="1641796" cy="584775"/>
          </a:xfrm>
          <a:prstGeom prst="rect">
            <a:avLst/>
          </a:prstGeom>
          <a:noFill/>
        </p:spPr>
        <p:txBody>
          <a:bodyPr wrap="none" rtlCol="0">
            <a:spAutoFit/>
          </a:bodyPr>
          <a:lstStyle/>
          <a:p>
            <a:r>
              <a:rPr lang="en-US" sz="3200" dirty="0"/>
              <a:t>Arrange</a:t>
            </a:r>
          </a:p>
        </p:txBody>
      </p:sp>
      <p:sp>
        <p:nvSpPr>
          <p:cNvPr id="14" name="Rectangle 13" title="THemes Tab"/>
          <p:cNvSpPr/>
          <p:nvPr/>
        </p:nvSpPr>
        <p:spPr>
          <a:xfrm>
            <a:off x="0" y="449943"/>
            <a:ext cx="1077946"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Page Setup Tab"/>
          <p:cNvSpPr/>
          <p:nvPr/>
        </p:nvSpPr>
        <p:spPr>
          <a:xfrm>
            <a:off x="1077946" y="449943"/>
            <a:ext cx="3113053"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Scale to Fit Tab"/>
          <p:cNvSpPr/>
          <p:nvPr/>
        </p:nvSpPr>
        <p:spPr>
          <a:xfrm>
            <a:off x="4191000" y="449943"/>
            <a:ext cx="1315364"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Sheet Order Tab"/>
          <p:cNvSpPr/>
          <p:nvPr/>
        </p:nvSpPr>
        <p:spPr>
          <a:xfrm>
            <a:off x="5486400" y="457200"/>
            <a:ext cx="12192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title="Arrange Tab"/>
          <p:cNvSpPr/>
          <p:nvPr/>
        </p:nvSpPr>
        <p:spPr>
          <a:xfrm>
            <a:off x="6705600" y="457200"/>
            <a:ext cx="16764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Page Layout Tab</a:t>
            </a:r>
          </a:p>
        </p:txBody>
      </p:sp>
    </p:spTree>
    <p:extLst>
      <p:ext uri="{BB962C8B-B14F-4D97-AF65-F5344CB8AC3E}">
        <p14:creationId xmlns:p14="http://schemas.microsoft.com/office/powerpoint/2010/main" val="9261168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21" presetClass="exit" presetSubtype="1" fill="hold" grpId="1" nodeType="withEffect">
                                  <p:stCondLst>
                                    <p:cond delay="0"/>
                                  </p:stCondLst>
                                  <p:childTnLst>
                                    <p:animEffect transition="out" filter="wheel(1)">
                                      <p:cBhvr>
                                        <p:cTn id="60" dur="2000"/>
                                        <p:tgtEl>
                                          <p:spTgt spid="24"/>
                                        </p:tgtEl>
                                      </p:cBhvr>
                                    </p:animEffect>
                                    <p:set>
                                      <p:cBhvr>
                                        <p:cTn id="61" dur="1" fill="hold">
                                          <p:stCondLst>
                                            <p:cond delay="1999"/>
                                          </p:stCondLst>
                                        </p:cTn>
                                        <p:tgtEl>
                                          <p:spTgt spid="24"/>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heel(1)">
                                      <p:cBhvr>
                                        <p:cTn id="66"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P spid="14" grpId="0" animBg="1"/>
      <p:bldP spid="14" grpId="1" animBg="1"/>
      <p:bldP spid="22" grpId="0" animBg="1"/>
      <p:bldP spid="22" grpId="1" animBg="1"/>
      <p:bldP spid="23" grpId="0" animBg="1"/>
      <p:bldP spid="23" grpId="1" animBg="1"/>
      <p:bldP spid="24" grpId="0" animBg="1"/>
      <p:bldP spid="24" grpId="1"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ext Box 5"/>
          <p:cNvSpPr txBox="1">
            <a:spLocks noChangeArrowheads="1"/>
          </p:cNvSpPr>
          <p:nvPr/>
        </p:nvSpPr>
        <p:spPr bwMode="auto">
          <a:xfrm>
            <a:off x="152400" y="1524000"/>
            <a:ext cx="8839200" cy="50167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Formulas </a:t>
            </a:r>
            <a:r>
              <a:rPr lang="en-US" sz="3200" dirty="0"/>
              <a:t>Groups contain the commands most commonly associated with Excel’s formulas and functions.</a:t>
            </a:r>
          </a:p>
          <a:p>
            <a:endParaRPr lang="en-US" sz="3200" dirty="0"/>
          </a:p>
          <a:p>
            <a:endParaRPr lang="en-US" sz="3200" dirty="0"/>
          </a:p>
          <a:p>
            <a:endParaRPr lang="en-US" sz="2400" dirty="0"/>
          </a:p>
          <a:p>
            <a:endParaRPr lang="en-US" sz="3200" dirty="0"/>
          </a:p>
          <a:p>
            <a:endParaRPr lang="en-US" sz="2400" dirty="0"/>
          </a:p>
          <a:p>
            <a:endParaRPr lang="en-US" sz="2400" dirty="0"/>
          </a:p>
          <a:p>
            <a:endParaRPr lang="en-US" sz="2400" dirty="0"/>
          </a:p>
          <a:p>
            <a:pPr algn="r"/>
            <a:endParaRPr lang="en-US" sz="2800" dirty="0"/>
          </a:p>
        </p:txBody>
      </p:sp>
      <p:sp>
        <p:nvSpPr>
          <p:cNvPr id="15" name="TextBox 14"/>
          <p:cNvSpPr txBox="1"/>
          <p:nvPr/>
        </p:nvSpPr>
        <p:spPr>
          <a:xfrm>
            <a:off x="911391" y="4180582"/>
            <a:ext cx="1755609" cy="1077218"/>
          </a:xfrm>
          <a:prstGeom prst="rect">
            <a:avLst/>
          </a:prstGeom>
          <a:noFill/>
        </p:spPr>
        <p:txBody>
          <a:bodyPr wrap="none" rtlCol="0">
            <a:spAutoFit/>
          </a:bodyPr>
          <a:lstStyle/>
          <a:p>
            <a:pPr algn="ctr"/>
            <a:r>
              <a:rPr lang="en-US" sz="3200" dirty="0"/>
              <a:t>Function</a:t>
            </a:r>
          </a:p>
          <a:p>
            <a:pPr algn="ctr"/>
            <a:r>
              <a:rPr lang="en-US" sz="3200" dirty="0"/>
              <a:t>Library</a:t>
            </a:r>
          </a:p>
        </p:txBody>
      </p:sp>
      <p:sp>
        <p:nvSpPr>
          <p:cNvPr id="16" name="TextBox 15"/>
          <p:cNvSpPr txBox="1"/>
          <p:nvPr/>
        </p:nvSpPr>
        <p:spPr>
          <a:xfrm>
            <a:off x="3737088" y="3834825"/>
            <a:ext cx="1596912" cy="1077218"/>
          </a:xfrm>
          <a:prstGeom prst="rect">
            <a:avLst/>
          </a:prstGeom>
          <a:noFill/>
        </p:spPr>
        <p:txBody>
          <a:bodyPr wrap="none" rtlCol="0">
            <a:spAutoFit/>
          </a:bodyPr>
          <a:lstStyle/>
          <a:p>
            <a:r>
              <a:rPr lang="en-US" sz="3200" dirty="0"/>
              <a:t>Defined</a:t>
            </a:r>
          </a:p>
          <a:p>
            <a:r>
              <a:rPr lang="en-US" sz="3200" dirty="0"/>
              <a:t>Names</a:t>
            </a:r>
          </a:p>
        </p:txBody>
      </p:sp>
      <p:sp>
        <p:nvSpPr>
          <p:cNvPr id="19" name="TextBox 18"/>
          <p:cNvSpPr txBox="1"/>
          <p:nvPr/>
        </p:nvSpPr>
        <p:spPr>
          <a:xfrm>
            <a:off x="6629400" y="4104382"/>
            <a:ext cx="1686679" cy="1077218"/>
          </a:xfrm>
          <a:prstGeom prst="rect">
            <a:avLst/>
          </a:prstGeom>
          <a:noFill/>
        </p:spPr>
        <p:txBody>
          <a:bodyPr wrap="none" rtlCol="0">
            <a:spAutoFit/>
          </a:bodyPr>
          <a:lstStyle/>
          <a:p>
            <a:pPr algn="ctr"/>
            <a:r>
              <a:rPr lang="en-US" sz="3200" dirty="0"/>
              <a:t>Formula</a:t>
            </a:r>
          </a:p>
          <a:p>
            <a:pPr algn="ctr"/>
            <a:r>
              <a:rPr lang="en-US" sz="3200" dirty="0"/>
              <a:t>Auditing</a:t>
            </a:r>
          </a:p>
        </p:txBody>
      </p:sp>
      <p:sp>
        <p:nvSpPr>
          <p:cNvPr id="20" name="TextBox 19"/>
          <p:cNvSpPr txBox="1"/>
          <p:nvPr/>
        </p:nvSpPr>
        <p:spPr>
          <a:xfrm>
            <a:off x="3429000" y="5323582"/>
            <a:ext cx="2212465" cy="584775"/>
          </a:xfrm>
          <a:prstGeom prst="rect">
            <a:avLst/>
          </a:prstGeom>
          <a:noFill/>
        </p:spPr>
        <p:txBody>
          <a:bodyPr wrap="none" rtlCol="0">
            <a:spAutoFit/>
          </a:bodyPr>
          <a:lstStyle/>
          <a:p>
            <a:r>
              <a:rPr lang="en-US" sz="3200" dirty="0"/>
              <a:t>Calculation</a:t>
            </a:r>
          </a:p>
        </p:txBody>
      </p:sp>
      <p:sp>
        <p:nvSpPr>
          <p:cNvPr id="14" name="Rectangle 13" title="Function Library Tab"/>
          <p:cNvSpPr/>
          <p:nvPr/>
        </p:nvSpPr>
        <p:spPr>
          <a:xfrm>
            <a:off x="-19706" y="424904"/>
            <a:ext cx="3601106" cy="8922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Defined Names Tab"/>
          <p:cNvSpPr/>
          <p:nvPr/>
        </p:nvSpPr>
        <p:spPr>
          <a:xfrm>
            <a:off x="3581400" y="424904"/>
            <a:ext cx="1752600" cy="8675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Formula Auditing Tab"/>
          <p:cNvSpPr/>
          <p:nvPr/>
        </p:nvSpPr>
        <p:spPr>
          <a:xfrm>
            <a:off x="5334000" y="424904"/>
            <a:ext cx="2667000" cy="8675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Calculation"/>
          <p:cNvSpPr/>
          <p:nvPr/>
        </p:nvSpPr>
        <p:spPr>
          <a:xfrm>
            <a:off x="8001000" y="424904"/>
            <a:ext cx="870372" cy="8675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Formulas Group</a:t>
            </a:r>
          </a:p>
        </p:txBody>
      </p:sp>
    </p:spTree>
    <p:extLst>
      <p:ext uri="{BB962C8B-B14F-4D97-AF65-F5344CB8AC3E}">
        <p14:creationId xmlns:p14="http://schemas.microsoft.com/office/powerpoint/2010/main" val="26737598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par>
                                <p:cTn id="52" presetID="21" presetClass="exit" presetSubtype="1" fill="hold" grpId="1" nodeType="withEffect">
                                  <p:stCondLst>
                                    <p:cond delay="0"/>
                                  </p:stCondLst>
                                  <p:childTnLst>
                                    <p:animEffect transition="out" filter="wheel(1)">
                                      <p:cBhvr>
                                        <p:cTn id="53" dur="2000"/>
                                        <p:tgtEl>
                                          <p:spTgt spid="24"/>
                                        </p:tgtEl>
                                      </p:cBhvr>
                                    </p:animEffect>
                                    <p:set>
                                      <p:cBhvr>
                                        <p:cTn id="54" dur="1" fill="hold">
                                          <p:stCondLst>
                                            <p:cond delay="19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14" grpId="0" animBg="1"/>
      <p:bldP spid="14" grpId="1" animBg="1"/>
      <p:bldP spid="22" grpId="0" animBg="1"/>
      <p:bldP spid="22" grpId="1" animBg="1"/>
      <p:bldP spid="23" grpId="0" animBg="1"/>
      <p:bldP spid="23" grpId="1" animBg="1"/>
      <p:bldP spid="24" grpId="0" animBg="1"/>
      <p:bldP spid="24"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7" name="Text Box 5"/>
          <p:cNvSpPr txBox="1">
            <a:spLocks noChangeArrowheads="1"/>
          </p:cNvSpPr>
          <p:nvPr/>
        </p:nvSpPr>
        <p:spPr bwMode="auto">
          <a:xfrm>
            <a:off x="152400" y="1524000"/>
            <a:ext cx="8839200" cy="464742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Data Tab</a:t>
            </a:r>
            <a:r>
              <a:rPr lang="en-US" sz="3200" dirty="0"/>
              <a:t> groups contain the commands most commonly associated with data from external sources, and evaluating or arranging data.</a:t>
            </a:r>
          </a:p>
          <a:p>
            <a:endParaRPr lang="en-US" sz="2400" dirty="0"/>
          </a:p>
          <a:p>
            <a:endParaRPr lang="en-US" sz="2400" dirty="0"/>
          </a:p>
          <a:p>
            <a:endParaRPr lang="en-US" sz="2400" dirty="0"/>
          </a:p>
          <a:p>
            <a:pPr algn="r"/>
            <a:endParaRPr lang="en-US" sz="2400" dirty="0"/>
          </a:p>
          <a:p>
            <a:pPr algn="r"/>
            <a:endParaRPr lang="en-US" sz="2400" dirty="0"/>
          </a:p>
          <a:p>
            <a:pPr algn="r"/>
            <a:endParaRPr lang="en-US" sz="2400" dirty="0"/>
          </a:p>
          <a:p>
            <a:pPr algn="r"/>
            <a:endParaRPr lang="en-US" sz="2000" dirty="0"/>
          </a:p>
        </p:txBody>
      </p:sp>
      <p:sp>
        <p:nvSpPr>
          <p:cNvPr id="15" name="TextBox 14"/>
          <p:cNvSpPr txBox="1"/>
          <p:nvPr/>
        </p:nvSpPr>
        <p:spPr>
          <a:xfrm>
            <a:off x="85420" y="3875782"/>
            <a:ext cx="2462533" cy="1077218"/>
          </a:xfrm>
          <a:prstGeom prst="rect">
            <a:avLst/>
          </a:prstGeom>
          <a:noFill/>
        </p:spPr>
        <p:txBody>
          <a:bodyPr wrap="none" rtlCol="0">
            <a:spAutoFit/>
          </a:bodyPr>
          <a:lstStyle/>
          <a:p>
            <a:pPr algn="ctr"/>
            <a:r>
              <a:rPr lang="en-US" sz="3200" dirty="0"/>
              <a:t>Get External</a:t>
            </a:r>
          </a:p>
          <a:p>
            <a:pPr algn="ctr"/>
            <a:r>
              <a:rPr lang="en-US" sz="3200" dirty="0"/>
              <a:t>Data</a:t>
            </a:r>
          </a:p>
        </p:txBody>
      </p:sp>
      <p:sp>
        <p:nvSpPr>
          <p:cNvPr id="16" name="TextBox 15"/>
          <p:cNvSpPr txBox="1"/>
          <p:nvPr/>
        </p:nvSpPr>
        <p:spPr>
          <a:xfrm>
            <a:off x="3074566" y="3865364"/>
            <a:ext cx="2462534" cy="584775"/>
          </a:xfrm>
          <a:prstGeom prst="rect">
            <a:avLst/>
          </a:prstGeom>
          <a:noFill/>
        </p:spPr>
        <p:txBody>
          <a:bodyPr wrap="none" rtlCol="0">
            <a:spAutoFit/>
          </a:bodyPr>
          <a:lstStyle/>
          <a:p>
            <a:pPr algn="ctr"/>
            <a:r>
              <a:rPr lang="en-US" sz="3200" dirty="0"/>
              <a:t>Connections</a:t>
            </a:r>
          </a:p>
        </p:txBody>
      </p:sp>
      <p:sp>
        <p:nvSpPr>
          <p:cNvPr id="19" name="TextBox 18"/>
          <p:cNvSpPr txBox="1"/>
          <p:nvPr/>
        </p:nvSpPr>
        <p:spPr>
          <a:xfrm>
            <a:off x="6446491" y="3875782"/>
            <a:ext cx="2348720" cy="584775"/>
          </a:xfrm>
          <a:prstGeom prst="rect">
            <a:avLst/>
          </a:prstGeom>
          <a:noFill/>
        </p:spPr>
        <p:txBody>
          <a:bodyPr wrap="none" rtlCol="0">
            <a:spAutoFit/>
          </a:bodyPr>
          <a:lstStyle/>
          <a:p>
            <a:pPr algn="ctr"/>
            <a:r>
              <a:rPr lang="en-US" sz="3200" dirty="0"/>
              <a:t>Sort &amp; Filter</a:t>
            </a:r>
          </a:p>
        </p:txBody>
      </p:sp>
      <p:sp>
        <p:nvSpPr>
          <p:cNvPr id="20" name="TextBox 19"/>
          <p:cNvSpPr txBox="1"/>
          <p:nvPr/>
        </p:nvSpPr>
        <p:spPr>
          <a:xfrm>
            <a:off x="1905000" y="5206425"/>
            <a:ext cx="2113079" cy="584775"/>
          </a:xfrm>
          <a:prstGeom prst="rect">
            <a:avLst/>
          </a:prstGeom>
          <a:noFill/>
        </p:spPr>
        <p:txBody>
          <a:bodyPr wrap="none" rtlCol="0">
            <a:spAutoFit/>
          </a:bodyPr>
          <a:lstStyle/>
          <a:p>
            <a:pPr algn="ctr"/>
            <a:r>
              <a:rPr lang="en-US" sz="3200" dirty="0"/>
              <a:t>Data Tools</a:t>
            </a:r>
          </a:p>
        </p:txBody>
      </p:sp>
      <p:sp>
        <p:nvSpPr>
          <p:cNvPr id="21" name="TextBox 20"/>
          <p:cNvSpPr txBox="1"/>
          <p:nvPr/>
        </p:nvSpPr>
        <p:spPr>
          <a:xfrm>
            <a:off x="5562600" y="5222557"/>
            <a:ext cx="1483098" cy="584775"/>
          </a:xfrm>
          <a:prstGeom prst="rect">
            <a:avLst/>
          </a:prstGeom>
          <a:noFill/>
        </p:spPr>
        <p:txBody>
          <a:bodyPr wrap="none" rtlCol="0">
            <a:spAutoFit/>
          </a:bodyPr>
          <a:lstStyle/>
          <a:p>
            <a:r>
              <a:rPr lang="en-US" sz="3200" dirty="0"/>
              <a:t>Outline</a:t>
            </a:r>
          </a:p>
        </p:txBody>
      </p:sp>
      <p:sp>
        <p:nvSpPr>
          <p:cNvPr id="14" name="Rectangle 13" title="Get External Data Tab"/>
          <p:cNvSpPr/>
          <p:nvPr/>
        </p:nvSpPr>
        <p:spPr>
          <a:xfrm>
            <a:off x="-19706" y="478971"/>
            <a:ext cx="2153305"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Connections Tab"/>
          <p:cNvSpPr/>
          <p:nvPr/>
        </p:nvSpPr>
        <p:spPr>
          <a:xfrm>
            <a:off x="2133600" y="478971"/>
            <a:ext cx="1292250"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Sort &amp; Filter Tab"/>
          <p:cNvSpPr/>
          <p:nvPr/>
        </p:nvSpPr>
        <p:spPr>
          <a:xfrm>
            <a:off x="3429000" y="471714"/>
            <a:ext cx="176784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Data Tools Tab"/>
          <p:cNvSpPr/>
          <p:nvPr/>
        </p:nvSpPr>
        <p:spPr>
          <a:xfrm>
            <a:off x="5181600" y="457200"/>
            <a:ext cx="2086482"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title="Outline Tab"/>
          <p:cNvSpPr/>
          <p:nvPr/>
        </p:nvSpPr>
        <p:spPr>
          <a:xfrm>
            <a:off x="7268082" y="455748"/>
            <a:ext cx="1682906"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Data Tab</a:t>
            </a:r>
          </a:p>
        </p:txBody>
      </p:sp>
    </p:spTree>
    <p:extLst>
      <p:ext uri="{BB962C8B-B14F-4D97-AF65-F5344CB8AC3E}">
        <p14:creationId xmlns:p14="http://schemas.microsoft.com/office/powerpoint/2010/main" val="9775150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21"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heel(1)">
                                      <p:cBhvr>
                                        <p:cTn id="61" dur="2000"/>
                                        <p:tgtEl>
                                          <p:spTgt spid="25"/>
                                        </p:tgtEl>
                                      </p:cBhvr>
                                    </p:animEffect>
                                  </p:childTnLst>
                                </p:cTn>
                              </p:par>
                              <p:par>
                                <p:cTn id="62" presetID="21" presetClass="exit" presetSubtype="1" fill="hold" grpId="1" nodeType="withEffect">
                                  <p:stCondLst>
                                    <p:cond delay="0"/>
                                  </p:stCondLst>
                                  <p:childTnLst>
                                    <p:animEffect transition="out" filter="wheel(1)">
                                      <p:cBhvr>
                                        <p:cTn id="63" dur="2000"/>
                                        <p:tgtEl>
                                          <p:spTgt spid="24"/>
                                        </p:tgtEl>
                                      </p:cBhvr>
                                    </p:animEffect>
                                    <p:set>
                                      <p:cBhvr>
                                        <p:cTn id="64" dur="1" fill="hold">
                                          <p:stCondLst>
                                            <p:cond delay="1999"/>
                                          </p:stCondLst>
                                        </p:cTn>
                                        <p:tgtEl>
                                          <p:spTgt spid="24"/>
                                        </p:tgtEl>
                                        <p:attrNameLst>
                                          <p:attrName>style.visibility</p:attrName>
                                        </p:attrNameLst>
                                      </p:cBhvr>
                                      <p:to>
                                        <p:strVal val="hidden"/>
                                      </p:to>
                                    </p:set>
                                  </p:childTnLst>
                                </p:cTn>
                              </p:par>
                              <p:par>
                                <p:cTn id="65" presetID="21" presetClass="exit" presetSubtype="1" fill="hold" grpId="1" nodeType="withEffect">
                                  <p:stCondLst>
                                    <p:cond delay="0"/>
                                  </p:stCondLst>
                                  <p:childTnLst>
                                    <p:animEffect transition="out" filter="wheel(1)">
                                      <p:cBhvr>
                                        <p:cTn id="66" dur="2000"/>
                                        <p:tgtEl>
                                          <p:spTgt spid="25"/>
                                        </p:tgtEl>
                                      </p:cBhvr>
                                    </p:animEffect>
                                    <p:set>
                                      <p:cBhvr>
                                        <p:cTn id="67" dur="1" fill="hold">
                                          <p:stCondLst>
                                            <p:cond delay="19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P spid="14" grpId="0" animBg="1"/>
      <p:bldP spid="14" grpId="1" animBg="1"/>
      <p:bldP spid="22" grpId="0" animBg="1"/>
      <p:bldP spid="22" grpId="1" animBg="1"/>
      <p:bldP spid="23" grpId="0" animBg="1"/>
      <p:bldP spid="23" grpId="1" animBg="1"/>
      <p:bldP spid="24" grpId="0" animBg="1"/>
      <p:bldP spid="24" grpId="1" animBg="1"/>
      <p:bldP spid="25" grpId="0" animBg="1"/>
      <p:bldP spid="25"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7999"/>
          </a:xfrm>
          <a:prstGeom prst="rect">
            <a:avLst/>
          </a:prstGeom>
        </p:spPr>
      </p:pic>
      <p:sp>
        <p:nvSpPr>
          <p:cNvPr id="30" name="Text Box 5"/>
          <p:cNvSpPr txBox="1">
            <a:spLocks noChangeArrowheads="1"/>
          </p:cNvSpPr>
          <p:nvPr/>
        </p:nvSpPr>
        <p:spPr bwMode="auto">
          <a:xfrm>
            <a:off x="228600" y="1706463"/>
            <a:ext cx="8839200" cy="47705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Review Tabs </a:t>
            </a:r>
            <a:r>
              <a:rPr lang="en-US" sz="3200" dirty="0"/>
              <a:t>groups contain the commands most commonly associated with the text portions of a spreadsheet and sharing changes.</a:t>
            </a:r>
            <a:endParaRPr lang="en-US" sz="2400" dirty="0"/>
          </a:p>
          <a:p>
            <a:endParaRPr lang="en-US" sz="2400" dirty="0"/>
          </a:p>
          <a:p>
            <a:endParaRPr lang="en-US" sz="2400" dirty="0"/>
          </a:p>
          <a:p>
            <a:pPr algn="r"/>
            <a:endParaRPr lang="en-US" sz="2400" dirty="0"/>
          </a:p>
          <a:p>
            <a:pPr algn="r"/>
            <a:endParaRPr lang="en-US" sz="2400" dirty="0"/>
          </a:p>
          <a:p>
            <a:pPr algn="r"/>
            <a:endParaRPr lang="en-US" sz="2400" dirty="0"/>
          </a:p>
          <a:p>
            <a:pPr algn="r"/>
            <a:endParaRPr lang="en-US" sz="2400" dirty="0"/>
          </a:p>
          <a:p>
            <a:pPr algn="r"/>
            <a:endParaRPr lang="en-US" sz="2800" dirty="0"/>
          </a:p>
        </p:txBody>
      </p:sp>
      <p:sp>
        <p:nvSpPr>
          <p:cNvPr id="15" name="TextBox 14"/>
          <p:cNvSpPr txBox="1"/>
          <p:nvPr/>
        </p:nvSpPr>
        <p:spPr>
          <a:xfrm>
            <a:off x="1524000" y="4139625"/>
            <a:ext cx="1710725" cy="584775"/>
          </a:xfrm>
          <a:prstGeom prst="rect">
            <a:avLst/>
          </a:prstGeom>
          <a:noFill/>
        </p:spPr>
        <p:txBody>
          <a:bodyPr wrap="none" rtlCol="0">
            <a:spAutoFit/>
          </a:bodyPr>
          <a:lstStyle/>
          <a:p>
            <a:r>
              <a:rPr lang="en-US" sz="3200" dirty="0"/>
              <a:t>Proofing</a:t>
            </a:r>
          </a:p>
        </p:txBody>
      </p:sp>
      <p:sp>
        <p:nvSpPr>
          <p:cNvPr id="16" name="TextBox 15"/>
          <p:cNvSpPr txBox="1"/>
          <p:nvPr/>
        </p:nvSpPr>
        <p:spPr>
          <a:xfrm>
            <a:off x="5995323" y="4139625"/>
            <a:ext cx="2005677" cy="584775"/>
          </a:xfrm>
          <a:prstGeom prst="rect">
            <a:avLst/>
          </a:prstGeom>
          <a:noFill/>
        </p:spPr>
        <p:txBody>
          <a:bodyPr wrap="none" rtlCol="0">
            <a:spAutoFit/>
          </a:bodyPr>
          <a:lstStyle/>
          <a:p>
            <a:r>
              <a:rPr lang="en-US" sz="3200" dirty="0"/>
              <a:t>Language</a:t>
            </a:r>
          </a:p>
        </p:txBody>
      </p:sp>
      <p:sp>
        <p:nvSpPr>
          <p:cNvPr id="19" name="TextBox 18"/>
          <p:cNvSpPr txBox="1"/>
          <p:nvPr/>
        </p:nvSpPr>
        <p:spPr>
          <a:xfrm>
            <a:off x="1524000" y="5117812"/>
            <a:ext cx="2165978" cy="584775"/>
          </a:xfrm>
          <a:prstGeom prst="rect">
            <a:avLst/>
          </a:prstGeom>
          <a:noFill/>
        </p:spPr>
        <p:txBody>
          <a:bodyPr wrap="none" rtlCol="0">
            <a:spAutoFit/>
          </a:bodyPr>
          <a:lstStyle/>
          <a:p>
            <a:r>
              <a:rPr lang="en-US" sz="3200" dirty="0"/>
              <a:t>Comments</a:t>
            </a:r>
          </a:p>
        </p:txBody>
      </p:sp>
      <p:sp>
        <p:nvSpPr>
          <p:cNvPr id="21" name="TextBox 20"/>
          <p:cNvSpPr txBox="1"/>
          <p:nvPr/>
        </p:nvSpPr>
        <p:spPr>
          <a:xfrm>
            <a:off x="5566862" y="5105400"/>
            <a:ext cx="1824538" cy="584775"/>
          </a:xfrm>
          <a:prstGeom prst="rect">
            <a:avLst/>
          </a:prstGeom>
          <a:noFill/>
        </p:spPr>
        <p:txBody>
          <a:bodyPr wrap="none" rtlCol="0">
            <a:spAutoFit/>
          </a:bodyPr>
          <a:lstStyle/>
          <a:p>
            <a:r>
              <a:rPr lang="en-US" sz="3200" dirty="0"/>
              <a:t>Changes</a:t>
            </a:r>
          </a:p>
        </p:txBody>
      </p:sp>
      <p:sp>
        <p:nvSpPr>
          <p:cNvPr id="14" name="Rectangle 13" title="Proofing Tab"/>
          <p:cNvSpPr/>
          <p:nvPr/>
        </p:nvSpPr>
        <p:spPr>
          <a:xfrm>
            <a:off x="-36286" y="457200"/>
            <a:ext cx="1484086"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Language Tab"/>
          <p:cNvSpPr/>
          <p:nvPr/>
        </p:nvSpPr>
        <p:spPr>
          <a:xfrm>
            <a:off x="1447800" y="464457"/>
            <a:ext cx="609600"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Comments Tab"/>
          <p:cNvSpPr/>
          <p:nvPr/>
        </p:nvSpPr>
        <p:spPr>
          <a:xfrm>
            <a:off x="1981200" y="457200"/>
            <a:ext cx="29718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Changes Tab"/>
          <p:cNvSpPr/>
          <p:nvPr/>
        </p:nvSpPr>
        <p:spPr>
          <a:xfrm>
            <a:off x="4953000" y="457200"/>
            <a:ext cx="301752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Reviews Tab</a:t>
            </a:r>
          </a:p>
        </p:txBody>
      </p:sp>
    </p:spTree>
    <p:extLst>
      <p:ext uri="{BB962C8B-B14F-4D97-AF65-F5344CB8AC3E}">
        <p14:creationId xmlns:p14="http://schemas.microsoft.com/office/powerpoint/2010/main" val="2244628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1000"/>
                                        <p:tgtEl>
                                          <p:spTgt spid="21"/>
                                        </p:tgtEl>
                                      </p:cBhvr>
                                    </p:animEffect>
                                    <p:anim calcmode="lin" valueType="num">
                                      <p:cBhvr>
                                        <p:cTn id="44" dur="1000" fill="hold"/>
                                        <p:tgtEl>
                                          <p:spTgt spid="21"/>
                                        </p:tgtEl>
                                        <p:attrNameLst>
                                          <p:attrName>ppt_x</p:attrName>
                                        </p:attrNameLst>
                                      </p:cBhvr>
                                      <p:tavLst>
                                        <p:tav tm="0">
                                          <p:val>
                                            <p:strVal val="#ppt_x"/>
                                          </p:val>
                                        </p:tav>
                                        <p:tav tm="100000">
                                          <p:val>
                                            <p:strVal val="#ppt_x"/>
                                          </p:val>
                                        </p:tav>
                                      </p:tavLst>
                                    </p:anim>
                                    <p:anim calcmode="lin" valueType="num">
                                      <p:cBhvr>
                                        <p:cTn id="45" dur="1000" fill="hold"/>
                                        <p:tgtEl>
                                          <p:spTgt spid="21"/>
                                        </p:tgtEl>
                                        <p:attrNameLst>
                                          <p:attrName>ppt_y</p:attrName>
                                        </p:attrNameLst>
                                      </p:cBhvr>
                                      <p:tavLst>
                                        <p:tav tm="0">
                                          <p:val>
                                            <p:strVal val="#ppt_y+.1"/>
                                          </p:val>
                                        </p:tav>
                                        <p:tav tm="100000">
                                          <p:val>
                                            <p:strVal val="#ppt_y"/>
                                          </p:val>
                                        </p:tav>
                                      </p:tavLst>
                                    </p:anim>
                                  </p:childTnLst>
                                </p:cTn>
                              </p:par>
                              <p:par>
                                <p:cTn id="46" presetID="21" presetClass="exit" presetSubtype="1" fill="hold" grpId="1" nodeType="withEffect">
                                  <p:stCondLst>
                                    <p:cond delay="0"/>
                                  </p:stCondLst>
                                  <p:childTnLst>
                                    <p:animEffect transition="out" filter="wheel(1)">
                                      <p:cBhvr>
                                        <p:cTn id="47" dur="2000"/>
                                        <p:tgtEl>
                                          <p:spTgt spid="23"/>
                                        </p:tgtEl>
                                      </p:cBhvr>
                                    </p:animEffect>
                                    <p:set>
                                      <p:cBhvr>
                                        <p:cTn id="48" dur="1" fill="hold">
                                          <p:stCondLst>
                                            <p:cond delay="1999"/>
                                          </p:stCondLst>
                                        </p:cTn>
                                        <p:tgtEl>
                                          <p:spTgt spid="23"/>
                                        </p:tgtEl>
                                        <p:attrNameLst>
                                          <p:attrName>style.visibility</p:attrName>
                                        </p:attrNameLst>
                                      </p:cBhvr>
                                      <p:to>
                                        <p:strVal val="hidden"/>
                                      </p:to>
                                    </p:set>
                                  </p:childTnLst>
                                </p:cTn>
                              </p:par>
                              <p:par>
                                <p:cTn id="49" presetID="21" presetClass="entr" presetSubtype="1"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heel(1)">
                                      <p:cBhvr>
                                        <p:cTn id="51"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1" grpId="0"/>
      <p:bldP spid="14" grpId="0" animBg="1"/>
      <p:bldP spid="14" grpId="1" animBg="1"/>
      <p:bldP spid="22" grpId="0" animBg="1"/>
      <p:bldP spid="22" grpId="1" animBg="1"/>
      <p:bldP spid="23" grpId="0" animBg="1"/>
      <p:bldP spid="23" grpId="1" animBg="1"/>
      <p:bldP spid="2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title="Screensho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7999"/>
          </a:xfrm>
          <a:prstGeom prst="rect">
            <a:avLst/>
          </a:prstGeom>
        </p:spPr>
      </p:pic>
      <p:sp>
        <p:nvSpPr>
          <p:cNvPr id="18" name="Text Box 5"/>
          <p:cNvSpPr txBox="1">
            <a:spLocks noChangeArrowheads="1"/>
          </p:cNvSpPr>
          <p:nvPr/>
        </p:nvSpPr>
        <p:spPr bwMode="auto">
          <a:xfrm>
            <a:off x="304800" y="1784152"/>
            <a:ext cx="8610600" cy="46166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3200" dirty="0"/>
              <a:t>The </a:t>
            </a:r>
            <a:r>
              <a:rPr lang="en-US" sz="3600" b="1" dirty="0"/>
              <a:t>View Tab </a:t>
            </a:r>
            <a:r>
              <a:rPr lang="en-US" sz="3200" dirty="0"/>
              <a:t>groups contain the commands most commonly associated with the variety of ways you can “look at” a worksheet or workbook.</a:t>
            </a:r>
          </a:p>
          <a:p>
            <a:endParaRPr lang="en-US" sz="3200" dirty="0"/>
          </a:p>
          <a:p>
            <a:endParaRPr lang="en-US" sz="2400" dirty="0"/>
          </a:p>
          <a:p>
            <a:endParaRPr lang="en-US" sz="3200" dirty="0"/>
          </a:p>
          <a:p>
            <a:endParaRPr lang="en-US" sz="2400" dirty="0"/>
          </a:p>
          <a:p>
            <a:endParaRPr lang="en-US" sz="1200" dirty="0"/>
          </a:p>
          <a:p>
            <a:endParaRPr lang="en-US" sz="2400" dirty="0"/>
          </a:p>
          <a:p>
            <a:pPr algn="r"/>
            <a:endParaRPr lang="en-US" sz="1200" dirty="0"/>
          </a:p>
        </p:txBody>
      </p:sp>
      <p:sp>
        <p:nvSpPr>
          <p:cNvPr id="15" name="TextBox 14"/>
          <p:cNvSpPr txBox="1"/>
          <p:nvPr/>
        </p:nvSpPr>
        <p:spPr>
          <a:xfrm>
            <a:off x="513869" y="4180582"/>
            <a:ext cx="2022285" cy="1077218"/>
          </a:xfrm>
          <a:prstGeom prst="rect">
            <a:avLst/>
          </a:prstGeom>
          <a:noFill/>
        </p:spPr>
        <p:txBody>
          <a:bodyPr wrap="none" rtlCol="0">
            <a:spAutoFit/>
          </a:bodyPr>
          <a:lstStyle/>
          <a:p>
            <a:pPr algn="ctr"/>
            <a:r>
              <a:rPr lang="en-US" sz="3200" dirty="0"/>
              <a:t>Workbook</a:t>
            </a:r>
          </a:p>
          <a:p>
            <a:pPr algn="ctr"/>
            <a:r>
              <a:rPr lang="en-US" sz="3200" dirty="0"/>
              <a:t>Views</a:t>
            </a:r>
          </a:p>
        </p:txBody>
      </p:sp>
      <p:sp>
        <p:nvSpPr>
          <p:cNvPr id="16" name="TextBox 15"/>
          <p:cNvSpPr txBox="1"/>
          <p:nvPr/>
        </p:nvSpPr>
        <p:spPr>
          <a:xfrm>
            <a:off x="3971012" y="3834825"/>
            <a:ext cx="1210588" cy="584775"/>
          </a:xfrm>
          <a:prstGeom prst="rect">
            <a:avLst/>
          </a:prstGeom>
          <a:noFill/>
        </p:spPr>
        <p:txBody>
          <a:bodyPr wrap="none" rtlCol="0">
            <a:spAutoFit/>
          </a:bodyPr>
          <a:lstStyle/>
          <a:p>
            <a:r>
              <a:rPr lang="en-US" sz="3200" dirty="0"/>
              <a:t>Show</a:t>
            </a:r>
          </a:p>
        </p:txBody>
      </p:sp>
      <p:sp>
        <p:nvSpPr>
          <p:cNvPr id="19" name="TextBox 18"/>
          <p:cNvSpPr txBox="1"/>
          <p:nvPr/>
        </p:nvSpPr>
        <p:spPr>
          <a:xfrm>
            <a:off x="7467600" y="4139625"/>
            <a:ext cx="1231427" cy="584775"/>
          </a:xfrm>
          <a:prstGeom prst="rect">
            <a:avLst/>
          </a:prstGeom>
          <a:noFill/>
        </p:spPr>
        <p:txBody>
          <a:bodyPr wrap="none" rtlCol="0">
            <a:spAutoFit/>
          </a:bodyPr>
          <a:lstStyle/>
          <a:p>
            <a:r>
              <a:rPr lang="en-US" sz="3200" dirty="0"/>
              <a:t>Zoom</a:t>
            </a:r>
          </a:p>
        </p:txBody>
      </p:sp>
      <p:sp>
        <p:nvSpPr>
          <p:cNvPr id="20" name="TextBox 19"/>
          <p:cNvSpPr txBox="1"/>
          <p:nvPr/>
        </p:nvSpPr>
        <p:spPr>
          <a:xfrm>
            <a:off x="2623801" y="5282625"/>
            <a:ext cx="1643399" cy="584775"/>
          </a:xfrm>
          <a:prstGeom prst="rect">
            <a:avLst/>
          </a:prstGeom>
          <a:noFill/>
        </p:spPr>
        <p:txBody>
          <a:bodyPr wrap="none" rtlCol="0">
            <a:spAutoFit/>
          </a:bodyPr>
          <a:lstStyle/>
          <a:p>
            <a:r>
              <a:rPr lang="en-US" sz="3200" dirty="0"/>
              <a:t>Window</a:t>
            </a:r>
          </a:p>
        </p:txBody>
      </p:sp>
      <p:sp>
        <p:nvSpPr>
          <p:cNvPr id="21" name="TextBox 20"/>
          <p:cNvSpPr txBox="1"/>
          <p:nvPr/>
        </p:nvSpPr>
        <p:spPr>
          <a:xfrm>
            <a:off x="5334000" y="5282625"/>
            <a:ext cx="1527982" cy="584775"/>
          </a:xfrm>
          <a:prstGeom prst="rect">
            <a:avLst/>
          </a:prstGeom>
          <a:noFill/>
        </p:spPr>
        <p:txBody>
          <a:bodyPr wrap="none" rtlCol="0">
            <a:spAutoFit/>
          </a:bodyPr>
          <a:lstStyle/>
          <a:p>
            <a:r>
              <a:rPr lang="en-US" sz="3200" dirty="0"/>
              <a:t>Macros</a:t>
            </a:r>
          </a:p>
        </p:txBody>
      </p:sp>
      <p:sp>
        <p:nvSpPr>
          <p:cNvPr id="14" name="Rectangle 13" title="Workbook Views Tab"/>
          <p:cNvSpPr/>
          <p:nvPr/>
        </p:nvSpPr>
        <p:spPr>
          <a:xfrm>
            <a:off x="-36286" y="457200"/>
            <a:ext cx="1941286"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title="Show Tab"/>
          <p:cNvSpPr/>
          <p:nvPr/>
        </p:nvSpPr>
        <p:spPr>
          <a:xfrm>
            <a:off x="1905000" y="464457"/>
            <a:ext cx="1600200" cy="8309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title="Zoom Tab"/>
          <p:cNvSpPr/>
          <p:nvPr/>
        </p:nvSpPr>
        <p:spPr>
          <a:xfrm>
            <a:off x="3505200" y="457200"/>
            <a:ext cx="12954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title="Window Tab"/>
          <p:cNvSpPr/>
          <p:nvPr/>
        </p:nvSpPr>
        <p:spPr>
          <a:xfrm>
            <a:off x="4800600" y="457200"/>
            <a:ext cx="300005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title="Macros Tab"/>
          <p:cNvSpPr/>
          <p:nvPr/>
        </p:nvSpPr>
        <p:spPr>
          <a:xfrm>
            <a:off x="7800650" y="457200"/>
            <a:ext cx="50515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hidden="1"/>
          <p:cNvSpPr>
            <a:spLocks noGrp="1"/>
          </p:cNvSpPr>
          <p:nvPr>
            <p:ph type="title" idx="4294967295"/>
          </p:nvPr>
        </p:nvSpPr>
        <p:spPr/>
        <p:txBody>
          <a:bodyPr/>
          <a:lstStyle/>
          <a:p>
            <a:r>
              <a:rPr lang="en-US" dirty="0"/>
              <a:t>View Tab</a:t>
            </a:r>
          </a:p>
        </p:txBody>
      </p:sp>
    </p:spTree>
    <p:extLst>
      <p:ext uri="{BB962C8B-B14F-4D97-AF65-F5344CB8AC3E}">
        <p14:creationId xmlns:p14="http://schemas.microsoft.com/office/powerpoint/2010/main" val="392691661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21" presetClass="entr" presetSubtype="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21" presetClass="entr" presetSubtype="1"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heel(1)">
                                      <p:cBhvr>
                                        <p:cTn id="22" dur="2000"/>
                                        <p:tgtEl>
                                          <p:spTgt spid="22"/>
                                        </p:tgtEl>
                                      </p:cBhvr>
                                    </p:animEffect>
                                  </p:childTnLst>
                                </p:cTn>
                              </p:par>
                              <p:par>
                                <p:cTn id="23" presetID="21" presetClass="exit" presetSubtype="1" fill="hold" grpId="1" nodeType="withEffect">
                                  <p:stCondLst>
                                    <p:cond delay="0"/>
                                  </p:stCondLst>
                                  <p:childTnLst>
                                    <p:animEffect transition="out" filter="wheel(1)">
                                      <p:cBhvr>
                                        <p:cTn id="24" dur="2000"/>
                                        <p:tgtEl>
                                          <p:spTgt spid="14"/>
                                        </p:tgtEl>
                                      </p:cBhvr>
                                    </p:animEffect>
                                    <p:set>
                                      <p:cBhvr>
                                        <p:cTn id="25" dur="1" fill="hold">
                                          <p:stCondLst>
                                            <p:cond delay="1999"/>
                                          </p:stCondLst>
                                        </p:cTn>
                                        <p:tgtEl>
                                          <p:spTgt spid="14"/>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1000"/>
                                        <p:tgtEl>
                                          <p:spTgt spid="19"/>
                                        </p:tgtEl>
                                      </p:cBhvr>
                                    </p:animEffect>
                                    <p:anim calcmode="lin" valueType="num">
                                      <p:cBhvr>
                                        <p:cTn id="31" dur="1000" fill="hold"/>
                                        <p:tgtEl>
                                          <p:spTgt spid="19"/>
                                        </p:tgtEl>
                                        <p:attrNameLst>
                                          <p:attrName>ppt_x</p:attrName>
                                        </p:attrNameLst>
                                      </p:cBhvr>
                                      <p:tavLst>
                                        <p:tav tm="0">
                                          <p:val>
                                            <p:strVal val="#ppt_x"/>
                                          </p:val>
                                        </p:tav>
                                        <p:tav tm="100000">
                                          <p:val>
                                            <p:strVal val="#ppt_x"/>
                                          </p:val>
                                        </p:tav>
                                      </p:tavLst>
                                    </p:anim>
                                    <p:anim calcmode="lin" valueType="num">
                                      <p:cBhvr>
                                        <p:cTn id="32" dur="1000" fill="hold"/>
                                        <p:tgtEl>
                                          <p:spTgt spid="19"/>
                                        </p:tgtEl>
                                        <p:attrNameLst>
                                          <p:attrName>ppt_y</p:attrName>
                                        </p:attrNameLst>
                                      </p:cBhvr>
                                      <p:tavLst>
                                        <p:tav tm="0">
                                          <p:val>
                                            <p:strVal val="#ppt_y+.1"/>
                                          </p:val>
                                        </p:tav>
                                        <p:tav tm="100000">
                                          <p:val>
                                            <p:strVal val="#ppt_y"/>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heel(1)">
                                      <p:cBhvr>
                                        <p:cTn id="35" dur="2000"/>
                                        <p:tgtEl>
                                          <p:spTgt spid="23"/>
                                        </p:tgtEl>
                                      </p:cBhvr>
                                    </p:animEffect>
                                  </p:childTnLst>
                                </p:cTn>
                              </p:par>
                              <p:par>
                                <p:cTn id="36" presetID="21" presetClass="exit" presetSubtype="1" fill="hold" grpId="1" nodeType="withEffect">
                                  <p:stCondLst>
                                    <p:cond delay="0"/>
                                  </p:stCondLst>
                                  <p:childTnLst>
                                    <p:animEffect transition="out" filter="wheel(1)">
                                      <p:cBhvr>
                                        <p:cTn id="37" dur="2000"/>
                                        <p:tgtEl>
                                          <p:spTgt spid="22"/>
                                        </p:tgtEl>
                                      </p:cBhvr>
                                    </p:animEffect>
                                    <p:set>
                                      <p:cBhvr>
                                        <p:cTn id="38" dur="1" fill="hold">
                                          <p:stCondLst>
                                            <p:cond delay="19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1000"/>
                                        <p:tgtEl>
                                          <p:spTgt spid="20"/>
                                        </p:tgtEl>
                                      </p:cBhvr>
                                    </p:animEffect>
                                    <p:anim calcmode="lin" valueType="num">
                                      <p:cBhvr>
                                        <p:cTn id="44" dur="1000" fill="hold"/>
                                        <p:tgtEl>
                                          <p:spTgt spid="20"/>
                                        </p:tgtEl>
                                        <p:attrNameLst>
                                          <p:attrName>ppt_x</p:attrName>
                                        </p:attrNameLst>
                                      </p:cBhvr>
                                      <p:tavLst>
                                        <p:tav tm="0">
                                          <p:val>
                                            <p:strVal val="#ppt_x"/>
                                          </p:val>
                                        </p:tav>
                                        <p:tav tm="100000">
                                          <p:val>
                                            <p:strVal val="#ppt_x"/>
                                          </p:val>
                                        </p:tav>
                                      </p:tavLst>
                                    </p:anim>
                                    <p:anim calcmode="lin" valueType="num">
                                      <p:cBhvr>
                                        <p:cTn id="45" dur="1000" fill="hold"/>
                                        <p:tgtEl>
                                          <p:spTgt spid="20"/>
                                        </p:tgtEl>
                                        <p:attrNameLst>
                                          <p:attrName>ppt_y</p:attrName>
                                        </p:attrNameLst>
                                      </p:cBhvr>
                                      <p:tavLst>
                                        <p:tav tm="0">
                                          <p:val>
                                            <p:strVal val="#ppt_y+.1"/>
                                          </p:val>
                                        </p:tav>
                                        <p:tav tm="100000">
                                          <p:val>
                                            <p:strVal val="#ppt_y"/>
                                          </p:val>
                                        </p:tav>
                                      </p:tavLst>
                                    </p:anim>
                                  </p:childTnLst>
                                </p:cTn>
                              </p:par>
                              <p:par>
                                <p:cTn id="46" presetID="21" presetClass="entr" presetSubtype="1"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heel(1)">
                                      <p:cBhvr>
                                        <p:cTn id="48" dur="2000"/>
                                        <p:tgtEl>
                                          <p:spTgt spid="24"/>
                                        </p:tgtEl>
                                      </p:cBhvr>
                                    </p:animEffect>
                                  </p:childTnLst>
                                </p:cTn>
                              </p:par>
                              <p:par>
                                <p:cTn id="49" presetID="21" presetClass="exit" presetSubtype="1" fill="hold" grpId="1" nodeType="withEffect">
                                  <p:stCondLst>
                                    <p:cond delay="0"/>
                                  </p:stCondLst>
                                  <p:childTnLst>
                                    <p:animEffect transition="out" filter="wheel(1)">
                                      <p:cBhvr>
                                        <p:cTn id="50" dur="2000"/>
                                        <p:tgtEl>
                                          <p:spTgt spid="23"/>
                                        </p:tgtEl>
                                      </p:cBhvr>
                                    </p:animEffect>
                                    <p:set>
                                      <p:cBhvr>
                                        <p:cTn id="51" dur="1" fill="hold">
                                          <p:stCondLst>
                                            <p:cond delay="1999"/>
                                          </p:stCondLst>
                                        </p:cTn>
                                        <p:tgtEl>
                                          <p:spTgt spid="2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21" presetClass="entr" presetSubtype="1"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heel(1)">
                                      <p:cBhvr>
                                        <p:cTn id="61" dur="2000"/>
                                        <p:tgtEl>
                                          <p:spTgt spid="25"/>
                                        </p:tgtEl>
                                      </p:cBhvr>
                                    </p:animEffect>
                                  </p:childTnLst>
                                </p:cTn>
                              </p:par>
                              <p:par>
                                <p:cTn id="62" presetID="21" presetClass="exit" presetSubtype="1" fill="hold" grpId="1" nodeType="withEffect">
                                  <p:stCondLst>
                                    <p:cond delay="0"/>
                                  </p:stCondLst>
                                  <p:childTnLst>
                                    <p:animEffect transition="out" filter="wheel(1)">
                                      <p:cBhvr>
                                        <p:cTn id="63" dur="2000"/>
                                        <p:tgtEl>
                                          <p:spTgt spid="24"/>
                                        </p:tgtEl>
                                      </p:cBhvr>
                                    </p:animEffect>
                                    <p:set>
                                      <p:cBhvr>
                                        <p:cTn id="64" dur="1" fill="hold">
                                          <p:stCondLst>
                                            <p:cond delay="1999"/>
                                          </p:stCondLst>
                                        </p:cTn>
                                        <p:tgtEl>
                                          <p:spTgt spid="24"/>
                                        </p:tgtEl>
                                        <p:attrNameLst>
                                          <p:attrName>style.visibility</p:attrName>
                                        </p:attrNameLst>
                                      </p:cBhvr>
                                      <p:to>
                                        <p:strVal val="hidden"/>
                                      </p:to>
                                    </p:set>
                                  </p:childTnLst>
                                </p:cTn>
                              </p:par>
                              <p:par>
                                <p:cTn id="65" presetID="21" presetClass="exit" presetSubtype="1" fill="hold" grpId="1" nodeType="withEffect">
                                  <p:stCondLst>
                                    <p:cond delay="0"/>
                                  </p:stCondLst>
                                  <p:childTnLst>
                                    <p:animEffect transition="out" filter="wheel(1)">
                                      <p:cBhvr>
                                        <p:cTn id="66" dur="2000"/>
                                        <p:tgtEl>
                                          <p:spTgt spid="25"/>
                                        </p:tgtEl>
                                      </p:cBhvr>
                                    </p:animEffect>
                                    <p:set>
                                      <p:cBhvr>
                                        <p:cTn id="67" dur="1" fill="hold">
                                          <p:stCondLst>
                                            <p:cond delay="19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1" grpId="0"/>
      <p:bldP spid="14" grpId="0" animBg="1"/>
      <p:bldP spid="14" grpId="1" animBg="1"/>
      <p:bldP spid="22" grpId="0" animBg="1"/>
      <p:bldP spid="22" grpId="1" animBg="1"/>
      <p:bldP spid="23" grpId="0" animBg="1"/>
      <p:bldP spid="23" grpId="1" animBg="1"/>
      <p:bldP spid="24" grpId="0" animBg="1"/>
      <p:bldP spid="24" grpId="1" animBg="1"/>
      <p:bldP spid="25" grpId="0" animBg="1"/>
      <p:bldP spid="25" grpId="1" animBg="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1475</TotalTime>
  <Words>868</Words>
  <Application>Microsoft Office PowerPoint</Application>
  <PresentationFormat>On-screen Show (4:3)</PresentationFormat>
  <Paragraphs>210</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Arial Rounded MT Bold</vt:lpstr>
      <vt:lpstr>Calibri</vt:lpstr>
      <vt:lpstr>Default Design</vt:lpstr>
      <vt:lpstr>5.2 Microsoft Excel</vt:lpstr>
      <vt:lpstr>Microsoft Excel…</vt:lpstr>
      <vt:lpstr>Objectives</vt:lpstr>
      <vt:lpstr>Objectives</vt:lpstr>
      <vt:lpstr>Objectives</vt:lpstr>
      <vt:lpstr>Objectives</vt:lpstr>
      <vt:lpstr>Screen Components</vt:lpstr>
      <vt:lpstr>Terminology</vt:lpstr>
      <vt:lpstr>Diagram</vt:lpstr>
      <vt:lpstr>Title Bar</vt:lpstr>
      <vt:lpstr>Window Control</vt:lpstr>
      <vt:lpstr>Window Control Buttons</vt:lpstr>
      <vt:lpstr>Minimize</vt:lpstr>
      <vt:lpstr>Task Bar</vt:lpstr>
      <vt:lpstr>Multiple Files</vt:lpstr>
      <vt:lpstr>Restore</vt:lpstr>
      <vt:lpstr>Close</vt:lpstr>
      <vt:lpstr>Quick Access Toolbar</vt:lpstr>
      <vt:lpstr>Ribbon Interface</vt:lpstr>
      <vt:lpstr>Ribbon Groups</vt:lpstr>
      <vt:lpstr>Tab Menu</vt:lpstr>
      <vt:lpstr>Worksheet</vt:lpstr>
      <vt:lpstr>Columns and Rows</vt:lpstr>
      <vt:lpstr>File Tab Menu</vt:lpstr>
      <vt:lpstr>Home Tab</vt:lpstr>
      <vt:lpstr>Insert Tab</vt:lpstr>
      <vt:lpstr>Page Layout Tab</vt:lpstr>
      <vt:lpstr>Formulas Group</vt:lpstr>
      <vt:lpstr>Data Tab</vt:lpstr>
      <vt:lpstr>Reviews Tab</vt:lpstr>
      <vt:lpstr>View Tab</vt:lpstr>
    </vt:vector>
  </TitlesOfParts>
  <Company>Home Base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Preferred Customer</dc:creator>
  <cp:lastModifiedBy>paul nyarotso</cp:lastModifiedBy>
  <cp:revision>138</cp:revision>
  <dcterms:created xsi:type="dcterms:W3CDTF">2006-08-02T18:25:36Z</dcterms:created>
  <dcterms:modified xsi:type="dcterms:W3CDTF">2026-01-22T17:30:57Z</dcterms:modified>
</cp:coreProperties>
</file>