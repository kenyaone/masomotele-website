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1.jpg" ContentType="image/jp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21.jpg" ContentType="image/jpg"/>
  <Override PartName="/ppt/notesSlides/notesSlide8.xml" ContentType="application/vnd.openxmlformats-officedocument.presentationml.notesSlide+xml"/>
  <Override PartName="/ppt/media/image27.jpg" ContentType="image/jpg"/>
  <Override PartName="/ppt/media/image28.jpg" ContentType="image/jpg"/>
  <Override PartName="/ppt/media/image29.jpg" ContentType="image/jpg"/>
  <Override PartName="/ppt/media/image30.jpg" ContentType="image/jp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media/image35.jpg" ContentType="image/jpg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notesSlides/notesSlide13.xml" ContentType="application/vnd.openxmlformats-officedocument.presentationml.notesSlide+xml"/>
  <Override PartName="/ppt/media/image40.jpg" ContentType="image/jpg"/>
  <Override PartName="/ppt/media/image41.jpg" ContentType="image/jp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media/image51.jpg" ContentType="image/jpg"/>
  <Override PartName="/ppt/notesSlides/notesSlide17.xml" ContentType="application/vnd.openxmlformats-officedocument.presentationml.notesSlide+xml"/>
  <Override PartName="/ppt/media/image52.jpg" ContentType="image/jpg"/>
  <Override PartName="/ppt/media/image53.jpg" ContentType="image/jpg"/>
  <Override PartName="/ppt/media/image54.jpg" ContentType="image/jpg"/>
  <Override PartName="/ppt/media/image55.jpg" ContentType="image/jpg"/>
  <Override PartName="/ppt/notesSlides/notesSlide18.xml" ContentType="application/vnd.openxmlformats-officedocument.presentationml.notesSlide+xml"/>
  <Override PartName="/ppt/media/image60.jpg" ContentType="image/jpg"/>
  <Override PartName="/ppt/media/image61.jpg" ContentType="image/jpg"/>
  <Override PartName="/ppt/media/image62.jpg" ContentType="image/jpg"/>
  <Override PartName="/ppt/media/image63.jpg" ContentType="image/jpg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media/image65.jpg" ContentType="image/jpg"/>
  <Override PartName="/ppt/media/image66.jpg" ContentType="image/jpg"/>
  <Override PartName="/ppt/media/image67.jpg" ContentType="image/jpg"/>
  <Override PartName="/ppt/media/image68.jpg" ContentType="image/jpg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85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223660"/>
      </p:ext>
    </p:extLst>
  </p:cSld>
  <p:clrMapOvr>
    <a:masterClrMapping/>
  </p:clrMapOvr>
  <p:transition spd="slow">
    <p:push dir="u"/>
    <p:sndAc>
      <p:stSnd>
        <p:snd r:embed="rId1" name="bomb.wav"/>
      </p:stSnd>
    </p:sndAc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175121"/>
      </p:ext>
    </p:extLst>
  </p:cSld>
  <p:clrMapOvr>
    <a:masterClrMapping/>
  </p:clrMapOvr>
  <p:transition spd="slow">
    <p:push dir="u"/>
    <p:sndAc>
      <p:stSnd>
        <p:snd r:embed="rId1" name="bomb.wav"/>
      </p:stSnd>
    </p:sndAc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570986"/>
      </p:ext>
    </p:extLst>
  </p:cSld>
  <p:clrMapOvr>
    <a:masterClrMapping/>
  </p:clrMapOvr>
  <p:transition spd="slow">
    <p:push dir="u"/>
    <p:sndAc>
      <p:stSnd>
        <p:snd r:embed="rId1" name="bomb.wav"/>
      </p:stSnd>
    </p:sndAc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936495"/>
      </p:ext>
    </p:extLst>
  </p:cSld>
  <p:clrMapOvr>
    <a:masterClrMapping/>
  </p:clrMapOvr>
  <p:transition spd="slow">
    <p:push dir="u"/>
    <p:sndAc>
      <p:stSnd>
        <p:snd r:embed="rId1" name="bomb.wav"/>
      </p:stSnd>
    </p:sndAc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11-Apr-26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715384"/>
      </p:ext>
    </p:extLst>
  </p:cSld>
  <p:clrMapOvr>
    <a:masterClrMapping/>
  </p:clrMapOvr>
  <p:transition spd="slow">
    <p:push dir="u"/>
    <p:sndAc>
      <p:stSnd>
        <p:snd r:embed="rId1" name="bomb.wav"/>
      </p:stSnd>
    </p:sndAc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11-Apr-26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904616"/>
      </p:ext>
    </p:extLst>
  </p:cSld>
  <p:clrMapOvr>
    <a:masterClrMapping/>
  </p:clrMapOvr>
  <p:transition spd="slow">
    <p:push dir="u"/>
    <p:sndAc>
      <p:stSnd>
        <p:snd r:embed="rId1" name="bomb.wav"/>
      </p:stSnd>
    </p:sndAc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11-Apr-26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15462"/>
      </p:ext>
    </p:extLst>
  </p:cSld>
  <p:clrMapOvr>
    <a:masterClrMapping/>
  </p:clrMapOvr>
  <p:transition spd="slow">
    <p:push dir="u"/>
    <p:sndAc>
      <p:stSnd>
        <p:snd r:embed="rId1" name="bomb.wav"/>
      </p:stSnd>
    </p:sndAc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222992"/>
      </p:ext>
    </p:extLst>
  </p:cSld>
  <p:clrMapOvr>
    <a:masterClrMapping/>
  </p:clrMapOvr>
  <p:transition spd="slow">
    <p:push dir="u"/>
    <p:sndAc>
      <p:stSnd>
        <p:snd r:embed="rId1" name="bomb.wav"/>
      </p:stSnd>
    </p:sndAc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11-Apr-26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100266"/>
      </p:ext>
    </p:extLst>
  </p:cSld>
  <p:clrMapOvr>
    <a:masterClrMapping/>
  </p:clrMapOvr>
  <p:transition spd="slow">
    <p:push dir="u"/>
    <p:sndAc>
      <p:stSnd>
        <p:snd r:embed="rId1" name="bomb.wav"/>
      </p:stSnd>
    </p:sndAc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425687"/>
      </p:ext>
    </p:extLst>
  </p:cSld>
  <p:clrMapOvr>
    <a:masterClrMapping/>
  </p:clrMapOvr>
  <p:transition spd="slow">
    <p:push dir="u"/>
    <p:sndAc>
      <p:stSnd>
        <p:snd r:embed="rId1" name="bomb.wav"/>
      </p:stSnd>
    </p:sndAc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45642"/>
      </p:ext>
    </p:extLst>
  </p:cSld>
  <p:clrMapOvr>
    <a:masterClrMapping/>
  </p:clrMapOvr>
  <p:transition spd="slow">
    <p:push dir="u"/>
    <p:sndAc>
      <p:stSnd>
        <p:snd r:embed="rId1" name="bomb.wav"/>
      </p:stSnd>
    </p:sndAc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345686"/>
      </p:ext>
    </p:extLst>
  </p:cSld>
  <p:clrMapOvr>
    <a:masterClrMapping/>
  </p:clrMapOvr>
  <p:transition spd="slow" advTm="3000">
    <p:push dir="u"/>
    <p:sndAc>
      <p:stSnd>
        <p:snd r:embed="rId1" name="bomb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296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transition spd="slow">
    <p:push dir="u"/>
    <p:sndAc>
      <p:stSnd>
        <p:snd r:embed="rId14" name="bomb.wav"/>
      </p:stSnd>
    </p:sndAc>
  </p:transition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audio" Target="../media/audio1.wav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5.png"/><Relationship Id="rId4" Type="http://schemas.openxmlformats.org/officeDocument/2006/relationships/image" Target="../media/image8.jpe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audio" Target="../media/audio1.wav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20.png"/><Relationship Id="rId5" Type="http://schemas.openxmlformats.org/officeDocument/2006/relationships/image" Target="../media/image9.png"/><Relationship Id="rId10" Type="http://schemas.openxmlformats.org/officeDocument/2006/relationships/image" Target="../media/image19.png"/><Relationship Id="rId4" Type="http://schemas.openxmlformats.org/officeDocument/2006/relationships/image" Target="../media/image8.jpe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audio" Target="../media/audio1.wav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4.png"/><Relationship Id="rId4" Type="http://schemas.openxmlformats.org/officeDocument/2006/relationships/image" Target="../media/image8.jpe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audio" Target="../media/audio1.wav"/><Relationship Id="rId7" Type="http://schemas.openxmlformats.org/officeDocument/2006/relationships/image" Target="../media/image25.png"/><Relationship Id="rId12" Type="http://schemas.openxmlformats.org/officeDocument/2006/relationships/image" Target="../media/image3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29.jpg"/><Relationship Id="rId5" Type="http://schemas.openxmlformats.org/officeDocument/2006/relationships/image" Target="../media/image9.png"/><Relationship Id="rId10" Type="http://schemas.openxmlformats.org/officeDocument/2006/relationships/image" Target="../media/image28.jpg"/><Relationship Id="rId4" Type="http://schemas.openxmlformats.org/officeDocument/2006/relationships/image" Target="../media/image8.jpeg"/><Relationship Id="rId9" Type="http://schemas.openxmlformats.org/officeDocument/2006/relationships/image" Target="../media/image2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audio" Target="../media/audio1.wav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35.jpg"/><Relationship Id="rId5" Type="http://schemas.openxmlformats.org/officeDocument/2006/relationships/image" Target="../media/image9.png"/><Relationship Id="rId10" Type="http://schemas.openxmlformats.org/officeDocument/2006/relationships/image" Target="../media/image34.png"/><Relationship Id="rId4" Type="http://schemas.openxmlformats.org/officeDocument/2006/relationships/image" Target="../media/image8.jpe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audio" Target="../media/audio1.wav"/><Relationship Id="rId7" Type="http://schemas.openxmlformats.org/officeDocument/2006/relationships/image" Target="../media/image25.png"/><Relationship Id="rId12" Type="http://schemas.openxmlformats.org/officeDocument/2006/relationships/image" Target="../media/image3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38.jpg"/><Relationship Id="rId5" Type="http://schemas.openxmlformats.org/officeDocument/2006/relationships/image" Target="../media/image9.png"/><Relationship Id="rId10" Type="http://schemas.openxmlformats.org/officeDocument/2006/relationships/image" Target="../media/image37.jpg"/><Relationship Id="rId4" Type="http://schemas.openxmlformats.org/officeDocument/2006/relationships/image" Target="../media/image8.jpeg"/><Relationship Id="rId9" Type="http://schemas.openxmlformats.org/officeDocument/2006/relationships/image" Target="../media/image36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audio" Target="../media/audio1.wav"/><Relationship Id="rId7" Type="http://schemas.openxmlformats.org/officeDocument/2006/relationships/image" Target="../media/image4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audio" Target="../media/audio1.wav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46.png"/><Relationship Id="rId5" Type="http://schemas.openxmlformats.org/officeDocument/2006/relationships/image" Target="../media/image9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8.jpe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5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g"/><Relationship Id="rId13" Type="http://schemas.openxmlformats.org/officeDocument/2006/relationships/image" Target="../media/image58.png"/><Relationship Id="rId3" Type="http://schemas.openxmlformats.org/officeDocument/2006/relationships/audio" Target="../media/audio1.wav"/><Relationship Id="rId7" Type="http://schemas.openxmlformats.org/officeDocument/2006/relationships/image" Target="../media/image52.jp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56.png"/><Relationship Id="rId5" Type="http://schemas.openxmlformats.org/officeDocument/2006/relationships/image" Target="../media/image9.png"/><Relationship Id="rId10" Type="http://schemas.openxmlformats.org/officeDocument/2006/relationships/image" Target="../media/image55.jpg"/><Relationship Id="rId4" Type="http://schemas.openxmlformats.org/officeDocument/2006/relationships/image" Target="../media/image8.jpeg"/><Relationship Id="rId9" Type="http://schemas.openxmlformats.org/officeDocument/2006/relationships/image" Target="../media/image54.jpg"/><Relationship Id="rId1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g"/><Relationship Id="rId3" Type="http://schemas.openxmlformats.org/officeDocument/2006/relationships/audio" Target="../media/audio1.wav"/><Relationship Id="rId7" Type="http://schemas.openxmlformats.org/officeDocument/2006/relationships/image" Target="../media/image6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63.jpg"/><Relationship Id="rId4" Type="http://schemas.openxmlformats.org/officeDocument/2006/relationships/image" Target="../media/image8.jpeg"/><Relationship Id="rId9" Type="http://schemas.openxmlformats.org/officeDocument/2006/relationships/image" Target="../media/image6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g"/><Relationship Id="rId3" Type="http://schemas.openxmlformats.org/officeDocument/2006/relationships/audio" Target="../media/audio1.wav"/><Relationship Id="rId7" Type="http://schemas.openxmlformats.org/officeDocument/2006/relationships/image" Target="../media/image6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68.jpg"/><Relationship Id="rId4" Type="http://schemas.openxmlformats.org/officeDocument/2006/relationships/image" Target="../media/image8.jpeg"/><Relationship Id="rId9" Type="http://schemas.openxmlformats.org/officeDocument/2006/relationships/image" Target="../media/image67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9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31843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58716" y="2753503"/>
            <a:ext cx="16265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PAUL NYAROTSO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2425148" y="2186311"/>
            <a:ext cx="4293704" cy="0"/>
          </a:xfrm>
          <a:custGeom>
            <a:avLst/>
            <a:gdLst/>
            <a:ahLst/>
            <a:cxnLst/>
            <a:rect l="l" t="t" r="r" b="b"/>
            <a:pathLst>
              <a:path w="4293704">
                <a:moveTo>
                  <a:pt x="0" y="0"/>
                </a:moveTo>
                <a:moveTo>
                  <a:pt x="0" y="0"/>
                </a:moveTo>
                <a:lnTo>
                  <a:pt x="4293704" y="0"/>
                </a:lnTo>
              </a:path>
            </a:pathLst>
          </a:custGeom>
          <a:noFill/>
          <a:ln w="95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432664" y="1401890"/>
            <a:ext cx="827867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456" b="1" kern="0" spc="72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Essentials Course Overview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0" y="2179130"/>
            <a:ext cx="9144000" cy="4114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2D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Hardware to Software Fundamentals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2838" y="344881"/>
            <a:ext cx="4778324" cy="4289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331786" y="1482557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Hardware Fundamentals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07833" y="1525040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099303" y="1643912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Operating System Essentials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541083" y="1525040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331786" y="2292716"/>
            <a:ext cx="3335471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Management Skills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07918" y="2216327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5DD462-6F87-206D-6FEF-E01DB419DA05}"/>
              </a:ext>
            </a:extLst>
          </p:cNvPr>
          <p:cNvSpPr txBox="1"/>
          <p:nvPr/>
        </p:nvSpPr>
        <p:spPr>
          <a:xfrm>
            <a:off x="1974028" y="661232"/>
            <a:ext cx="4572000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454D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</a:t>
            </a:r>
            <a:endParaRPr lang="en-US" sz="80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Hardware Fundamentals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F5E059-A92E-05E8-82B7-03771BF8E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270" y="82550"/>
            <a:ext cx="2320576" cy="3443380"/>
          </a:xfrm>
          <a:prstGeom prst="rect">
            <a:avLst/>
          </a:prstGeom>
        </p:spPr>
      </p:pic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 of computers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7929944770_AU3KLm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46079" y="1245829"/>
            <a:ext cx="2651842" cy="2651842"/>
          </a:xfrm>
          <a:prstGeom prst="ellipse">
            <a:avLst/>
          </a:prstGeom>
        </p:spPr>
      </p:pic>
      <p:sp>
        <p:nvSpPr>
          <p:cNvPr id="7" name="Text 2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Desktop Computers</a:t>
            </a:r>
            <a:endParaRPr lang="en-US" sz="1440" dirty="0"/>
          </a:p>
        </p:txBody>
      </p:sp>
      <p:sp>
        <p:nvSpPr>
          <p:cNvPr id="8" name="Text 3"/>
          <p:cNvSpPr/>
          <p:nvPr/>
        </p:nvSpPr>
        <p:spPr>
          <a:xfrm>
            <a:off x="253537" y="1370708"/>
            <a:ext cx="28388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Traditional stationary computers with separate monitor, keyboard, and processing unit for home or office use.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Laptop Computers</a:t>
            </a:r>
            <a:endParaRPr lang="en-US" sz="1440" dirty="0"/>
          </a:p>
        </p:txBody>
      </p:sp>
      <p:sp>
        <p:nvSpPr>
          <p:cNvPr id="10" name="Text 5"/>
          <p:cNvSpPr/>
          <p:nvPr/>
        </p:nvSpPr>
        <p:spPr>
          <a:xfrm>
            <a:off x="6002866" y="1370686"/>
            <a:ext cx="286973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Portable all-in-one devices with built-in screen, keyboard and trackpad for mobile computing needs.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All-in-One Computers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253537" y="3595443"/>
            <a:ext cx="28388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Integrated systems where monitor and computer components are combined in single unit for space efficiency.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Mobile Devices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6002866" y="3595443"/>
            <a:ext cx="286973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Tablets and smartphones offering computing capabilities with touchscreen interfaces and high portability.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310870" y="396683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hardware components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151578" y="2073420"/>
            <a:ext cx="6620780" cy="0"/>
          </a:xfrm>
          <a:custGeom>
            <a:avLst/>
            <a:gdLst/>
            <a:ahLst/>
            <a:cxnLst/>
            <a:rect l="l" t="t" r="r" b="b"/>
            <a:pathLst>
              <a:path w="6620780">
                <a:moveTo>
                  <a:pt x="0" y="0"/>
                </a:moveTo>
                <a:moveTo>
                  <a:pt x="0" y="0"/>
                </a:moveTo>
                <a:lnTo>
                  <a:pt x="6620780" y="0"/>
                </a:lnTo>
              </a:path>
            </a:pathLst>
          </a:custGeom>
          <a:noFill/>
          <a:ln w="16105">
            <a:solidFill>
              <a:srgbClr val="E1E1E1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60571" y="2901207"/>
            <a:ext cx="6411786" cy="0"/>
          </a:xfrm>
          <a:custGeom>
            <a:avLst/>
            <a:gdLst/>
            <a:ahLst/>
            <a:cxnLst/>
            <a:rect l="l" t="t" r="r" b="b"/>
            <a:pathLst>
              <a:path w="6411786">
                <a:moveTo>
                  <a:pt x="0" y="0"/>
                </a:moveTo>
                <a:moveTo>
                  <a:pt x="0" y="0"/>
                </a:moveTo>
                <a:lnTo>
                  <a:pt x="6411786" y="0"/>
                </a:lnTo>
              </a:path>
            </a:pathLst>
          </a:custGeom>
          <a:noFill/>
          <a:ln w="16105">
            <a:solidFill>
              <a:srgbClr val="E1E1E1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2681405" y="3756427"/>
            <a:ext cx="6090953" cy="0"/>
          </a:xfrm>
          <a:custGeom>
            <a:avLst/>
            <a:gdLst/>
            <a:ahLst/>
            <a:cxnLst/>
            <a:rect l="l" t="t" r="r" b="b"/>
            <a:pathLst>
              <a:path w="6090953">
                <a:moveTo>
                  <a:pt x="0" y="0"/>
                </a:moveTo>
                <a:moveTo>
                  <a:pt x="0" y="0"/>
                </a:moveTo>
                <a:lnTo>
                  <a:pt x="6090953" y="0"/>
                </a:lnTo>
              </a:path>
            </a:pathLst>
          </a:custGeom>
          <a:noFill/>
          <a:ln w="16105">
            <a:solidFill>
              <a:srgbClr val="E1E1E1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3560636" y="4639078"/>
            <a:ext cx="5211722" cy="0"/>
          </a:xfrm>
          <a:custGeom>
            <a:avLst/>
            <a:gdLst/>
            <a:ahLst/>
            <a:cxnLst/>
            <a:rect l="l" t="t" r="r" b="b"/>
            <a:pathLst>
              <a:path w="5211722">
                <a:moveTo>
                  <a:pt x="0" y="0"/>
                </a:moveTo>
                <a:moveTo>
                  <a:pt x="0" y="0"/>
                </a:moveTo>
                <a:lnTo>
                  <a:pt x="5211722" y="0"/>
                </a:lnTo>
              </a:path>
            </a:pathLst>
          </a:custGeom>
          <a:noFill/>
          <a:ln w="16105">
            <a:solidFill>
              <a:srgbClr val="E1E1E1"/>
            </a:solidFill>
            <a:prstDash val="solid"/>
            <a:headEnd type="none"/>
            <a:tailEnd type="none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>
            <a:off x="228600" y="764082"/>
            <a:ext cx="3526203" cy="392106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>
            <a:off x="228600" y="747983"/>
            <a:ext cx="3526203" cy="3943937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228600" y="761525"/>
            <a:ext cx="3526203" cy="3943937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143" y="806693"/>
            <a:ext cx="3526203" cy="3943937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1991701" y="1473117"/>
            <a:ext cx="0" cy="2948042"/>
          </a:xfrm>
          <a:custGeom>
            <a:avLst/>
            <a:gdLst/>
            <a:ahLst/>
            <a:cxnLst/>
            <a:rect l="l" t="t" r="r" b="b"/>
            <a:pathLst>
              <a:path h="2948042">
                <a:moveTo>
                  <a:pt x="0" y="0"/>
                </a:moveTo>
                <a:moveTo>
                  <a:pt x="0" y="0"/>
                </a:moveTo>
                <a:lnTo>
                  <a:pt x="0" y="2948042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  <a:headEnd type="arrow"/>
            <a:tailEnd type="none"/>
          </a:ln>
        </p:spPr>
      </p:sp>
      <p:sp>
        <p:nvSpPr>
          <p:cNvPr id="15" name="Text 7"/>
          <p:cNvSpPr/>
          <p:nvPr/>
        </p:nvSpPr>
        <p:spPr>
          <a:xfrm>
            <a:off x="2443096" y="1463057"/>
            <a:ext cx="211135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Central Processing Unit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4642193" y="1293893"/>
            <a:ext cx="4273207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CPU serves as the computer's brain, executing instructions and performing calculations for all operations.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2814438" y="2283524"/>
            <a:ext cx="211135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Random Access Memory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4864446" y="2114360"/>
            <a:ext cx="4050954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RAM provides temporary storage for data that the CPU needs to access quickly during active operations.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3200849" y="3142516"/>
            <a:ext cx="211135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Storage Devices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3672507" y="3998773"/>
            <a:ext cx="182578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Motherboard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5230409" y="2973352"/>
            <a:ext cx="3684991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Hard drives and SSDs store programs, files, and the operating system permanently even when power is off.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5498290" y="3829609"/>
            <a:ext cx="341711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main circuit board connects all components together, allowing communication between hardware parts of the computer.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Ports and peripherals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1183" y="925116"/>
            <a:ext cx="3997757" cy="1799539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3751" y="903732"/>
            <a:ext cx="1234168" cy="51129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651183" y="861108"/>
            <a:ext cx="1206736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122" y="2903477"/>
            <a:ext cx="3997757" cy="1799539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904" y="2882093"/>
            <a:ext cx="1234168" cy="511298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522336" y="2839469"/>
            <a:ext cx="1206736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336" y="925116"/>
            <a:ext cx="3997757" cy="179968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904" y="903732"/>
            <a:ext cx="1234168" cy="511298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522336" y="861108"/>
            <a:ext cx="1206736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1183" y="2903187"/>
            <a:ext cx="3997757" cy="1799539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3751" y="2882093"/>
            <a:ext cx="1234168" cy="511298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4651183" y="2839469"/>
            <a:ext cx="1206736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40" dirty="0"/>
          </a:p>
        </p:txBody>
      </p:sp>
      <p:sp>
        <p:nvSpPr>
          <p:cNvPr id="18" name="Text 6"/>
          <p:cNvSpPr/>
          <p:nvPr/>
        </p:nvSpPr>
        <p:spPr>
          <a:xfrm>
            <a:off x="1756562" y="925116"/>
            <a:ext cx="2763531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Common Ports</a:t>
            </a:r>
            <a:endParaRPr lang="en-US" sz="1440" dirty="0"/>
          </a:p>
        </p:txBody>
      </p:sp>
      <p:sp>
        <p:nvSpPr>
          <p:cNvPr id="19" name="Text 7"/>
          <p:cNvSpPr/>
          <p:nvPr/>
        </p:nvSpPr>
        <p:spPr>
          <a:xfrm>
            <a:off x="687046" y="1443828"/>
            <a:ext cx="366833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USB, HDMI, VGA and audio jacks connect devices to computers.</a:t>
            </a:r>
            <a:endParaRPr lang="en-US" sz="1440" dirty="0"/>
          </a:p>
        </p:txBody>
      </p:sp>
      <p:sp>
        <p:nvSpPr>
          <p:cNvPr id="20" name="Text 8"/>
          <p:cNvSpPr/>
          <p:nvPr/>
        </p:nvSpPr>
        <p:spPr>
          <a:xfrm>
            <a:off x="5894496" y="925116"/>
            <a:ext cx="275460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Wireless Connectivity</a:t>
            </a:r>
            <a:endParaRPr lang="en-US" sz="1440" dirty="0"/>
          </a:p>
        </p:txBody>
      </p:sp>
      <p:sp>
        <p:nvSpPr>
          <p:cNvPr id="21" name="Text 9"/>
          <p:cNvSpPr/>
          <p:nvPr/>
        </p:nvSpPr>
        <p:spPr>
          <a:xfrm>
            <a:off x="4815971" y="1443828"/>
            <a:ext cx="366833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Bluetooth and Wi-Fi enable cable-free connections between devices.</a:t>
            </a:r>
            <a:endParaRPr lang="en-US" sz="1440" dirty="0"/>
          </a:p>
        </p:txBody>
      </p:sp>
      <p:sp>
        <p:nvSpPr>
          <p:cNvPr id="22" name="Text 10"/>
          <p:cNvSpPr/>
          <p:nvPr/>
        </p:nvSpPr>
        <p:spPr>
          <a:xfrm>
            <a:off x="1765649" y="2903477"/>
            <a:ext cx="275460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Input Devices</a:t>
            </a:r>
            <a:endParaRPr lang="en-US" sz="1440" dirty="0"/>
          </a:p>
        </p:txBody>
      </p:sp>
      <p:sp>
        <p:nvSpPr>
          <p:cNvPr id="23" name="Text 11"/>
          <p:cNvSpPr/>
          <p:nvPr/>
        </p:nvSpPr>
        <p:spPr>
          <a:xfrm>
            <a:off x="687124" y="3431333"/>
            <a:ext cx="366833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Keyboard, mouse, scanner and microphone allow data entry into computer systems.</a:t>
            </a:r>
            <a:endParaRPr lang="en-US" sz="1440" dirty="0"/>
          </a:p>
        </p:txBody>
      </p:sp>
      <p:sp>
        <p:nvSpPr>
          <p:cNvPr id="24" name="Text 12"/>
          <p:cNvSpPr/>
          <p:nvPr/>
        </p:nvSpPr>
        <p:spPr>
          <a:xfrm>
            <a:off x="5885565" y="2903477"/>
            <a:ext cx="2763531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Output Devices</a:t>
            </a:r>
            <a:endParaRPr lang="en-US" sz="1440" dirty="0"/>
          </a:p>
        </p:txBody>
      </p:sp>
      <p:sp>
        <p:nvSpPr>
          <p:cNvPr id="25" name="Text 13"/>
          <p:cNvSpPr/>
          <p:nvPr/>
        </p:nvSpPr>
        <p:spPr>
          <a:xfrm>
            <a:off x="4815893" y="3431333"/>
            <a:ext cx="366833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Monitors, printers and speakers deliver information from computers to users.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Input/output devices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7929945794_baBBHC.jpg"/>
          <p:cNvPicPr>
            <a:picLocks noChangeAspect="1"/>
          </p:cNvPicPr>
          <p:nvPr/>
        </p:nvPicPr>
        <p:blipFill>
          <a:blip r:embed="rId7"/>
          <a:srcRect l="33146" r="33146"/>
          <a:stretch/>
        </p:blipFill>
        <p:spPr>
          <a:xfrm>
            <a:off x="6607984" y="891341"/>
            <a:ext cx="2289951" cy="3816586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767469" y="954956"/>
            <a:ext cx="5840516" cy="74145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246064" y="952474"/>
            <a:ext cx="2116701" cy="746413"/>
          </a:xfrm>
          <a:custGeom>
            <a:avLst/>
            <a:gdLst/>
            <a:ahLst/>
            <a:cxnLst/>
            <a:rect l="l" t="t" r="r" b="b"/>
            <a:pathLst>
              <a:path w="2116701" h="746413">
                <a:moveTo>
                  <a:pt x="100759" y="0"/>
                </a:moveTo>
                <a:moveTo>
                  <a:pt x="100759" y="0"/>
                </a:moveTo>
                <a:lnTo>
                  <a:pt x="2015942" y="0"/>
                </a:lnTo>
                <a:quadBezTo>
                  <a:pt x="2116701" y="0"/>
                  <a:pt x="2116701" y="93302"/>
                </a:quadBezTo>
                <a:lnTo>
                  <a:pt x="2116701" y="653112"/>
                </a:lnTo>
                <a:quadBezTo>
                  <a:pt x="2116701" y="746413"/>
                  <a:pt x="2015942" y="746413"/>
                </a:quadBezTo>
                <a:lnTo>
                  <a:pt x="100759" y="746413"/>
                </a:lnTo>
                <a:quadBezTo>
                  <a:pt x="0" y="746413"/>
                  <a:pt x="0" y="653112"/>
                </a:quadBezTo>
                <a:lnTo>
                  <a:pt x="0" y="93302"/>
                </a:lnTo>
                <a:quadBezTo>
                  <a:pt x="0" y="0"/>
                  <a:pt x="100759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9" name="Text 3"/>
          <p:cNvSpPr/>
          <p:nvPr/>
        </p:nvSpPr>
        <p:spPr>
          <a:xfrm>
            <a:off x="302803" y="955349"/>
            <a:ext cx="2052374" cy="7406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Input Devices</a:t>
            </a:r>
            <a:endParaRPr lang="en-US" sz="1440" dirty="0"/>
          </a:p>
        </p:txBody>
      </p:sp>
      <p:sp>
        <p:nvSpPr>
          <p:cNvPr id="10" name="Text 4"/>
          <p:cNvSpPr/>
          <p:nvPr/>
        </p:nvSpPr>
        <p:spPr>
          <a:xfrm>
            <a:off x="2455479" y="918773"/>
            <a:ext cx="395894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Keyboard, mouse, scanner and microphone capture data for computer processing.</a:t>
            </a:r>
            <a:endParaRPr lang="en-US" sz="144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9">
            <a:alphaModFix amt="10000"/>
          </a:blip>
          <a:stretch>
            <a:fillRect/>
          </a:stretch>
        </p:blipFill>
        <p:spPr>
          <a:xfrm>
            <a:off x="767498" y="1935830"/>
            <a:ext cx="5827117" cy="74615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246102" y="1935830"/>
            <a:ext cx="2117023" cy="746150"/>
          </a:xfrm>
          <a:custGeom>
            <a:avLst/>
            <a:gdLst/>
            <a:ahLst/>
            <a:cxnLst/>
            <a:rect l="l" t="t" r="r" b="b"/>
            <a:pathLst>
              <a:path w="2117023" h="746150">
                <a:moveTo>
                  <a:pt x="123746" y="0"/>
                </a:moveTo>
                <a:moveTo>
                  <a:pt x="123746" y="0"/>
                </a:moveTo>
                <a:lnTo>
                  <a:pt x="1993277" y="0"/>
                </a:lnTo>
                <a:quadBezTo>
                  <a:pt x="2117023" y="0"/>
                  <a:pt x="2117023" y="93269"/>
                </a:quadBezTo>
                <a:lnTo>
                  <a:pt x="2117023" y="652882"/>
                </a:lnTo>
                <a:quadBezTo>
                  <a:pt x="2117023" y="746150"/>
                  <a:pt x="1993277" y="746150"/>
                </a:quadBezTo>
                <a:lnTo>
                  <a:pt x="123746" y="746150"/>
                </a:lnTo>
                <a:quadBezTo>
                  <a:pt x="0" y="746150"/>
                  <a:pt x="0" y="652882"/>
                </a:quadBezTo>
                <a:lnTo>
                  <a:pt x="0" y="93269"/>
                </a:lnTo>
                <a:quadBezTo>
                  <a:pt x="0" y="0"/>
                  <a:pt x="123746" y="0"/>
                </a:quadBez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3" name="Text 6"/>
          <p:cNvSpPr/>
          <p:nvPr/>
        </p:nvSpPr>
        <p:spPr>
          <a:xfrm>
            <a:off x="290932" y="1934001"/>
            <a:ext cx="2064245" cy="74980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Output Devices</a:t>
            </a:r>
            <a:endParaRPr lang="en-US" sz="1440" dirty="0"/>
          </a:p>
        </p:txBody>
      </p:sp>
      <p:sp>
        <p:nvSpPr>
          <p:cNvPr id="14" name="Text 7"/>
          <p:cNvSpPr/>
          <p:nvPr/>
        </p:nvSpPr>
        <p:spPr>
          <a:xfrm>
            <a:off x="2455792" y="1901997"/>
            <a:ext cx="395894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Monitor, printer and speakers deliver processed information from computer to user.</a:t>
            </a:r>
            <a:endParaRPr lang="en-US" sz="144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alphaModFix amt="10000"/>
          </a:blip>
          <a:stretch>
            <a:fillRect/>
          </a:stretch>
        </p:blipFill>
        <p:spPr>
          <a:xfrm>
            <a:off x="767469" y="2919011"/>
            <a:ext cx="5827117" cy="7461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46064" y="2919011"/>
            <a:ext cx="2117023" cy="746150"/>
          </a:xfrm>
          <a:custGeom>
            <a:avLst/>
            <a:gdLst/>
            <a:ahLst/>
            <a:cxnLst/>
            <a:rect l="l" t="t" r="r" b="b"/>
            <a:pathLst>
              <a:path w="2117023" h="746150">
                <a:moveTo>
                  <a:pt x="123746" y="0"/>
                </a:moveTo>
                <a:moveTo>
                  <a:pt x="123746" y="0"/>
                </a:moveTo>
                <a:lnTo>
                  <a:pt x="1993277" y="0"/>
                </a:lnTo>
                <a:quadBezTo>
                  <a:pt x="2117023" y="0"/>
                  <a:pt x="2117023" y="93269"/>
                </a:quadBezTo>
                <a:lnTo>
                  <a:pt x="2117023" y="652882"/>
                </a:lnTo>
                <a:quadBezTo>
                  <a:pt x="2117023" y="746150"/>
                  <a:pt x="1993277" y="746150"/>
                </a:quadBezTo>
                <a:lnTo>
                  <a:pt x="123746" y="746150"/>
                </a:lnTo>
                <a:quadBezTo>
                  <a:pt x="0" y="746150"/>
                  <a:pt x="0" y="652882"/>
                </a:quadBezTo>
                <a:lnTo>
                  <a:pt x="0" y="93269"/>
                </a:lnTo>
                <a:quadBezTo>
                  <a:pt x="0" y="0"/>
                  <a:pt x="123746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7" name="Text 9"/>
          <p:cNvSpPr/>
          <p:nvPr/>
        </p:nvSpPr>
        <p:spPr>
          <a:xfrm>
            <a:off x="279062" y="2917182"/>
            <a:ext cx="2076115" cy="74980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Connection Methods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2455479" y="2885178"/>
            <a:ext cx="395894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Devices connect via USB, HDMI, VGA ports or wireless Bluetooth technology.</a:t>
            </a:r>
            <a:endParaRPr lang="en-US" sz="144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>
            <a:alphaModFix amt="10000"/>
          </a:blip>
          <a:stretch>
            <a:fillRect/>
          </a:stretch>
        </p:blipFill>
        <p:spPr>
          <a:xfrm>
            <a:off x="767469" y="3906887"/>
            <a:ext cx="5827117" cy="746150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246064" y="3906887"/>
            <a:ext cx="2117023" cy="746150"/>
          </a:xfrm>
          <a:custGeom>
            <a:avLst/>
            <a:gdLst/>
            <a:ahLst/>
            <a:cxnLst/>
            <a:rect l="l" t="t" r="r" b="b"/>
            <a:pathLst>
              <a:path w="2117023" h="746150">
                <a:moveTo>
                  <a:pt x="123746" y="0"/>
                </a:moveTo>
                <a:moveTo>
                  <a:pt x="123746" y="0"/>
                </a:moveTo>
                <a:lnTo>
                  <a:pt x="1993277" y="0"/>
                </a:lnTo>
                <a:quadBezTo>
                  <a:pt x="2117023" y="0"/>
                  <a:pt x="2117023" y="93269"/>
                </a:quadBezTo>
                <a:lnTo>
                  <a:pt x="2117023" y="652882"/>
                </a:lnTo>
                <a:quadBezTo>
                  <a:pt x="2117023" y="746150"/>
                  <a:pt x="1993277" y="746150"/>
                </a:quadBezTo>
                <a:lnTo>
                  <a:pt x="123746" y="746150"/>
                </a:lnTo>
                <a:quadBezTo>
                  <a:pt x="0" y="746150"/>
                  <a:pt x="0" y="652882"/>
                </a:quadBezTo>
                <a:lnTo>
                  <a:pt x="0" y="93269"/>
                </a:lnTo>
                <a:quadBezTo>
                  <a:pt x="0" y="0"/>
                  <a:pt x="123746" y="0"/>
                </a:quadBez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21" name="Text 12"/>
          <p:cNvSpPr/>
          <p:nvPr/>
        </p:nvSpPr>
        <p:spPr>
          <a:xfrm>
            <a:off x="249386" y="3909631"/>
            <a:ext cx="2136653" cy="7406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Practical Applications</a:t>
            </a:r>
            <a:endParaRPr lang="en-US" sz="1440" dirty="0"/>
          </a:p>
        </p:txBody>
      </p:sp>
      <p:sp>
        <p:nvSpPr>
          <p:cNvPr id="22" name="Text 13"/>
          <p:cNvSpPr/>
          <p:nvPr/>
        </p:nvSpPr>
        <p:spPr>
          <a:xfrm>
            <a:off x="2455479" y="3873055"/>
            <a:ext cx="395894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Configure printers, pair Bluetooth devices, connect external monitors and digitize documents.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Storage types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413" y="1094454"/>
            <a:ext cx="4197816" cy="16791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80413" y="1094454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8" name="Shape 3"/>
          <p:cNvSpPr/>
          <p:nvPr/>
        </p:nvSpPr>
        <p:spPr>
          <a:xfrm>
            <a:off x="1986677" y="1879153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5771" y="1094454"/>
            <a:ext cx="4197816" cy="16791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65771" y="1094454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1" name="Shape 5"/>
          <p:cNvSpPr/>
          <p:nvPr/>
        </p:nvSpPr>
        <p:spPr>
          <a:xfrm>
            <a:off x="6372035" y="1879153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413" y="2923908"/>
            <a:ext cx="4197816" cy="16791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80413" y="2923908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4" name="Shape 7"/>
          <p:cNvSpPr/>
          <p:nvPr/>
        </p:nvSpPr>
        <p:spPr>
          <a:xfrm>
            <a:off x="1986677" y="3708608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5771" y="2923908"/>
            <a:ext cx="4197816" cy="167912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665771" y="2923908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7" name="Shape 9"/>
          <p:cNvSpPr/>
          <p:nvPr/>
        </p:nvSpPr>
        <p:spPr>
          <a:xfrm>
            <a:off x="6372035" y="3708608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18" name="Text 10"/>
          <p:cNvSpPr/>
          <p:nvPr/>
        </p:nvSpPr>
        <p:spPr>
          <a:xfrm>
            <a:off x="1867805" y="1402028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Internal vs External Storage</a:t>
            </a:r>
            <a:endParaRPr lang="en-US" sz="1440" dirty="0"/>
          </a:p>
        </p:txBody>
      </p:sp>
      <p:pic>
        <p:nvPicPr>
          <p:cNvPr id="19" name="Image 6" descr="https://oceandoc-ai.obs.ap-southeast-3.myhuaweicloud.com:443/image_1767929947155_BVI7Bw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2585" y="1482604"/>
            <a:ext cx="1005840" cy="1005840"/>
          </a:xfrm>
          <a:prstGeom prst="ellipse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867805" y="1891691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Physical storage inside computer versus removable devices connected via ports.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6253163" y="1402028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Portable Storage Options</a:t>
            </a:r>
            <a:endParaRPr lang="en-US" sz="1440" dirty="0"/>
          </a:p>
        </p:txBody>
      </p:sp>
      <p:pic>
        <p:nvPicPr>
          <p:cNvPr id="22" name="Image 7" descr="https://oceandoc-ai.obs.ap-southeast-3.myhuaweicloud.com:443/image_1767929950467_GOhG0V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887942" y="1482604"/>
            <a:ext cx="1005840" cy="1005840"/>
          </a:xfrm>
          <a:prstGeom prst="ellipse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253163" y="1891691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USB flash drives and memory cards provide convenient data transfer between devices.</a:t>
            </a:r>
            <a:endParaRPr lang="en-US" sz="1440" dirty="0"/>
          </a:p>
        </p:txBody>
      </p:sp>
      <p:sp>
        <p:nvSpPr>
          <p:cNvPr id="24" name="Text 14"/>
          <p:cNvSpPr/>
          <p:nvPr/>
        </p:nvSpPr>
        <p:spPr>
          <a:xfrm>
            <a:off x="1867805" y="3231483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Cloud Storage Services</a:t>
            </a:r>
            <a:endParaRPr lang="en-US" sz="1440" dirty="0"/>
          </a:p>
        </p:txBody>
      </p:sp>
      <p:pic>
        <p:nvPicPr>
          <p:cNvPr id="25" name="Image 8" descr="https://oceandoc-ai.obs.ap-southeast-3.myhuaweicloud.com:443/image_1767929953591_Sm1Ple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02585" y="3312058"/>
            <a:ext cx="1005840" cy="1005840"/>
          </a:xfrm>
          <a:prstGeom prst="ellipse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867805" y="3721146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Online storage platforms allowing access to files from multiple devices anywhere.</a:t>
            </a:r>
            <a:endParaRPr lang="en-US" sz="1440" dirty="0"/>
          </a:p>
        </p:txBody>
      </p:sp>
      <p:sp>
        <p:nvSpPr>
          <p:cNvPr id="27" name="Text 16"/>
          <p:cNvSpPr/>
          <p:nvPr/>
        </p:nvSpPr>
        <p:spPr>
          <a:xfrm>
            <a:off x="6253163" y="3231483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Storage Measurements</a:t>
            </a:r>
            <a:endParaRPr lang="en-US" sz="1440" dirty="0"/>
          </a:p>
        </p:txBody>
      </p:sp>
      <p:pic>
        <p:nvPicPr>
          <p:cNvPr id="28" name="Image 9" descr="https://oceandoc-ai.obs.ap-southeast-3.myhuaweicloud.com:443/image_1767929956999_sYY93h.jp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887942" y="3312058"/>
            <a:ext cx="1005840" cy="1005840"/>
          </a:xfrm>
          <a:prstGeom prst="ellipse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253163" y="3721146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size units from kilobytes to petabytes measure storage capacity.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Operating System Essentials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 functions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031546" y="1234440"/>
            <a:ext cx="2843784" cy="66294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923" y="1014984"/>
            <a:ext cx="2850185" cy="66294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363" y="2884018"/>
            <a:ext cx="2758745" cy="66294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6031546" y="3103474"/>
            <a:ext cx="2878531" cy="6629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98703" y="1163574"/>
            <a:ext cx="2585405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Process Management</a:t>
            </a:r>
            <a:endParaRPr lang="en-US" sz="1440" dirty="0"/>
          </a:p>
        </p:txBody>
      </p:sp>
      <p:pic>
        <p:nvPicPr>
          <p:cNvPr id="11" name="Image 6" descr="https://oceandoc-ai.obs.ap-southeast-3.myhuaweicloud.com:443/image_1767929949658_PIjDM9.jpg"/>
          <p:cNvPicPr>
            <a:picLocks noChangeAspect="1"/>
          </p:cNvPicPr>
          <p:nvPr/>
        </p:nvPicPr>
        <p:blipFill>
          <a:blip r:embed="rId11"/>
          <a:srcRect l="10000" r="10000"/>
          <a:stretch/>
        </p:blipFill>
        <p:spPr>
          <a:xfrm>
            <a:off x="3084108" y="963580"/>
            <a:ext cx="2951991" cy="3689989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233923" y="1639519"/>
            <a:ext cx="2850185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kern="0" spc="72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Controls program execution, allocates CPU time, and manages multitasking operations.</a:t>
            </a:r>
            <a:endParaRPr lang="en-US" sz="1440" dirty="0"/>
          </a:p>
        </p:txBody>
      </p:sp>
      <p:sp>
        <p:nvSpPr>
          <p:cNvPr id="13" name="Text 4"/>
          <p:cNvSpPr/>
          <p:nvPr/>
        </p:nvSpPr>
        <p:spPr>
          <a:xfrm>
            <a:off x="498703" y="3032608"/>
            <a:ext cx="2585405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 Management</a:t>
            </a:r>
            <a:endParaRPr lang="en-US" sz="1440" dirty="0"/>
          </a:p>
        </p:txBody>
      </p:sp>
      <p:sp>
        <p:nvSpPr>
          <p:cNvPr id="14" name="Text 5"/>
          <p:cNvSpPr/>
          <p:nvPr/>
        </p:nvSpPr>
        <p:spPr>
          <a:xfrm>
            <a:off x="325363" y="3519526"/>
            <a:ext cx="2758745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kern="0" spc="72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Allocates RAM to programs, handles virtual memory, and protects memory spaces.</a:t>
            </a:r>
            <a:endParaRPr lang="en-US" sz="1440" dirty="0"/>
          </a:p>
        </p:txBody>
      </p:sp>
      <p:sp>
        <p:nvSpPr>
          <p:cNvPr id="15" name="Text 6"/>
          <p:cNvSpPr/>
          <p:nvPr/>
        </p:nvSpPr>
        <p:spPr>
          <a:xfrm>
            <a:off x="6036099" y="1383030"/>
            <a:ext cx="2585009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 System Control</a:t>
            </a:r>
            <a:endParaRPr lang="en-US" sz="1440" dirty="0"/>
          </a:p>
        </p:txBody>
      </p:sp>
      <p:sp>
        <p:nvSpPr>
          <p:cNvPr id="16" name="Text 7"/>
          <p:cNvSpPr/>
          <p:nvPr/>
        </p:nvSpPr>
        <p:spPr>
          <a:xfrm>
            <a:off x="6036099" y="1858975"/>
            <a:ext cx="2802655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kern="0" spc="72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Organizes data storage, manages file operations, and maintains directory structures.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6031546" y="3252064"/>
            <a:ext cx="25895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Device Management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6031546" y="3738982"/>
            <a:ext cx="2878531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kern="0" spc="72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Controls hardware peripherals, manages drivers, and handles input/output operations.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operating systems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639960" y="1921681"/>
            <a:ext cx="2241485" cy="593993"/>
          </a:xfrm>
          <a:custGeom>
            <a:avLst/>
            <a:gdLst/>
            <a:ahLst/>
            <a:cxnLst/>
            <a:rect l="l" t="t" r="r" b="b"/>
            <a:pathLst>
              <a:path w="2241485" h="593993">
                <a:moveTo>
                  <a:pt x="0" y="0"/>
                </a:moveTo>
                <a:moveTo>
                  <a:pt x="0" y="0"/>
                </a:moveTo>
                <a:lnTo>
                  <a:pt x="2241485" y="0"/>
                </a:lnTo>
                <a:lnTo>
                  <a:pt x="2241485" y="593993"/>
                </a:lnTo>
                <a:lnTo>
                  <a:pt x="0" y="593993"/>
                </a:ln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7" name="Shape 3"/>
          <p:cNvSpPr/>
          <p:nvPr/>
        </p:nvSpPr>
        <p:spPr>
          <a:xfrm>
            <a:off x="4515159" y="1624684"/>
            <a:ext cx="2241485" cy="593993"/>
          </a:xfrm>
          <a:custGeom>
            <a:avLst/>
            <a:gdLst/>
            <a:ahLst/>
            <a:cxnLst/>
            <a:rect l="l" t="t" r="r" b="b"/>
            <a:pathLst>
              <a:path w="2241485" h="593993">
                <a:moveTo>
                  <a:pt x="0" y="0"/>
                </a:moveTo>
                <a:moveTo>
                  <a:pt x="0" y="0"/>
                </a:moveTo>
                <a:lnTo>
                  <a:pt x="2241485" y="0"/>
                </a:lnTo>
                <a:lnTo>
                  <a:pt x="2241485" y="593993"/>
                </a:lnTo>
                <a:lnTo>
                  <a:pt x="0" y="593993"/>
                </a:ln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8" name="Shape 4"/>
          <p:cNvSpPr/>
          <p:nvPr/>
        </p:nvSpPr>
        <p:spPr>
          <a:xfrm>
            <a:off x="2390357" y="1327687"/>
            <a:ext cx="2241485" cy="593993"/>
          </a:xfrm>
          <a:custGeom>
            <a:avLst/>
            <a:gdLst/>
            <a:ahLst/>
            <a:cxnLst/>
            <a:rect l="l" t="t" r="r" b="b"/>
            <a:pathLst>
              <a:path w="2241485" h="593993">
                <a:moveTo>
                  <a:pt x="0" y="0"/>
                </a:moveTo>
                <a:moveTo>
                  <a:pt x="0" y="0"/>
                </a:moveTo>
                <a:lnTo>
                  <a:pt x="2241485" y="0"/>
                </a:lnTo>
                <a:lnTo>
                  <a:pt x="2241485" y="593993"/>
                </a:lnTo>
                <a:lnTo>
                  <a:pt x="0" y="593993"/>
                </a:ln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9" name="Shape 5"/>
          <p:cNvSpPr/>
          <p:nvPr/>
        </p:nvSpPr>
        <p:spPr>
          <a:xfrm>
            <a:off x="262555" y="1097720"/>
            <a:ext cx="2241485" cy="593993"/>
          </a:xfrm>
          <a:custGeom>
            <a:avLst/>
            <a:gdLst/>
            <a:ahLst/>
            <a:cxnLst/>
            <a:rect l="l" t="t" r="r" b="b"/>
            <a:pathLst>
              <a:path w="2241485" h="593993">
                <a:moveTo>
                  <a:pt x="0" y="0"/>
                </a:moveTo>
                <a:moveTo>
                  <a:pt x="0" y="0"/>
                </a:moveTo>
                <a:lnTo>
                  <a:pt x="2241485" y="0"/>
                </a:lnTo>
                <a:lnTo>
                  <a:pt x="2241485" y="593993"/>
                </a:lnTo>
                <a:lnTo>
                  <a:pt x="0" y="593993"/>
                </a:ln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0" name="Text 6"/>
          <p:cNvSpPr/>
          <p:nvPr/>
        </p:nvSpPr>
        <p:spPr>
          <a:xfrm>
            <a:off x="262555" y="1097720"/>
            <a:ext cx="851764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11" name="Text 7"/>
          <p:cNvSpPr/>
          <p:nvPr/>
        </p:nvSpPr>
        <p:spPr>
          <a:xfrm>
            <a:off x="2507040" y="1327992"/>
            <a:ext cx="851764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4631841" y="1624836"/>
            <a:ext cx="851764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6756643" y="1921681"/>
            <a:ext cx="851764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40" dirty="0"/>
          </a:p>
        </p:txBody>
      </p:sp>
      <p:sp>
        <p:nvSpPr>
          <p:cNvPr id="14" name="Text 10"/>
          <p:cNvSpPr/>
          <p:nvPr/>
        </p:nvSpPr>
        <p:spPr>
          <a:xfrm>
            <a:off x="262555" y="1682138"/>
            <a:ext cx="2127802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Windows, macOS, Linux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262555" y="2282685"/>
            <a:ext cx="2079924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Primary desktop operating systems with different interfaces, features and compatibility options.</a:t>
            </a:r>
            <a:endParaRPr lang="en-US" sz="1440" dirty="0"/>
          </a:p>
        </p:txBody>
      </p:sp>
      <p:sp>
        <p:nvSpPr>
          <p:cNvPr id="16" name="Text 12"/>
          <p:cNvSpPr/>
          <p:nvPr/>
        </p:nvSpPr>
        <p:spPr>
          <a:xfrm>
            <a:off x="2390357" y="1912105"/>
            <a:ext cx="2124802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96" b="1" dirty="0">
                <a:solidFill>
                  <a:srgbClr val="519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Android and iOS</a:t>
            </a:r>
            <a:endParaRPr lang="en-US" sz="1440" dirty="0"/>
          </a:p>
        </p:txBody>
      </p:sp>
      <p:sp>
        <p:nvSpPr>
          <p:cNvPr id="17" name="Text 13"/>
          <p:cNvSpPr/>
          <p:nvPr/>
        </p:nvSpPr>
        <p:spPr>
          <a:xfrm>
            <a:off x="2390757" y="2512384"/>
            <a:ext cx="2124402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Mobile operating systems designed for smartphones and tablets with touch-optimized interfaces.</a:t>
            </a:r>
            <a:endParaRPr lang="en-US" sz="1440" dirty="0"/>
          </a:p>
        </p:txBody>
      </p:sp>
      <p:sp>
        <p:nvSpPr>
          <p:cNvPr id="18" name="Text 14"/>
          <p:cNvSpPr/>
          <p:nvPr/>
        </p:nvSpPr>
        <p:spPr>
          <a:xfrm>
            <a:off x="4515159" y="2189501"/>
            <a:ext cx="2124802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OS vs Applications</a:t>
            </a:r>
            <a:endParaRPr lang="en-US" sz="1440" dirty="0"/>
          </a:p>
        </p:txBody>
      </p:sp>
      <p:sp>
        <p:nvSpPr>
          <p:cNvPr id="19" name="Text 15"/>
          <p:cNvSpPr/>
          <p:nvPr/>
        </p:nvSpPr>
        <p:spPr>
          <a:xfrm>
            <a:off x="4515159" y="2799269"/>
            <a:ext cx="2124802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Operating systems manage hardware resources while applications perform specific tasks for users.</a:t>
            </a:r>
            <a:endParaRPr lang="en-US" sz="1440" dirty="0"/>
          </a:p>
        </p:txBody>
      </p:sp>
      <p:sp>
        <p:nvSpPr>
          <p:cNvPr id="20" name="Text 16"/>
          <p:cNvSpPr/>
          <p:nvPr/>
        </p:nvSpPr>
        <p:spPr>
          <a:xfrm>
            <a:off x="6639960" y="2496523"/>
            <a:ext cx="2241485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OS Functions</a:t>
            </a:r>
            <a:endParaRPr lang="en-US" sz="1440" dirty="0"/>
          </a:p>
        </p:txBody>
      </p:sp>
      <p:sp>
        <p:nvSpPr>
          <p:cNvPr id="21" name="Text 17"/>
          <p:cNvSpPr/>
          <p:nvPr/>
        </p:nvSpPr>
        <p:spPr>
          <a:xfrm>
            <a:off x="6639960" y="3105106"/>
            <a:ext cx="2241485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Manages hardware, provides user interface, handles file operations and enables software execution.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accounts management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413" y="1094454"/>
            <a:ext cx="4197816" cy="16791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80413" y="1094454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8" name="Shape 3"/>
          <p:cNvSpPr/>
          <p:nvPr/>
        </p:nvSpPr>
        <p:spPr>
          <a:xfrm>
            <a:off x="1986677" y="1879153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5771" y="1094454"/>
            <a:ext cx="4197816" cy="16791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65771" y="1094454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1" name="Shape 5"/>
          <p:cNvSpPr/>
          <p:nvPr/>
        </p:nvSpPr>
        <p:spPr>
          <a:xfrm>
            <a:off x="6372035" y="1879153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413" y="2923908"/>
            <a:ext cx="4197816" cy="16791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80413" y="2923908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4" name="Shape 7"/>
          <p:cNvSpPr/>
          <p:nvPr/>
        </p:nvSpPr>
        <p:spPr>
          <a:xfrm>
            <a:off x="1986677" y="3708608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5771" y="2923908"/>
            <a:ext cx="4197816" cy="167912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665771" y="2923908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7" name="Shape 9"/>
          <p:cNvSpPr/>
          <p:nvPr/>
        </p:nvSpPr>
        <p:spPr>
          <a:xfrm>
            <a:off x="6372035" y="3708608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18" name="Text 10"/>
          <p:cNvSpPr/>
          <p:nvPr/>
        </p:nvSpPr>
        <p:spPr>
          <a:xfrm>
            <a:off x="1867805" y="1402028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Creating User Accounts</a:t>
            </a:r>
            <a:endParaRPr lang="en-US" sz="1440" dirty="0"/>
          </a:p>
        </p:txBody>
      </p:sp>
      <p:pic>
        <p:nvPicPr>
          <p:cNvPr id="19" name="Image 6" descr="https://oceandoc-ai.obs.ap-southeast-3.myhuaweicloud.com:443/image_1767929951841_FIF8fZ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2585" y="1482604"/>
            <a:ext cx="1005840" cy="1005840"/>
          </a:xfrm>
          <a:prstGeom prst="ellipse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867805" y="1891691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 up personalized profiles with unique usernames and passwords for individual access to the computer system.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6253163" y="1402028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Managing Access Levels</a:t>
            </a:r>
            <a:endParaRPr lang="en-US" sz="1440" dirty="0"/>
          </a:p>
        </p:txBody>
      </p:sp>
      <p:pic>
        <p:nvPicPr>
          <p:cNvPr id="22" name="Image 7" descr="https://oceandoc-ai.obs.ap-southeast-3.myhuaweicloud.com:443/image_1767929954760_EKh2cw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887942" y="1482604"/>
            <a:ext cx="1005840" cy="1005840"/>
          </a:xfrm>
          <a:prstGeom prst="ellipse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253163" y="1891691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Configure standard and administrator privileges to control what actions users can perform on the system.</a:t>
            </a:r>
            <a:endParaRPr lang="en-US" sz="1440" dirty="0"/>
          </a:p>
        </p:txBody>
      </p:sp>
      <p:sp>
        <p:nvSpPr>
          <p:cNvPr id="24" name="Text 14"/>
          <p:cNvSpPr/>
          <p:nvPr/>
        </p:nvSpPr>
        <p:spPr>
          <a:xfrm>
            <a:off x="1867805" y="3231483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Login Procedures</a:t>
            </a:r>
            <a:endParaRPr lang="en-US" sz="1440" dirty="0"/>
          </a:p>
        </p:txBody>
      </p:sp>
      <p:pic>
        <p:nvPicPr>
          <p:cNvPr id="25" name="Image 8" descr="https://oceandoc-ai.obs.ap-southeast-3.myhuaweicloud.com:443/image_1767929958691_6oql0A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02585" y="3312058"/>
            <a:ext cx="1005840" cy="1005840"/>
          </a:xfrm>
          <a:prstGeom prst="ellipse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867805" y="3721146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 proper sign-in methods, password requirements, and account switching techniques for secure system access.</a:t>
            </a:r>
            <a:endParaRPr lang="en-US" sz="1440" dirty="0"/>
          </a:p>
        </p:txBody>
      </p:sp>
      <p:sp>
        <p:nvSpPr>
          <p:cNvPr id="27" name="Text 16"/>
          <p:cNvSpPr/>
          <p:nvPr/>
        </p:nvSpPr>
        <p:spPr>
          <a:xfrm>
            <a:off x="6253163" y="3231483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Account Maintenance</a:t>
            </a:r>
            <a:endParaRPr lang="en-US" sz="1440" dirty="0"/>
          </a:p>
        </p:txBody>
      </p:sp>
      <p:pic>
        <p:nvPicPr>
          <p:cNvPr id="28" name="Image 9" descr="https://oceandoc-ai.obs.ap-southeast-3.myhuaweicloud.com:443/image_1767929961524_AO8pAD.jp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887942" y="3312058"/>
            <a:ext cx="1005840" cy="1005840"/>
          </a:xfrm>
          <a:prstGeom prst="ellipse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253163" y="3721146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Update user information, reset passwords, and disable inactive accounts to maintain system security and organization.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Startup/shutdown procedures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96157" y="2983631"/>
            <a:ext cx="2597458" cy="1623411"/>
          </a:xfrm>
          <a:custGeom>
            <a:avLst/>
            <a:gdLst/>
            <a:ahLst/>
            <a:cxnLst/>
            <a:rect l="l" t="t" r="r" b="b"/>
            <a:pathLst>
              <a:path w="2597458" h="1623411">
                <a:moveTo>
                  <a:pt x="0" y="0"/>
                </a:moveTo>
                <a:moveTo>
                  <a:pt x="0" y="0"/>
                </a:moveTo>
                <a:lnTo>
                  <a:pt x="2597458" y="0"/>
                </a:lnTo>
                <a:lnTo>
                  <a:pt x="2597458" y="1623411"/>
                </a:lnTo>
                <a:lnTo>
                  <a:pt x="0" y="1623411"/>
                </a:lnTo>
                <a:close/>
              </a:path>
            </a:pathLst>
          </a:custGeom>
          <a:solidFill>
            <a:srgbClr val="5049D5">
              <a:alpha val="1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6290510" y="1148143"/>
            <a:ext cx="2597458" cy="1623411"/>
          </a:xfrm>
          <a:custGeom>
            <a:avLst/>
            <a:gdLst/>
            <a:ahLst/>
            <a:cxnLst/>
            <a:rect l="l" t="t" r="r" b="b"/>
            <a:pathLst>
              <a:path w="2597458" h="1623411">
                <a:moveTo>
                  <a:pt x="0" y="0"/>
                </a:moveTo>
                <a:moveTo>
                  <a:pt x="0" y="0"/>
                </a:moveTo>
                <a:lnTo>
                  <a:pt x="2597458" y="0"/>
                </a:lnTo>
                <a:lnTo>
                  <a:pt x="2597458" y="1623411"/>
                </a:lnTo>
                <a:lnTo>
                  <a:pt x="0" y="1623411"/>
                </a:lnTo>
                <a:close/>
              </a:path>
            </a:pathLst>
          </a:custGeom>
          <a:solidFill>
            <a:srgbClr val="5049D5">
              <a:alpha val="1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256032" y="1148143"/>
            <a:ext cx="3036722" cy="3438144"/>
          </a:xfrm>
          <a:custGeom>
            <a:avLst/>
            <a:gdLst/>
            <a:ahLst/>
            <a:cxnLst/>
            <a:rect l="l" t="t" r="r" b="b"/>
            <a:pathLst>
              <a:path w="3036722" h="3438144">
                <a:moveTo>
                  <a:pt x="0" y="0"/>
                </a:moveTo>
                <a:moveTo>
                  <a:pt x="0" y="0"/>
                </a:moveTo>
                <a:lnTo>
                  <a:pt x="3036722" y="0"/>
                </a:lnTo>
                <a:lnTo>
                  <a:pt x="3036722" y="3438144"/>
                </a:lnTo>
                <a:lnTo>
                  <a:pt x="0" y="3438144"/>
                </a:lnTo>
                <a:close/>
              </a:path>
            </a:pathLst>
          </a:custGeom>
          <a:solidFill>
            <a:srgbClr val="5049D5">
              <a:alpha val="0"/>
            </a:srgbClr>
          </a:solidFill>
          <a:ln w="9525">
            <a:solidFill>
              <a:srgbClr val="5049D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88939" y="2877593"/>
            <a:ext cx="2699034" cy="0"/>
          </a:xfrm>
          <a:custGeom>
            <a:avLst/>
            <a:gdLst/>
            <a:ahLst/>
            <a:cxnLst/>
            <a:rect l="l" t="t" r="r" b="b"/>
            <a:pathLst>
              <a:path w="2699034">
                <a:moveTo>
                  <a:pt x="0" y="0"/>
                </a:moveTo>
                <a:moveTo>
                  <a:pt x="0" y="0"/>
                </a:moveTo>
                <a:lnTo>
                  <a:pt x="2699034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10" name="Text 6"/>
          <p:cNvSpPr/>
          <p:nvPr/>
        </p:nvSpPr>
        <p:spPr>
          <a:xfrm>
            <a:off x="325519" y="1266110"/>
            <a:ext cx="2822506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Proper Power Procedures</a:t>
            </a:r>
            <a:endParaRPr lang="en-US" sz="1440" dirty="0"/>
          </a:p>
        </p:txBody>
      </p:sp>
      <p:pic>
        <p:nvPicPr>
          <p:cNvPr id="11" name="Image 2" descr="https://oceandoc-ai.obs.ap-southeast-3.myhuaweicloud.com:443/image_1767929953355_8RyCpQ.jpg"/>
          <p:cNvPicPr>
            <a:picLocks noChangeAspect="1"/>
          </p:cNvPicPr>
          <p:nvPr/>
        </p:nvPicPr>
        <p:blipFill>
          <a:blip r:embed="rId7"/>
          <a:srcRect t="18750" b="18750"/>
          <a:stretch/>
        </p:blipFill>
        <p:spPr>
          <a:xfrm>
            <a:off x="3496157" y="1148143"/>
            <a:ext cx="2597458" cy="16234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519" y="1629459"/>
            <a:ext cx="287362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Follow correct startup and shutdown sequences to prevent system damage and data loss.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325519" y="3129464"/>
            <a:ext cx="2822506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Sleep and Hibernate</a:t>
            </a:r>
            <a:endParaRPr lang="en-US" sz="1440" dirty="0"/>
          </a:p>
        </p:txBody>
      </p:sp>
      <p:pic>
        <p:nvPicPr>
          <p:cNvPr id="14" name="Image 3" descr="https://oceandoc-ai.obs.ap-southeast-3.myhuaweicloud.com:443/image_1767929956260_kLvrLh.jpg"/>
          <p:cNvPicPr>
            <a:picLocks noChangeAspect="1"/>
          </p:cNvPicPr>
          <p:nvPr/>
        </p:nvPicPr>
        <p:blipFill>
          <a:blip r:embed="rId8"/>
          <a:srcRect t="18750" b="18750"/>
          <a:stretch/>
        </p:blipFill>
        <p:spPr>
          <a:xfrm>
            <a:off x="6290510" y="2983631"/>
            <a:ext cx="2597458" cy="162341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25519" y="3477063"/>
            <a:ext cx="287362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Energy-saving states that maintain your work while using different levels of power.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3555609" y="3175184"/>
            <a:ext cx="2382891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Restart Function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3555609" y="3522783"/>
            <a:ext cx="23828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Refreshes system resources and applies updates without full shutdown.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6397794" y="1357550"/>
            <a:ext cx="2382891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Login Process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6397794" y="1684323"/>
            <a:ext cx="23828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Secure access to personalized desktop environment through account authentication.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Basic troubleshooting techniques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07938" y="2555482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5049D5"/>
          </a:solidFill>
          <a:ln w="238125">
            <a:solidFill>
              <a:srgbClr val="5049D5">
                <a:alpha val="25882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346231" y="2868632"/>
            <a:ext cx="904086" cy="0"/>
          </a:xfrm>
          <a:custGeom>
            <a:avLst/>
            <a:gdLst/>
            <a:ahLst/>
            <a:cxnLst/>
            <a:rect l="l" t="t" r="r" b="b"/>
            <a:pathLst>
              <a:path w="904086">
                <a:moveTo>
                  <a:pt x="0" y="0"/>
                </a:moveTo>
                <a:moveTo>
                  <a:pt x="0" y="0"/>
                </a:moveTo>
                <a:lnTo>
                  <a:pt x="904086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894037" y="3278417"/>
            <a:ext cx="0" cy="196229"/>
          </a:xfrm>
          <a:custGeom>
            <a:avLst/>
            <a:gdLst/>
            <a:ahLst/>
            <a:cxnLst/>
            <a:rect l="l" t="t" r="r" b="b"/>
            <a:pathLst>
              <a:path h="196229">
                <a:moveTo>
                  <a:pt x="0" y="196229"/>
                </a:moveTo>
                <a:moveTo>
                  <a:pt x="0" y="196229"/>
                </a:moveTo>
                <a:lnTo>
                  <a:pt x="0" y="0"/>
                </a:lnTo>
              </a:path>
            </a:pathLst>
          </a:custGeom>
          <a:noFill/>
          <a:ln w="12605">
            <a:solidFill>
              <a:srgbClr val="5049D5"/>
            </a:solidFill>
            <a:prstDash val="solid"/>
            <a:headEnd type="none"/>
            <a:tailEnd type="none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655" y="3520033"/>
            <a:ext cx="3389198" cy="122284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655" y="3428926"/>
            <a:ext cx="3389198" cy="47679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350218" y="2555482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5196FF"/>
          </a:solidFill>
          <a:ln w="238125">
            <a:solidFill>
              <a:srgbClr val="5196FF">
                <a:alpha val="25882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3663369" y="2276419"/>
            <a:ext cx="304" cy="164514"/>
          </a:xfrm>
          <a:custGeom>
            <a:avLst/>
            <a:gdLst/>
            <a:ahLst/>
            <a:cxnLst/>
            <a:rect l="l" t="t" r="r" b="b"/>
            <a:pathLst>
              <a:path w="304" h="164514">
                <a:moveTo>
                  <a:pt x="304" y="164514"/>
                </a:moveTo>
                <a:moveTo>
                  <a:pt x="304" y="16451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398" y="1053389"/>
            <a:ext cx="3388766" cy="122255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7279" y="962468"/>
            <a:ext cx="3388766" cy="476402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5092499" y="2555482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5049D5"/>
          </a:solidFill>
          <a:ln w="238125">
            <a:solidFill>
              <a:srgbClr val="5049D5">
                <a:alpha val="25882"/>
              </a:srgbClr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6834780" y="2555482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5196FF"/>
          </a:solidFill>
          <a:ln w="238125">
            <a:solidFill>
              <a:srgbClr val="5196FF">
                <a:alpha val="25882"/>
              </a:srgbClr>
            </a:solidFill>
            <a:prstDash val="solid"/>
          </a:ln>
        </p:spPr>
      </p:sp>
      <p:sp>
        <p:nvSpPr>
          <p:cNvPr id="17" name="Shape 9"/>
          <p:cNvSpPr/>
          <p:nvPr/>
        </p:nvSpPr>
        <p:spPr>
          <a:xfrm>
            <a:off x="5405650" y="3287561"/>
            <a:ext cx="0" cy="196229"/>
          </a:xfrm>
          <a:custGeom>
            <a:avLst/>
            <a:gdLst/>
            <a:ahLst/>
            <a:cxnLst/>
            <a:rect l="l" t="t" r="r" b="b"/>
            <a:pathLst>
              <a:path h="196229">
                <a:moveTo>
                  <a:pt x="0" y="196229"/>
                </a:moveTo>
                <a:moveTo>
                  <a:pt x="0" y="19622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4858" y="3529584"/>
            <a:ext cx="3388766" cy="1222553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4858" y="3438144"/>
            <a:ext cx="3388766" cy="476402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7147931" y="2281240"/>
            <a:ext cx="304" cy="164514"/>
          </a:xfrm>
          <a:custGeom>
            <a:avLst/>
            <a:gdLst/>
            <a:ahLst/>
            <a:cxnLst/>
            <a:rect l="l" t="t" r="r" b="b"/>
            <a:pathLst>
              <a:path w="304" h="164514">
                <a:moveTo>
                  <a:pt x="304" y="164514"/>
                </a:moveTo>
                <a:moveTo>
                  <a:pt x="304" y="16451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1945" y="1057961"/>
            <a:ext cx="3388766" cy="1222553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1945" y="967435"/>
            <a:ext cx="3388766" cy="476402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4088511" y="2868632"/>
            <a:ext cx="904086" cy="0"/>
          </a:xfrm>
          <a:custGeom>
            <a:avLst/>
            <a:gdLst/>
            <a:ahLst/>
            <a:cxnLst/>
            <a:rect l="l" t="t" r="r" b="b"/>
            <a:pathLst>
              <a:path w="904086">
                <a:moveTo>
                  <a:pt x="0" y="0"/>
                </a:moveTo>
                <a:moveTo>
                  <a:pt x="0" y="0"/>
                </a:moveTo>
                <a:lnTo>
                  <a:pt x="904086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24" name="Shape 12"/>
          <p:cNvSpPr/>
          <p:nvPr/>
        </p:nvSpPr>
        <p:spPr>
          <a:xfrm>
            <a:off x="5830111" y="2868632"/>
            <a:ext cx="904086" cy="0"/>
          </a:xfrm>
          <a:custGeom>
            <a:avLst/>
            <a:gdLst/>
            <a:ahLst/>
            <a:cxnLst/>
            <a:rect l="l" t="t" r="r" b="b"/>
            <a:pathLst>
              <a:path w="904086">
                <a:moveTo>
                  <a:pt x="0" y="0"/>
                </a:moveTo>
                <a:moveTo>
                  <a:pt x="0" y="0"/>
                </a:moveTo>
                <a:lnTo>
                  <a:pt x="904086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42171" y="2689715"/>
            <a:ext cx="357834" cy="357834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17065" y="2722328"/>
            <a:ext cx="292608" cy="292608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68490" y="2731472"/>
            <a:ext cx="274320" cy="274320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42191" y="2667464"/>
            <a:ext cx="411480" cy="402336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289865" y="3429000"/>
            <a:ext cx="3315614" cy="47640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Identify the problem</a:t>
            </a:r>
            <a:endParaRPr lang="en-US" sz="1440" dirty="0"/>
          </a:p>
        </p:txBody>
      </p:sp>
      <p:sp>
        <p:nvSpPr>
          <p:cNvPr id="30" name="Text 14"/>
          <p:cNvSpPr/>
          <p:nvPr/>
        </p:nvSpPr>
        <p:spPr>
          <a:xfrm>
            <a:off x="253289" y="3887114"/>
            <a:ext cx="338876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Determine specific symptoms and when they occur to pinpoint the issue accurately.</a:t>
            </a:r>
            <a:endParaRPr lang="en-US" sz="1440" dirty="0"/>
          </a:p>
        </p:txBody>
      </p:sp>
      <p:sp>
        <p:nvSpPr>
          <p:cNvPr id="31" name="Text 15"/>
          <p:cNvSpPr/>
          <p:nvPr/>
        </p:nvSpPr>
        <p:spPr>
          <a:xfrm>
            <a:off x="1614830" y="962863"/>
            <a:ext cx="3388766" cy="47640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Restart device</a:t>
            </a:r>
            <a:endParaRPr lang="en-US" sz="1440" dirty="0"/>
          </a:p>
        </p:txBody>
      </p:sp>
      <p:sp>
        <p:nvSpPr>
          <p:cNvPr id="32" name="Text 16"/>
          <p:cNvSpPr/>
          <p:nvPr/>
        </p:nvSpPr>
        <p:spPr>
          <a:xfrm>
            <a:off x="1587398" y="1420063"/>
            <a:ext cx="338876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Often resolves temporary glitches by clearing memory and restarting all processes.</a:t>
            </a:r>
            <a:endParaRPr lang="en-US" sz="1440" dirty="0"/>
          </a:p>
        </p:txBody>
      </p:sp>
      <p:sp>
        <p:nvSpPr>
          <p:cNvPr id="33" name="Text 17"/>
          <p:cNvSpPr/>
          <p:nvPr/>
        </p:nvSpPr>
        <p:spPr>
          <a:xfrm>
            <a:off x="4153205" y="3429000"/>
            <a:ext cx="3388766" cy="47640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connections</a:t>
            </a:r>
            <a:endParaRPr lang="en-US" sz="1440" dirty="0"/>
          </a:p>
        </p:txBody>
      </p:sp>
      <p:sp>
        <p:nvSpPr>
          <p:cNvPr id="34" name="Text 18"/>
          <p:cNvSpPr/>
          <p:nvPr/>
        </p:nvSpPr>
        <p:spPr>
          <a:xfrm>
            <a:off x="4124858" y="3896258"/>
            <a:ext cx="338876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Ensure all cables and peripherals are properly connected and recognized by system.</a:t>
            </a:r>
            <a:endParaRPr lang="en-US" sz="1440" dirty="0"/>
          </a:p>
        </p:txBody>
      </p:sp>
      <p:sp>
        <p:nvSpPr>
          <p:cNvPr id="35" name="Text 19"/>
          <p:cNvSpPr/>
          <p:nvPr/>
        </p:nvSpPr>
        <p:spPr>
          <a:xfrm>
            <a:off x="5501945" y="962863"/>
            <a:ext cx="3388766" cy="47640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Manager</a:t>
            </a:r>
            <a:endParaRPr lang="en-US" sz="1440" dirty="0"/>
          </a:p>
        </p:txBody>
      </p:sp>
      <p:sp>
        <p:nvSpPr>
          <p:cNvPr id="36" name="Text 20"/>
          <p:cNvSpPr/>
          <p:nvPr/>
        </p:nvSpPr>
        <p:spPr>
          <a:xfrm>
            <a:off x="5501945" y="1424635"/>
            <a:ext cx="338876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Monitor resource usage and close unresponsive applications that may cause system slowdowns.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Management Skills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systems structure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4378" y="2935224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7" name="Shape 3"/>
          <p:cNvSpPr/>
          <p:nvPr/>
        </p:nvSpPr>
        <p:spPr>
          <a:xfrm>
            <a:off x="3339389" y="2935311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8" name="Shape 4"/>
          <p:cNvSpPr/>
          <p:nvPr/>
        </p:nvSpPr>
        <p:spPr>
          <a:xfrm>
            <a:off x="284378" y="994431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9" name="Shape 5"/>
          <p:cNvSpPr/>
          <p:nvPr/>
        </p:nvSpPr>
        <p:spPr>
          <a:xfrm>
            <a:off x="3339389" y="994867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pic>
        <p:nvPicPr>
          <p:cNvPr id="10" name="Image 2" descr="https://oceandoc-ai.obs.ap-southeast-3.myhuaweicloud.com:443/image_1767929955563_aKJu1Z.jpg"/>
          <p:cNvPicPr>
            <a:picLocks noChangeAspect="1"/>
          </p:cNvPicPr>
          <p:nvPr/>
        </p:nvPicPr>
        <p:blipFill>
          <a:blip r:embed="rId7"/>
          <a:srcRect l="30924" r="28916"/>
          <a:stretch/>
        </p:blipFill>
        <p:spPr>
          <a:xfrm>
            <a:off x="6336866" y="994431"/>
            <a:ext cx="2522809" cy="35324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4637" y="1024108"/>
            <a:ext cx="2847107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Hierarchical Organization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284637" y="1533044"/>
            <a:ext cx="284748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Files arranged in tree-like structure with parent-child relationships between folders and subfolders.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3338939" y="1024108"/>
            <a:ext cx="2837591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File Types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3338939" y="1533044"/>
            <a:ext cx="283726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Documents, images, videos, and executables identified by extensions and unique icons.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284637" y="2964989"/>
            <a:ext cx="2847107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Navigation Tools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284637" y="3474012"/>
            <a:ext cx="284748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Explorer provides address bar, navigation pane, and different view options.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3338939" y="2964989"/>
            <a:ext cx="2837591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 Functionality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3338939" y="3474012"/>
            <a:ext cx="283726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 files using name, date, size, or content filters across storage locations.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Organizing folders effectively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7929957591_06EKq3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9426" y="1058115"/>
            <a:ext cx="1322772" cy="1322772"/>
          </a:xfrm>
          <a:prstGeom prst="rect">
            <a:avLst/>
          </a:prstGeom>
        </p:spPr>
      </p:pic>
      <p:pic>
        <p:nvPicPr>
          <p:cNvPr id="7" name="Image 3" descr="https://oceandoc-ai.obs.ap-southeast-3.myhuaweicloud.com:443/image_1767929961096_jPTUlX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786885" y="1058115"/>
            <a:ext cx="1322772" cy="1322772"/>
          </a:xfrm>
          <a:prstGeom prst="rect">
            <a:avLst/>
          </a:prstGeom>
        </p:spPr>
      </p:pic>
      <p:pic>
        <p:nvPicPr>
          <p:cNvPr id="8" name="Image 4" descr="https://oceandoc-ai.obs.ap-southeast-3.myhuaweicloud.com:443/image_1767929964097_tk9uOV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34343" y="1058115"/>
            <a:ext cx="1322772" cy="1322772"/>
          </a:xfrm>
          <a:prstGeom prst="rect">
            <a:avLst/>
          </a:prstGeom>
        </p:spPr>
      </p:pic>
      <p:pic>
        <p:nvPicPr>
          <p:cNvPr id="9" name="Image 5" descr="https://oceandoc-ai.obs.ap-southeast-3.myhuaweicloud.com:443/image_1767929968439_Q3Xqmj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281802" y="1058115"/>
            <a:ext cx="1322772" cy="1322772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1502274" y="2052598"/>
            <a:ext cx="416567" cy="339593"/>
          </a:xfrm>
          <a:custGeom>
            <a:avLst/>
            <a:gdLst/>
            <a:ahLst/>
            <a:cxnLst/>
            <a:rect l="l" t="t" r="r" b="b"/>
            <a:pathLst>
              <a:path w="416567" h="339593">
                <a:moveTo>
                  <a:pt x="83313" y="0"/>
                </a:moveTo>
                <a:moveTo>
                  <a:pt x="83313" y="0"/>
                </a:moveTo>
                <a:lnTo>
                  <a:pt x="333254" y="0"/>
                </a:lnTo>
                <a:lnTo>
                  <a:pt x="416567" y="169796"/>
                </a:lnTo>
                <a:lnTo>
                  <a:pt x="333254" y="339593"/>
                </a:lnTo>
                <a:lnTo>
                  <a:pt x="83313" y="339593"/>
                </a:lnTo>
                <a:lnTo>
                  <a:pt x="0" y="169796"/>
                </a:ln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1" name="Shape 3"/>
          <p:cNvSpPr/>
          <p:nvPr/>
        </p:nvSpPr>
        <p:spPr>
          <a:xfrm>
            <a:off x="986116" y="3206668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2260" y="2124096"/>
            <a:ext cx="196596" cy="196596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3749733" y="2052598"/>
            <a:ext cx="416567" cy="339593"/>
          </a:xfrm>
          <a:custGeom>
            <a:avLst/>
            <a:gdLst/>
            <a:ahLst/>
            <a:cxnLst/>
            <a:rect l="l" t="t" r="r" b="b"/>
            <a:pathLst>
              <a:path w="416567" h="339593">
                <a:moveTo>
                  <a:pt x="83313" y="0"/>
                </a:moveTo>
                <a:moveTo>
                  <a:pt x="83313" y="0"/>
                </a:moveTo>
                <a:lnTo>
                  <a:pt x="333254" y="0"/>
                </a:lnTo>
                <a:lnTo>
                  <a:pt x="416567" y="169796"/>
                </a:lnTo>
                <a:lnTo>
                  <a:pt x="333254" y="339593"/>
                </a:lnTo>
                <a:lnTo>
                  <a:pt x="83313" y="339593"/>
                </a:lnTo>
                <a:lnTo>
                  <a:pt x="0" y="169796"/>
                </a:ln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4" name="Shape 5"/>
          <p:cNvSpPr/>
          <p:nvPr/>
        </p:nvSpPr>
        <p:spPr>
          <a:xfrm>
            <a:off x="3233575" y="3206668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</p:sp>
      <p:sp>
        <p:nvSpPr>
          <p:cNvPr id="15" name="Shape 6"/>
          <p:cNvSpPr/>
          <p:nvPr/>
        </p:nvSpPr>
        <p:spPr>
          <a:xfrm>
            <a:off x="5997192" y="2052598"/>
            <a:ext cx="416567" cy="339593"/>
          </a:xfrm>
          <a:custGeom>
            <a:avLst/>
            <a:gdLst/>
            <a:ahLst/>
            <a:cxnLst/>
            <a:rect l="l" t="t" r="r" b="b"/>
            <a:pathLst>
              <a:path w="416567" h="339593">
                <a:moveTo>
                  <a:pt x="83313" y="0"/>
                </a:moveTo>
                <a:moveTo>
                  <a:pt x="83313" y="0"/>
                </a:moveTo>
                <a:lnTo>
                  <a:pt x="333254" y="0"/>
                </a:lnTo>
                <a:lnTo>
                  <a:pt x="416567" y="169796"/>
                </a:lnTo>
                <a:lnTo>
                  <a:pt x="333254" y="339593"/>
                </a:lnTo>
                <a:lnTo>
                  <a:pt x="83313" y="339593"/>
                </a:lnTo>
                <a:lnTo>
                  <a:pt x="0" y="169796"/>
                </a:ln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6" name="Shape 7"/>
          <p:cNvSpPr/>
          <p:nvPr/>
        </p:nvSpPr>
        <p:spPr>
          <a:xfrm>
            <a:off x="5481034" y="3206668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17" name="Shape 8"/>
          <p:cNvSpPr/>
          <p:nvPr/>
        </p:nvSpPr>
        <p:spPr>
          <a:xfrm>
            <a:off x="8244651" y="2052598"/>
            <a:ext cx="416567" cy="339593"/>
          </a:xfrm>
          <a:custGeom>
            <a:avLst/>
            <a:gdLst/>
            <a:ahLst/>
            <a:cxnLst/>
            <a:rect l="l" t="t" r="r" b="b"/>
            <a:pathLst>
              <a:path w="416567" h="339593">
                <a:moveTo>
                  <a:pt x="83313" y="0"/>
                </a:moveTo>
                <a:moveTo>
                  <a:pt x="83313" y="0"/>
                </a:moveTo>
                <a:lnTo>
                  <a:pt x="333254" y="0"/>
                </a:lnTo>
                <a:lnTo>
                  <a:pt x="416567" y="169796"/>
                </a:lnTo>
                <a:lnTo>
                  <a:pt x="333254" y="339593"/>
                </a:lnTo>
                <a:lnTo>
                  <a:pt x="83313" y="339593"/>
                </a:lnTo>
                <a:lnTo>
                  <a:pt x="0" y="169796"/>
                </a:ln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8" name="Shape 9"/>
          <p:cNvSpPr/>
          <p:nvPr/>
        </p:nvSpPr>
        <p:spPr>
          <a:xfrm>
            <a:off x="7728492" y="3206668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52861" y="2117238"/>
            <a:ext cx="210312" cy="210312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66944" y="2083863"/>
            <a:ext cx="277063" cy="277063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2350" y="2121810"/>
            <a:ext cx="201168" cy="20116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242713" y="2663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logical folder structure</a:t>
            </a:r>
            <a:endParaRPr lang="en-US" sz="1440" dirty="0"/>
          </a:p>
        </p:txBody>
      </p:sp>
      <p:sp>
        <p:nvSpPr>
          <p:cNvPr id="23" name="Text 11"/>
          <p:cNvSpPr/>
          <p:nvPr/>
        </p:nvSpPr>
        <p:spPr>
          <a:xfrm>
            <a:off x="242713" y="327766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Establish hierarchical organization with main folders and relevant subfolders for efficient file access.</a:t>
            </a:r>
            <a:endParaRPr lang="en-US" sz="1440" dirty="0"/>
          </a:p>
        </p:txBody>
      </p:sp>
      <p:sp>
        <p:nvSpPr>
          <p:cNvPr id="24" name="Text 12"/>
          <p:cNvSpPr/>
          <p:nvPr/>
        </p:nvSpPr>
        <p:spPr>
          <a:xfrm>
            <a:off x="2490172" y="2663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descriptive naming</a:t>
            </a:r>
            <a:endParaRPr lang="en-US" sz="1440" dirty="0"/>
          </a:p>
        </p:txBody>
      </p:sp>
      <p:sp>
        <p:nvSpPr>
          <p:cNvPr id="25" name="Text 13"/>
          <p:cNvSpPr/>
          <p:nvPr/>
        </p:nvSpPr>
        <p:spPr>
          <a:xfrm>
            <a:off x="2490172" y="327766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Apply clear, consistent naming conventions that identify content purpose and make files easily searchable.</a:t>
            </a:r>
            <a:endParaRPr lang="en-US" sz="1440" dirty="0"/>
          </a:p>
        </p:txBody>
      </p:sp>
      <p:sp>
        <p:nvSpPr>
          <p:cNvPr id="26" name="Text 14"/>
          <p:cNvSpPr/>
          <p:nvPr/>
        </p:nvSpPr>
        <p:spPr>
          <a:xfrm>
            <a:off x="4737630" y="2663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Group related files</a:t>
            </a:r>
            <a:endParaRPr lang="en-US" sz="1440" dirty="0"/>
          </a:p>
        </p:txBody>
      </p:sp>
      <p:sp>
        <p:nvSpPr>
          <p:cNvPr id="27" name="Text 15"/>
          <p:cNvSpPr/>
          <p:nvPr/>
        </p:nvSpPr>
        <p:spPr>
          <a:xfrm>
            <a:off x="4737630" y="327766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 project files together in dedicated folders to maintain organization and improve workflow efficiency.</a:t>
            </a:r>
            <a:endParaRPr lang="en-US" sz="1440" dirty="0"/>
          </a:p>
        </p:txBody>
      </p:sp>
      <p:sp>
        <p:nvSpPr>
          <p:cNvPr id="28" name="Text 16"/>
          <p:cNvSpPr/>
          <p:nvPr/>
        </p:nvSpPr>
        <p:spPr>
          <a:xfrm>
            <a:off x="6985089" y="2663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Regular maintenance</a:t>
            </a:r>
            <a:endParaRPr lang="en-US" sz="1440" dirty="0"/>
          </a:p>
        </p:txBody>
      </p:sp>
      <p:sp>
        <p:nvSpPr>
          <p:cNvPr id="29" name="Text 17"/>
          <p:cNvSpPr/>
          <p:nvPr/>
        </p:nvSpPr>
        <p:spPr>
          <a:xfrm>
            <a:off x="6985089" y="327766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Periodically review and clean folders, removing obsolete files and reorganizing as needed.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operations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7929962302_18uzXK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6227" y="1152860"/>
            <a:ext cx="1322772" cy="1322772"/>
          </a:xfrm>
          <a:prstGeom prst="ellipse">
            <a:avLst/>
          </a:prstGeom>
        </p:spPr>
      </p:pic>
      <p:pic>
        <p:nvPicPr>
          <p:cNvPr id="7" name="Image 3" descr="https://oceandoc-ai.obs.ap-southeast-3.myhuaweicloud.com:443/image_1767929965079_ttMwiK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799152" y="1152860"/>
            <a:ext cx="1322772" cy="1322772"/>
          </a:xfrm>
          <a:prstGeom prst="ellipse">
            <a:avLst/>
          </a:prstGeom>
        </p:spPr>
      </p:pic>
      <p:pic>
        <p:nvPicPr>
          <p:cNvPr id="8" name="Image 4" descr="https://oceandoc-ai.obs.ap-southeast-3.myhuaweicloud.com:443/image_1767929968302_cciqmT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22076" y="1152860"/>
            <a:ext cx="1322772" cy="1322772"/>
          </a:xfrm>
          <a:prstGeom prst="ellipse">
            <a:avLst/>
          </a:prstGeom>
        </p:spPr>
      </p:pic>
      <p:pic>
        <p:nvPicPr>
          <p:cNvPr id="9" name="Image 5" descr="https://oceandoc-ai.obs.ap-southeast-3.myhuaweicloud.com:443/image_1767929971820_sI203b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245001" y="1152860"/>
            <a:ext cx="1322772" cy="1322772"/>
          </a:xfrm>
          <a:prstGeom prst="ellipse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393347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1" name="Text 3"/>
          <p:cNvSpPr/>
          <p:nvPr/>
        </p:nvSpPr>
        <p:spPr>
          <a:xfrm>
            <a:off x="331642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Shape 4"/>
          <p:cNvSpPr/>
          <p:nvPr/>
        </p:nvSpPr>
        <p:spPr>
          <a:xfrm>
            <a:off x="2616272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3" name="Text 5"/>
          <p:cNvSpPr/>
          <p:nvPr/>
        </p:nvSpPr>
        <p:spPr>
          <a:xfrm>
            <a:off x="2554567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40" dirty="0"/>
          </a:p>
        </p:txBody>
      </p:sp>
      <p:sp>
        <p:nvSpPr>
          <p:cNvPr id="14" name="Shape 6"/>
          <p:cNvSpPr/>
          <p:nvPr/>
        </p:nvSpPr>
        <p:spPr>
          <a:xfrm>
            <a:off x="4839196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5" name="Text 7"/>
          <p:cNvSpPr/>
          <p:nvPr/>
        </p:nvSpPr>
        <p:spPr>
          <a:xfrm>
            <a:off x="4777491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40" dirty="0"/>
          </a:p>
        </p:txBody>
      </p:sp>
      <p:sp>
        <p:nvSpPr>
          <p:cNvPr id="16" name="Shape 8"/>
          <p:cNvSpPr/>
          <p:nvPr/>
        </p:nvSpPr>
        <p:spPr>
          <a:xfrm>
            <a:off x="7062121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7" name="Text 9"/>
          <p:cNvSpPr/>
          <p:nvPr/>
        </p:nvSpPr>
        <p:spPr>
          <a:xfrm>
            <a:off x="7000416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279514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Copy, Move, Delete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279514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Essential file operations for organizing digital content and managing workspace efficiently.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2502439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Recycle Bin Functions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2502439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Temporary storage for deleted files allowing recovery of accidentally removed content.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4725363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Search Methods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4725363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Tools to locate files using names, dates, or content filters across storage locations.</a:t>
            </a:r>
            <a:endParaRPr lang="en-US" sz="1440" dirty="0"/>
          </a:p>
        </p:txBody>
      </p:sp>
      <p:sp>
        <p:nvSpPr>
          <p:cNvPr id="24" name="Text 16"/>
          <p:cNvSpPr/>
          <p:nvPr/>
        </p:nvSpPr>
        <p:spPr>
          <a:xfrm>
            <a:off x="6948288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Safe USB Handling</a:t>
            </a:r>
            <a:endParaRPr lang="en-US" sz="1440" dirty="0"/>
          </a:p>
        </p:txBody>
      </p:sp>
      <p:sp>
        <p:nvSpPr>
          <p:cNvPr id="25" name="Text 17"/>
          <p:cNvSpPr/>
          <p:nvPr/>
        </p:nvSpPr>
        <p:spPr>
          <a:xfrm>
            <a:off x="6948288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Proper connection and ejection procedures to prevent data loss when using external drives.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Storage management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96996" y="977980"/>
            <a:ext cx="8709281" cy="3832087"/>
          </a:xfrm>
          <a:custGeom>
            <a:avLst/>
            <a:gdLst/>
            <a:ahLst/>
            <a:cxnLst/>
            <a:rect l="l" t="t" r="r" b="b"/>
            <a:pathLst>
              <a:path w="8709281" h="3832087">
                <a:moveTo>
                  <a:pt x="274199" y="0"/>
                </a:moveTo>
                <a:moveTo>
                  <a:pt x="274199" y="0"/>
                </a:moveTo>
                <a:lnTo>
                  <a:pt x="8435082" y="0"/>
                </a:lnTo>
                <a:quadBezTo>
                  <a:pt x="8709281" y="0"/>
                  <a:pt x="8709281" y="274199"/>
                </a:quadBezTo>
                <a:lnTo>
                  <a:pt x="8709281" y="3557888"/>
                </a:lnTo>
                <a:quadBezTo>
                  <a:pt x="8709281" y="3832087"/>
                  <a:pt x="8435082" y="3832087"/>
                </a:quadBezTo>
                <a:lnTo>
                  <a:pt x="274199" y="3832087"/>
                </a:lnTo>
                <a:quadBezTo>
                  <a:pt x="0" y="3832087"/>
                  <a:pt x="0" y="3557888"/>
                </a:quadBezTo>
                <a:lnTo>
                  <a:pt x="0" y="274199"/>
                </a:lnTo>
                <a:quadBezTo>
                  <a:pt x="0" y="0"/>
                  <a:pt x="274199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" dist="38100" dir="2700000" algn="bl" rotWithShape="0">
              <a:srgbClr val="808080">
                <a:alpha val="14902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00916" y="1903574"/>
            <a:ext cx="1886833" cy="534020"/>
          </a:xfrm>
          <a:custGeom>
            <a:avLst/>
            <a:gdLst/>
            <a:ahLst/>
            <a:cxnLst/>
            <a:rect l="l" t="t" r="r" b="b"/>
            <a:pathLst>
              <a:path w="1886833" h="534020">
                <a:moveTo>
                  <a:pt x="222836" y="0"/>
                </a:moveTo>
                <a:moveTo>
                  <a:pt x="222836" y="0"/>
                </a:moveTo>
                <a:lnTo>
                  <a:pt x="1663997" y="0"/>
                </a:lnTo>
                <a:quadBezTo>
                  <a:pt x="1886833" y="0"/>
                  <a:pt x="1886833" y="222836"/>
                </a:quadBezTo>
                <a:lnTo>
                  <a:pt x="1886833" y="311184"/>
                </a:lnTo>
                <a:quadBezTo>
                  <a:pt x="1886833" y="534020"/>
                  <a:pt x="1663997" y="534020"/>
                </a:quadBezTo>
                <a:lnTo>
                  <a:pt x="222836" y="534020"/>
                </a:lnTo>
                <a:quadBezTo>
                  <a:pt x="0" y="534020"/>
                  <a:pt x="0" y="311184"/>
                </a:quadBezTo>
                <a:lnTo>
                  <a:pt x="0" y="222836"/>
                </a:lnTo>
                <a:quadBezTo>
                  <a:pt x="0" y="0"/>
                  <a:pt x="222836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8" name="Shape 4"/>
          <p:cNvSpPr/>
          <p:nvPr/>
        </p:nvSpPr>
        <p:spPr>
          <a:xfrm>
            <a:off x="793720" y="2601915"/>
            <a:ext cx="1701225" cy="0"/>
          </a:xfrm>
          <a:custGeom>
            <a:avLst/>
            <a:gdLst/>
            <a:ahLst/>
            <a:cxnLst/>
            <a:rect l="l" t="t" r="r" b="b"/>
            <a:pathLst>
              <a:path w="1701225">
                <a:moveTo>
                  <a:pt x="0" y="0"/>
                </a:moveTo>
                <a:moveTo>
                  <a:pt x="0" y="0"/>
                </a:moveTo>
                <a:lnTo>
                  <a:pt x="1701225" y="0"/>
                </a:lnTo>
              </a:path>
            </a:pathLst>
          </a:custGeom>
          <a:noFill/>
          <a:ln w="9525">
            <a:solidFill>
              <a:srgbClr val="5049D5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5"/>
          <p:cNvSpPr/>
          <p:nvPr/>
        </p:nvSpPr>
        <p:spPr>
          <a:xfrm>
            <a:off x="794786" y="1048744"/>
            <a:ext cx="169909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60" b="1" i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40" dirty="0"/>
          </a:p>
        </p:txBody>
      </p:sp>
      <p:sp>
        <p:nvSpPr>
          <p:cNvPr id="10" name="Shape 6"/>
          <p:cNvSpPr/>
          <p:nvPr/>
        </p:nvSpPr>
        <p:spPr>
          <a:xfrm>
            <a:off x="2696868" y="1903574"/>
            <a:ext cx="1886833" cy="534020"/>
          </a:xfrm>
          <a:custGeom>
            <a:avLst/>
            <a:gdLst/>
            <a:ahLst/>
            <a:cxnLst/>
            <a:rect l="l" t="t" r="r" b="b"/>
            <a:pathLst>
              <a:path w="1886833" h="534020">
                <a:moveTo>
                  <a:pt x="222836" y="0"/>
                </a:moveTo>
                <a:moveTo>
                  <a:pt x="222836" y="0"/>
                </a:moveTo>
                <a:lnTo>
                  <a:pt x="1663997" y="0"/>
                </a:lnTo>
                <a:quadBezTo>
                  <a:pt x="1886833" y="0"/>
                  <a:pt x="1886833" y="222836"/>
                </a:quadBezTo>
                <a:lnTo>
                  <a:pt x="1886833" y="311184"/>
                </a:lnTo>
                <a:quadBezTo>
                  <a:pt x="1886833" y="534020"/>
                  <a:pt x="1663997" y="534020"/>
                </a:quadBezTo>
                <a:lnTo>
                  <a:pt x="222836" y="534020"/>
                </a:lnTo>
                <a:quadBezTo>
                  <a:pt x="0" y="534020"/>
                  <a:pt x="0" y="311184"/>
                </a:quadBezTo>
                <a:lnTo>
                  <a:pt x="0" y="222836"/>
                </a:lnTo>
                <a:quadBezTo>
                  <a:pt x="0" y="0"/>
                  <a:pt x="222836" y="0"/>
                </a:quadBez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1" name="Shape 7"/>
          <p:cNvSpPr/>
          <p:nvPr/>
        </p:nvSpPr>
        <p:spPr>
          <a:xfrm>
            <a:off x="2789672" y="2601915"/>
            <a:ext cx="1701225" cy="0"/>
          </a:xfrm>
          <a:custGeom>
            <a:avLst/>
            <a:gdLst/>
            <a:ahLst/>
            <a:cxnLst/>
            <a:rect l="l" t="t" r="r" b="b"/>
            <a:pathLst>
              <a:path w="1701225">
                <a:moveTo>
                  <a:pt x="0" y="0"/>
                </a:moveTo>
                <a:moveTo>
                  <a:pt x="0" y="0"/>
                </a:moveTo>
                <a:lnTo>
                  <a:pt x="1701225" y="0"/>
                </a:lnTo>
              </a:path>
            </a:pathLst>
          </a:custGeom>
          <a:noFill/>
          <a:ln w="9525">
            <a:solidFill>
              <a:srgbClr val="5049D5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8"/>
          <p:cNvSpPr/>
          <p:nvPr/>
        </p:nvSpPr>
        <p:spPr>
          <a:xfrm>
            <a:off x="2790738" y="1048744"/>
            <a:ext cx="169909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60" b="1" i="1" dirty="0">
                <a:solidFill>
                  <a:srgbClr val="519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40" dirty="0"/>
          </a:p>
        </p:txBody>
      </p:sp>
      <p:sp>
        <p:nvSpPr>
          <p:cNvPr id="13" name="Shape 9"/>
          <p:cNvSpPr/>
          <p:nvPr/>
        </p:nvSpPr>
        <p:spPr>
          <a:xfrm>
            <a:off x="4692821" y="1903574"/>
            <a:ext cx="1886833" cy="534020"/>
          </a:xfrm>
          <a:custGeom>
            <a:avLst/>
            <a:gdLst/>
            <a:ahLst/>
            <a:cxnLst/>
            <a:rect l="l" t="t" r="r" b="b"/>
            <a:pathLst>
              <a:path w="1886833" h="534020">
                <a:moveTo>
                  <a:pt x="222836" y="0"/>
                </a:moveTo>
                <a:moveTo>
                  <a:pt x="222836" y="0"/>
                </a:moveTo>
                <a:lnTo>
                  <a:pt x="1663997" y="0"/>
                </a:lnTo>
                <a:quadBezTo>
                  <a:pt x="1886833" y="0"/>
                  <a:pt x="1886833" y="222836"/>
                </a:quadBezTo>
                <a:lnTo>
                  <a:pt x="1886833" y="311184"/>
                </a:lnTo>
                <a:quadBezTo>
                  <a:pt x="1886833" y="534020"/>
                  <a:pt x="1663997" y="534020"/>
                </a:quadBezTo>
                <a:lnTo>
                  <a:pt x="222836" y="534020"/>
                </a:lnTo>
                <a:quadBezTo>
                  <a:pt x="0" y="534020"/>
                  <a:pt x="0" y="311184"/>
                </a:quadBezTo>
                <a:lnTo>
                  <a:pt x="0" y="222836"/>
                </a:lnTo>
                <a:quadBezTo>
                  <a:pt x="0" y="0"/>
                  <a:pt x="222836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4" name="Shape 10"/>
          <p:cNvSpPr/>
          <p:nvPr/>
        </p:nvSpPr>
        <p:spPr>
          <a:xfrm>
            <a:off x="4785624" y="2601915"/>
            <a:ext cx="1701225" cy="0"/>
          </a:xfrm>
          <a:custGeom>
            <a:avLst/>
            <a:gdLst/>
            <a:ahLst/>
            <a:cxnLst/>
            <a:rect l="l" t="t" r="r" b="b"/>
            <a:pathLst>
              <a:path w="1701225">
                <a:moveTo>
                  <a:pt x="0" y="0"/>
                </a:moveTo>
                <a:moveTo>
                  <a:pt x="0" y="0"/>
                </a:moveTo>
                <a:lnTo>
                  <a:pt x="1701225" y="0"/>
                </a:lnTo>
              </a:path>
            </a:pathLst>
          </a:custGeom>
          <a:noFill/>
          <a:ln w="9525">
            <a:solidFill>
              <a:srgbClr val="5049D5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Text 11"/>
          <p:cNvSpPr/>
          <p:nvPr/>
        </p:nvSpPr>
        <p:spPr>
          <a:xfrm>
            <a:off x="4786690" y="1048744"/>
            <a:ext cx="169909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60" b="1" i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40" dirty="0"/>
          </a:p>
        </p:txBody>
      </p:sp>
      <p:sp>
        <p:nvSpPr>
          <p:cNvPr id="16" name="Shape 12"/>
          <p:cNvSpPr/>
          <p:nvPr/>
        </p:nvSpPr>
        <p:spPr>
          <a:xfrm>
            <a:off x="6688773" y="1903574"/>
            <a:ext cx="1886833" cy="534020"/>
          </a:xfrm>
          <a:custGeom>
            <a:avLst/>
            <a:gdLst/>
            <a:ahLst/>
            <a:cxnLst/>
            <a:rect l="l" t="t" r="r" b="b"/>
            <a:pathLst>
              <a:path w="1886833" h="534020">
                <a:moveTo>
                  <a:pt x="222836" y="0"/>
                </a:moveTo>
                <a:moveTo>
                  <a:pt x="222836" y="0"/>
                </a:moveTo>
                <a:lnTo>
                  <a:pt x="1663997" y="0"/>
                </a:lnTo>
                <a:quadBezTo>
                  <a:pt x="1886833" y="0"/>
                  <a:pt x="1886833" y="222836"/>
                </a:quadBezTo>
                <a:lnTo>
                  <a:pt x="1886833" y="311184"/>
                </a:lnTo>
                <a:quadBezTo>
                  <a:pt x="1886833" y="534020"/>
                  <a:pt x="1663997" y="534020"/>
                </a:quadBezTo>
                <a:lnTo>
                  <a:pt x="222836" y="534020"/>
                </a:lnTo>
                <a:quadBezTo>
                  <a:pt x="0" y="534020"/>
                  <a:pt x="0" y="311184"/>
                </a:quadBezTo>
                <a:lnTo>
                  <a:pt x="0" y="222836"/>
                </a:lnTo>
                <a:quadBezTo>
                  <a:pt x="0" y="0"/>
                  <a:pt x="222836" y="0"/>
                </a:quadBez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7" name="Shape 13"/>
          <p:cNvSpPr/>
          <p:nvPr/>
        </p:nvSpPr>
        <p:spPr>
          <a:xfrm>
            <a:off x="6781577" y="2601915"/>
            <a:ext cx="1701225" cy="0"/>
          </a:xfrm>
          <a:custGeom>
            <a:avLst/>
            <a:gdLst/>
            <a:ahLst/>
            <a:cxnLst/>
            <a:rect l="l" t="t" r="r" b="b"/>
            <a:pathLst>
              <a:path w="1701225">
                <a:moveTo>
                  <a:pt x="0" y="0"/>
                </a:moveTo>
                <a:moveTo>
                  <a:pt x="0" y="0"/>
                </a:moveTo>
                <a:lnTo>
                  <a:pt x="1701225" y="0"/>
                </a:lnTo>
              </a:path>
            </a:pathLst>
          </a:custGeom>
          <a:noFill/>
          <a:ln w="9525">
            <a:solidFill>
              <a:srgbClr val="5049D5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Text 14"/>
          <p:cNvSpPr/>
          <p:nvPr/>
        </p:nvSpPr>
        <p:spPr>
          <a:xfrm>
            <a:off x="6782642" y="1048744"/>
            <a:ext cx="169909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60" b="1" i="1" dirty="0">
                <a:solidFill>
                  <a:srgbClr val="519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440" dirty="0"/>
          </a:p>
        </p:txBody>
      </p:sp>
      <p:sp>
        <p:nvSpPr>
          <p:cNvPr id="19" name="Text 15"/>
          <p:cNvSpPr/>
          <p:nvPr/>
        </p:nvSpPr>
        <p:spPr>
          <a:xfrm>
            <a:off x="700916" y="1903574"/>
            <a:ext cx="1886833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Internal vs External Storage</a:t>
            </a:r>
            <a:endParaRPr lang="en-US" sz="1440" dirty="0"/>
          </a:p>
        </p:txBody>
      </p:sp>
      <p:sp>
        <p:nvSpPr>
          <p:cNvPr id="20" name="Text 16"/>
          <p:cNvSpPr/>
          <p:nvPr/>
        </p:nvSpPr>
        <p:spPr>
          <a:xfrm>
            <a:off x="688807" y="2627039"/>
            <a:ext cx="1911051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Different storage types with varying capacities, speeds, and portability options for computer data.</a:t>
            </a:r>
            <a:endParaRPr lang="en-US" sz="1440" dirty="0"/>
          </a:p>
        </p:txBody>
      </p:sp>
      <p:sp>
        <p:nvSpPr>
          <p:cNvPr id="21" name="Text 17"/>
          <p:cNvSpPr/>
          <p:nvPr/>
        </p:nvSpPr>
        <p:spPr>
          <a:xfrm>
            <a:off x="2696868" y="1903574"/>
            <a:ext cx="1875789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Portable Storage Options</a:t>
            </a:r>
            <a:endParaRPr lang="en-US" sz="1440" dirty="0"/>
          </a:p>
        </p:txBody>
      </p:sp>
      <p:sp>
        <p:nvSpPr>
          <p:cNvPr id="22" name="Text 18"/>
          <p:cNvSpPr/>
          <p:nvPr/>
        </p:nvSpPr>
        <p:spPr>
          <a:xfrm>
            <a:off x="2684759" y="2627039"/>
            <a:ext cx="1911051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USB drives and memory cards provide convenient data transfer between devices with easy connection.</a:t>
            </a:r>
            <a:endParaRPr lang="en-US" sz="1440" dirty="0"/>
          </a:p>
        </p:txBody>
      </p:sp>
      <p:sp>
        <p:nvSpPr>
          <p:cNvPr id="23" name="Text 19"/>
          <p:cNvSpPr/>
          <p:nvPr/>
        </p:nvSpPr>
        <p:spPr>
          <a:xfrm>
            <a:off x="4692821" y="1903574"/>
            <a:ext cx="1875789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Cloud Storage Services</a:t>
            </a:r>
            <a:endParaRPr lang="en-US" sz="1440" dirty="0"/>
          </a:p>
        </p:txBody>
      </p:sp>
      <p:sp>
        <p:nvSpPr>
          <p:cNvPr id="24" name="Text 20"/>
          <p:cNvSpPr/>
          <p:nvPr/>
        </p:nvSpPr>
        <p:spPr>
          <a:xfrm>
            <a:off x="4680711" y="2627039"/>
            <a:ext cx="1911051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Online storage platforms allowing access to files from multiple devices with internet connection.</a:t>
            </a:r>
            <a:endParaRPr lang="en-US" sz="1440" dirty="0"/>
          </a:p>
        </p:txBody>
      </p:sp>
      <p:sp>
        <p:nvSpPr>
          <p:cNvPr id="25" name="Text 21"/>
          <p:cNvSpPr/>
          <p:nvPr/>
        </p:nvSpPr>
        <p:spPr>
          <a:xfrm>
            <a:off x="6683251" y="1903574"/>
            <a:ext cx="1881311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Storage Measurements</a:t>
            </a:r>
            <a:endParaRPr lang="en-US" sz="1440" dirty="0"/>
          </a:p>
        </p:txBody>
      </p:sp>
      <p:sp>
        <p:nvSpPr>
          <p:cNvPr id="26" name="Text 22"/>
          <p:cNvSpPr/>
          <p:nvPr/>
        </p:nvSpPr>
        <p:spPr>
          <a:xfrm>
            <a:off x="6676663" y="2627039"/>
            <a:ext cx="1911051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Units like KB, MB, GB, TB measure data capacity from smallest to largest scale.</a:t>
            </a:r>
            <a:endParaRPr lang="en-US" sz="144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609" y="1483922"/>
            <a:ext cx="7431305" cy="419652"/>
          </a:xfrm>
          <a:prstGeom prst="rect">
            <a:avLst/>
          </a:prstGeom>
        </p:spPr>
      </p:pic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 installation/uninstallation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7929961479_WYmFqx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6227" y="1152860"/>
            <a:ext cx="1322772" cy="1322772"/>
          </a:xfrm>
          <a:prstGeom prst="ellipse">
            <a:avLst/>
          </a:prstGeom>
        </p:spPr>
      </p:pic>
      <p:pic>
        <p:nvPicPr>
          <p:cNvPr id="7" name="Image 3" descr="https://oceandoc-ai.obs.ap-southeast-3.myhuaweicloud.com:443/image_1767929964465_pzYSHo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799152" y="1152860"/>
            <a:ext cx="1322772" cy="1322772"/>
          </a:xfrm>
          <a:prstGeom prst="ellipse">
            <a:avLst/>
          </a:prstGeom>
        </p:spPr>
      </p:pic>
      <p:pic>
        <p:nvPicPr>
          <p:cNvPr id="8" name="Image 4" descr="https://oceandoc-ai.obs.ap-southeast-3.myhuaweicloud.com:443/image_1767929967295_RimJ4n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22076" y="1152860"/>
            <a:ext cx="1322772" cy="1322772"/>
          </a:xfrm>
          <a:prstGeom prst="ellipse">
            <a:avLst/>
          </a:prstGeom>
        </p:spPr>
      </p:pic>
      <p:pic>
        <p:nvPicPr>
          <p:cNvPr id="9" name="Image 5" descr="https://oceandoc-ai.obs.ap-southeast-3.myhuaweicloud.com:443/image_1767929970947_nmgGk0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245001" y="1152860"/>
            <a:ext cx="1322772" cy="1322772"/>
          </a:xfrm>
          <a:prstGeom prst="ellipse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393347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1" name="Text 3"/>
          <p:cNvSpPr/>
          <p:nvPr/>
        </p:nvSpPr>
        <p:spPr>
          <a:xfrm>
            <a:off x="331642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Shape 4"/>
          <p:cNvSpPr/>
          <p:nvPr/>
        </p:nvSpPr>
        <p:spPr>
          <a:xfrm>
            <a:off x="2616272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3" name="Text 5"/>
          <p:cNvSpPr/>
          <p:nvPr/>
        </p:nvSpPr>
        <p:spPr>
          <a:xfrm>
            <a:off x="2554567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40" dirty="0"/>
          </a:p>
        </p:txBody>
      </p:sp>
      <p:sp>
        <p:nvSpPr>
          <p:cNvPr id="14" name="Shape 6"/>
          <p:cNvSpPr/>
          <p:nvPr/>
        </p:nvSpPr>
        <p:spPr>
          <a:xfrm>
            <a:off x="4839196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5" name="Text 7"/>
          <p:cNvSpPr/>
          <p:nvPr/>
        </p:nvSpPr>
        <p:spPr>
          <a:xfrm>
            <a:off x="4777491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40" dirty="0"/>
          </a:p>
        </p:txBody>
      </p:sp>
      <p:sp>
        <p:nvSpPr>
          <p:cNvPr id="16" name="Shape 8"/>
          <p:cNvSpPr/>
          <p:nvPr/>
        </p:nvSpPr>
        <p:spPr>
          <a:xfrm>
            <a:off x="7062121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7" name="Text 9"/>
          <p:cNvSpPr/>
          <p:nvPr/>
        </p:nvSpPr>
        <p:spPr>
          <a:xfrm>
            <a:off x="7000416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279514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Installing applications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279514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Download from Microsoft Store or external sources and follow installation wizard steps.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2502439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Uninstalling properly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2502439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Remove programs using Control Panel or Settings to prevent leftover files.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4725363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Software updates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4725363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Regular updates improve security, fix bugs, and add new features.</a:t>
            </a:r>
            <a:endParaRPr lang="en-US" sz="1440" dirty="0"/>
          </a:p>
        </p:txBody>
      </p:sp>
      <p:sp>
        <p:nvSpPr>
          <p:cNvPr id="24" name="Text 16"/>
          <p:cNvSpPr/>
          <p:nvPr/>
        </p:nvSpPr>
        <p:spPr>
          <a:xfrm>
            <a:off x="6948288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Screenshot methods</a:t>
            </a:r>
            <a:endParaRPr lang="en-US" sz="1440" dirty="0"/>
          </a:p>
        </p:txBody>
      </p:sp>
      <p:sp>
        <p:nvSpPr>
          <p:cNvPr id="25" name="Text 17"/>
          <p:cNvSpPr/>
          <p:nvPr/>
        </p:nvSpPr>
        <p:spPr>
          <a:xfrm>
            <a:off x="6948288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Capture screens using Print Screen, Snipping Tool, or Win+Shift+S keyboard shortcut.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15396" y="1666794"/>
            <a:ext cx="4313208" cy="11795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040" b="1" dirty="0">
                <a:solidFill>
                  <a:srgbClr val="002D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Thanks！</a:t>
            </a:r>
            <a:endParaRPr lang="en-US" sz="1440" dirty="0"/>
          </a:p>
        </p:txBody>
      </p:sp>
    </p:spTree>
  </p:cSld>
  <p:clrMapOvr>
    <a:masterClrMapping/>
  </p:clrMapOvr>
  <p:transition spd="slow" advTm="3000">
    <p:push dir="u"/>
    <p:sndAc>
      <p:stSnd>
        <p:snd r:embed="rId3" name="bomb.wav"/>
      </p:stSnd>
    </p:sndAc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80</TotalTime>
  <Words>1121</Words>
  <Application>Microsoft Office PowerPoint</Application>
  <PresentationFormat>On-screen Show (16:9)</PresentationFormat>
  <Paragraphs>193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Microsoft Yahei</vt:lpstr>
      <vt:lpstr>Arial</vt:lpstr>
      <vt:lpstr>Gill Sans MT</vt:lpstr>
      <vt:lpstr>Noto Sans</vt:lpstr>
      <vt:lpstr>Noto Sans SC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paul nyarotso</cp:lastModifiedBy>
  <cp:revision>4</cp:revision>
  <dcterms:created xsi:type="dcterms:W3CDTF">2026-01-09T03:40:08Z</dcterms:created>
  <dcterms:modified xsi:type="dcterms:W3CDTF">2026-04-11T12:32:36Z</dcterms:modified>
</cp:coreProperties>
</file>