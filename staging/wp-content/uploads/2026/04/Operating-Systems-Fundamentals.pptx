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jpg"/><Relationship Id="rId10" Type="http://schemas.openxmlformats.org/officeDocument/2006/relationships/image" Target="../media/image-6-10.jpg"/><Relationship Id="rId11" Type="http://schemas.openxmlformats.org/officeDocument/2006/relationships/image" Target="../media/image-6-11.jp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image" Target="../media/image-10-6.jpg"/><Relationship Id="rId7" Type="http://schemas.openxmlformats.org/officeDocument/2006/relationships/image" Target="../media/image-10-7.jp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jp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1843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8716" y="2753503"/>
            <a:ext cx="1626568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PAUL NYAROTSO</a:t>
            </a:r>
            <a:endParaRPr lang="en-US" sz="1440" dirty="0"/>
          </a:p>
        </p:txBody>
      </p:sp>
      <p:sp>
        <p:nvSpPr>
          <p:cNvPr id="4" name="Shape 1"/>
          <p:cNvSpPr/>
          <p:nvPr/>
        </p:nvSpPr>
        <p:spPr>
          <a:xfrm>
            <a:off x="2425148" y="2186311"/>
            <a:ext cx="4293704" cy="0"/>
          </a:xfrm>
          <a:custGeom>
            <a:avLst/>
            <a:gdLst/>
            <a:ahLst/>
            <a:cxnLst/>
            <a:rect l="l" t="t" r="r" b="b"/>
            <a:pathLst>
              <a:path w="4293704" h="0">
                <a:moveTo>
                  <a:pt x="0" y="0"/>
                </a:moveTo>
                <a:moveTo>
                  <a:pt x="0" y="0"/>
                </a:moveTo>
                <a:lnTo>
                  <a:pt x="4293704" y="0"/>
                </a:lnTo>
              </a:path>
            </a:pathLst>
          </a:custGeom>
          <a:noFill/>
          <a:ln w="9525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432664" y="1401890"/>
            <a:ext cx="8278672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456" b="1" spc="72" kern="0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Systems Fundamentals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0" y="2179130"/>
            <a:ext cx="9144000" cy="4114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Functions and Operations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82838" y="344881"/>
            <a:ext cx="4778324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b="1" dirty="0">
                <a:solidFill>
                  <a:srgbClr val="4454D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266574" y="1630196"/>
            <a:ext cx="3335950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 Fundamentals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70783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099303" y="1643912"/>
            <a:ext cx="3335950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Core Functions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41083" y="1525040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267052" y="2335199"/>
            <a:ext cx="3335471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 Operations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707918" y="2216327"/>
            <a:ext cx="713232" cy="64008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9418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Operating System Fundamentals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Definition and resource management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496157" y="2983631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290510" y="1148143"/>
            <a:ext cx="2597458" cy="1623411"/>
          </a:xfrm>
          <a:custGeom>
            <a:avLst/>
            <a:gdLst/>
            <a:ahLst/>
            <a:cxnLst/>
            <a:rect l="l" t="t" r="r" b="b"/>
            <a:pathLst>
              <a:path w="2597458" h="1623411">
                <a:moveTo>
                  <a:pt x="0" y="0"/>
                </a:moveTo>
                <a:moveTo>
                  <a:pt x="0" y="0"/>
                </a:moveTo>
                <a:lnTo>
                  <a:pt x="2597458" y="0"/>
                </a:lnTo>
                <a:lnTo>
                  <a:pt x="2597458" y="1623411"/>
                </a:lnTo>
                <a:lnTo>
                  <a:pt x="0" y="1623411"/>
                </a:lnTo>
                <a:close/>
              </a:path>
            </a:pathLst>
          </a:custGeom>
          <a:solidFill>
            <a:srgbClr val="5049D5">
              <a:alpha val="1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256032" y="1148143"/>
            <a:ext cx="3036722" cy="3438144"/>
          </a:xfrm>
          <a:custGeom>
            <a:avLst/>
            <a:gdLst/>
            <a:ahLst/>
            <a:cxnLst/>
            <a:rect l="l" t="t" r="r" b="b"/>
            <a:pathLst>
              <a:path w="3036722" h="3438144">
                <a:moveTo>
                  <a:pt x="0" y="0"/>
                </a:moveTo>
                <a:moveTo>
                  <a:pt x="0" y="0"/>
                </a:moveTo>
                <a:lnTo>
                  <a:pt x="3036722" y="0"/>
                </a:lnTo>
                <a:lnTo>
                  <a:pt x="3036722" y="3438144"/>
                </a:lnTo>
                <a:lnTo>
                  <a:pt x="0" y="3438144"/>
                </a:lnTo>
                <a:close/>
              </a:path>
            </a:pathLst>
          </a:custGeom>
          <a:solidFill>
            <a:srgbClr val="5049D5">
              <a:alpha val="0"/>
            </a:srgbClr>
          </a:solidFill>
          <a:ln w="9525">
            <a:solidFill>
              <a:srgbClr val="5049D5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88939" y="2877593"/>
            <a:ext cx="2699034" cy="0"/>
          </a:xfrm>
          <a:custGeom>
            <a:avLst/>
            <a:gdLst/>
            <a:ahLst/>
            <a:cxnLst/>
            <a:rect l="l" t="t" r="r" b="b"/>
            <a:pathLst>
              <a:path w="2699034" h="0">
                <a:moveTo>
                  <a:pt x="0" y="0"/>
                </a:moveTo>
                <a:moveTo>
                  <a:pt x="0" y="0"/>
                </a:moveTo>
                <a:lnTo>
                  <a:pt x="26990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/>
          <p:nvPr/>
        </p:nvSpPr>
        <p:spPr>
          <a:xfrm>
            <a:off x="325519" y="1266110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Foundation of Computing</a:t>
            </a:r>
            <a:endParaRPr lang="en-US" sz="1440" dirty="0"/>
          </a:p>
        </p:txBody>
      </p:sp>
      <p:pic>
        <p:nvPicPr>
          <p:cNvPr id="11" name="Image 2" descr="https://oceandoc-ai.obs.ap-southeast-3.myhuaweicloud.com:443/image_1767932303601_4IKCbA.jpg">    </p:cNvPr>
          <p:cNvPicPr>
            <a:picLocks noChangeAspect="1"/>
          </p:cNvPicPr>
          <p:nvPr/>
        </p:nvPicPr>
        <p:blipFill>
          <a:blip r:embed="rId4"/>
          <a:srcRect l="0" r="0" t="18750" b="18750"/>
          <a:stretch/>
        </p:blipFill>
        <p:spPr>
          <a:xfrm>
            <a:off x="3496157" y="1148143"/>
            <a:ext cx="2597458" cy="1623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5519" y="1629459"/>
            <a:ext cx="2873624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forms essential base for all computing, enabling hardware-software interaction.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325519" y="3129464"/>
            <a:ext cx="2822506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Manager</a:t>
            </a:r>
            <a:endParaRPr lang="en-US" sz="1440" dirty="0"/>
          </a:p>
        </p:txBody>
      </p:sp>
      <p:pic>
        <p:nvPicPr>
          <p:cNvPr id="14" name="Image 3" descr="https://oceandoc-ai.obs.ap-southeast-3.myhuaweicloud.com:443/image_1767932306589_0SYH6C.jpg">    </p:cNvPr>
          <p:cNvPicPr>
            <a:picLocks noChangeAspect="1"/>
          </p:cNvPicPr>
          <p:nvPr/>
        </p:nvPicPr>
        <p:blipFill>
          <a:blip r:embed="rId5"/>
          <a:srcRect l="0" r="0" t="18750" b="18750"/>
          <a:stretch/>
        </p:blipFill>
        <p:spPr>
          <a:xfrm>
            <a:off x="6290510" y="2983631"/>
            <a:ext cx="2597458" cy="162341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5519" y="3477063"/>
            <a:ext cx="2873624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Controls CPU, memory, storage and devices efficiently for optimal system performance.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555609" y="3175184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Service Provider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3555609" y="352278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Delivers user interface, security features and networking capabilities to applications and users.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6397794" y="1357550"/>
            <a:ext cx="2382891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 Interface</a:t>
            </a:r>
            <a:endParaRPr lang="en-US" sz="1440" dirty="0"/>
          </a:p>
        </p:txBody>
      </p:sp>
      <p:sp>
        <p:nvSpPr>
          <p:cNvPr id="19" name="Text 13"/>
          <p:cNvSpPr/>
          <p:nvPr/>
        </p:nvSpPr>
        <p:spPr>
          <a:xfrm>
            <a:off x="6397794" y="1684323"/>
            <a:ext cx="2382891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Creates necessary connection between physical components and software applications.</a:t>
            </a:r>
            <a:endParaRPr lang="en-US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functions overview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32302614_cfY1I6.jpg">    </p:cNvPr>
          <p:cNvPicPr>
            <a:picLocks noChangeAspect="1"/>
          </p:cNvPicPr>
          <p:nvPr/>
        </p:nvPicPr>
        <p:blipFill>
          <a:blip r:embed="rId4"/>
          <a:srcRect l="20000" r="20000" t="0" b="0"/>
          <a:stretch/>
        </p:blipFill>
        <p:spPr>
          <a:xfrm>
            <a:off x="3509794" y="994013"/>
            <a:ext cx="2117678" cy="352946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87412" y="974750"/>
            <a:ext cx="311504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Management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287412" y="1551637"/>
            <a:ext cx="3115045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Creates processes, schedules CPU time, prevents deadlocks through resource allocation control.</a:t>
            </a:r>
            <a:endParaRPr lang="en-US" sz="1440" dirty="0"/>
          </a:p>
        </p:txBody>
      </p:sp>
      <p:sp>
        <p:nvSpPr>
          <p:cNvPr id="9" name="Text 4"/>
          <p:cNvSpPr/>
          <p:nvPr/>
        </p:nvSpPr>
        <p:spPr>
          <a:xfrm>
            <a:off x="5731434" y="974750"/>
            <a:ext cx="312515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System Management</a:t>
            </a:r>
            <a:endParaRPr lang="en-US" sz="1440" dirty="0"/>
          </a:p>
        </p:txBody>
      </p:sp>
      <p:sp>
        <p:nvSpPr>
          <p:cNvPr id="10" name="Text 5"/>
          <p:cNvSpPr/>
          <p:nvPr/>
        </p:nvSpPr>
        <p:spPr>
          <a:xfrm>
            <a:off x="5731434" y="1551637"/>
            <a:ext cx="3125154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Organizes hierarchical structures, enforces permissions, includes NTFS, HFS+, ext4.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287412" y="2931336"/>
            <a:ext cx="3115045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Management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287868" y="3484778"/>
            <a:ext cx="3115045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Allocates RAM, uses virtual memory when needed, frees memory after program closure.</a:t>
            </a:r>
            <a:endParaRPr lang="en-US" sz="1440" dirty="0"/>
          </a:p>
        </p:txBody>
      </p:sp>
      <p:sp>
        <p:nvSpPr>
          <p:cNvPr id="13" name="Text 8"/>
          <p:cNvSpPr/>
          <p:nvPr/>
        </p:nvSpPr>
        <p:spPr>
          <a:xfrm>
            <a:off x="5731434" y="2931336"/>
            <a:ext cx="312515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 Management</a:t>
            </a:r>
            <a:endParaRPr lang="en-US" sz="1440" dirty="0"/>
          </a:p>
        </p:txBody>
      </p:sp>
      <p:sp>
        <p:nvSpPr>
          <p:cNvPr id="14" name="Text 9"/>
          <p:cNvSpPr/>
          <p:nvPr/>
        </p:nvSpPr>
        <p:spPr>
          <a:xfrm>
            <a:off x="5731434" y="3484778"/>
            <a:ext cx="3125154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drivers for hardware communication, manages input/output queues.</a:t>
            </a:r>
            <a:endParaRPr lang="en-US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operating systems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63343" y="1191562"/>
            <a:ext cx="2467637" cy="3486252"/>
          </a:xfrm>
          <a:custGeom>
            <a:avLst/>
            <a:gdLst/>
            <a:ahLst/>
            <a:cxnLst/>
            <a:rect l="l" t="t" r="r" b="b"/>
            <a:pathLst>
              <a:path w="2467637" h="3486252">
                <a:moveTo>
                  <a:pt x="0" y="0"/>
                </a:moveTo>
                <a:moveTo>
                  <a:pt x="0" y="0"/>
                </a:moveTo>
                <a:lnTo>
                  <a:pt x="2467637" y="0"/>
                </a:lnTo>
                <a:lnTo>
                  <a:pt x="2467637" y="3486252"/>
                </a:lnTo>
                <a:lnTo>
                  <a:pt x="0" y="3486252"/>
                </a:lnTo>
                <a:close/>
              </a:path>
            </a:pathLst>
          </a:custGeom>
          <a:solidFill>
            <a:srgbClr val="5049D5">
              <a:alpha val="0"/>
            </a:srgbClr>
          </a:solidFill>
          <a:ln w="57150">
            <a:solidFill>
              <a:srgbClr val="5049D5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 rot="2700000">
            <a:off x="3490239" y="1248262"/>
            <a:ext cx="682110" cy="682110"/>
          </a:xfrm>
          <a:custGeom>
            <a:avLst/>
            <a:gdLst/>
            <a:ahLst/>
            <a:cxnLst/>
            <a:rect l="l" t="t" r="r" b="b"/>
            <a:pathLst>
              <a:path w="682110" h="682110">
                <a:moveTo>
                  <a:pt x="0" y="0"/>
                </a:moveTo>
                <a:moveTo>
                  <a:pt x="0" y="0"/>
                </a:moveTo>
                <a:lnTo>
                  <a:pt x="682110" y="0"/>
                </a:lnTo>
                <a:lnTo>
                  <a:pt x="682110" y="682110"/>
                </a:lnTo>
                <a:lnTo>
                  <a:pt x="0" y="682110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Shape 4"/>
          <p:cNvSpPr/>
          <p:nvPr/>
        </p:nvSpPr>
        <p:spPr>
          <a:xfrm rot="2700000">
            <a:off x="5535795" y="1321219"/>
            <a:ext cx="682110" cy="682110"/>
          </a:xfrm>
          <a:custGeom>
            <a:avLst/>
            <a:gdLst/>
            <a:ahLst/>
            <a:cxnLst/>
            <a:rect l="l" t="t" r="r" b="b"/>
            <a:pathLst>
              <a:path w="682110" h="682110">
                <a:moveTo>
                  <a:pt x="0" y="0"/>
                </a:moveTo>
                <a:moveTo>
                  <a:pt x="0" y="0"/>
                </a:moveTo>
                <a:lnTo>
                  <a:pt x="682110" y="0"/>
                </a:lnTo>
                <a:lnTo>
                  <a:pt x="682110" y="682110"/>
                </a:lnTo>
                <a:lnTo>
                  <a:pt x="0" y="682110"/>
                </a:ln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651" y="2425371"/>
            <a:ext cx="592397" cy="39146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095" y="2425371"/>
            <a:ext cx="592397" cy="391468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 rot="2700000">
            <a:off x="7594570" y="1313416"/>
            <a:ext cx="682110" cy="682110"/>
          </a:xfrm>
          <a:custGeom>
            <a:avLst/>
            <a:gdLst/>
            <a:ahLst/>
            <a:cxnLst/>
            <a:rect l="l" t="t" r="r" b="b"/>
            <a:pathLst>
              <a:path w="682110" h="682110">
                <a:moveTo>
                  <a:pt x="0" y="0"/>
                </a:moveTo>
                <a:moveTo>
                  <a:pt x="0" y="0"/>
                </a:moveTo>
                <a:lnTo>
                  <a:pt x="682110" y="0"/>
                </a:lnTo>
                <a:lnTo>
                  <a:pt x="682110" y="682110"/>
                </a:lnTo>
                <a:lnTo>
                  <a:pt x="0" y="682110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2" name="Shape 6"/>
          <p:cNvSpPr/>
          <p:nvPr/>
        </p:nvSpPr>
        <p:spPr>
          <a:xfrm>
            <a:off x="7030835" y="4677814"/>
            <a:ext cx="1809580" cy="0"/>
          </a:xfrm>
          <a:custGeom>
            <a:avLst/>
            <a:gdLst/>
            <a:ahLst/>
            <a:cxnLst/>
            <a:rect l="l" t="t" r="r" b="b"/>
            <a:pathLst>
              <a:path w="1809580" h="0">
                <a:moveTo>
                  <a:pt x="0" y="0"/>
                </a:moveTo>
                <a:moveTo>
                  <a:pt x="0" y="0"/>
                </a:moveTo>
                <a:lnTo>
                  <a:pt x="1809580" y="0"/>
                </a:lnTo>
              </a:path>
            </a:pathLst>
          </a:custGeom>
          <a:noFill/>
          <a:ln w="57150">
            <a:solidFill>
              <a:srgbClr val="5049D5">
                <a:alpha val="14902"/>
              </a:srgbClr>
            </a:solidFill>
            <a:prstDash val="solid"/>
            <a:headEnd type="none"/>
            <a:tailEnd type="none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9426" y="2425371"/>
            <a:ext cx="592397" cy="39146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972060" y="4677814"/>
            <a:ext cx="1809580" cy="0"/>
          </a:xfrm>
          <a:custGeom>
            <a:avLst/>
            <a:gdLst/>
            <a:ahLst/>
            <a:cxnLst/>
            <a:rect l="l" t="t" r="r" b="b"/>
            <a:pathLst>
              <a:path w="1809580" h="0">
                <a:moveTo>
                  <a:pt x="0" y="0"/>
                </a:moveTo>
                <a:moveTo>
                  <a:pt x="0" y="0"/>
                </a:moveTo>
                <a:lnTo>
                  <a:pt x="1809580" y="0"/>
                </a:lnTo>
              </a:path>
            </a:pathLst>
          </a:custGeom>
          <a:noFill/>
          <a:ln w="57150">
            <a:solidFill>
              <a:srgbClr val="5049D5">
                <a:alpha val="16863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8"/>
          <p:cNvSpPr/>
          <p:nvPr/>
        </p:nvSpPr>
        <p:spPr>
          <a:xfrm>
            <a:off x="2926504" y="4677814"/>
            <a:ext cx="1809580" cy="0"/>
          </a:xfrm>
          <a:custGeom>
            <a:avLst/>
            <a:gdLst/>
            <a:ahLst/>
            <a:cxnLst/>
            <a:rect l="l" t="t" r="r" b="b"/>
            <a:pathLst>
              <a:path w="1809580" h="0">
                <a:moveTo>
                  <a:pt x="0" y="0"/>
                </a:moveTo>
                <a:moveTo>
                  <a:pt x="0" y="0"/>
                </a:moveTo>
                <a:lnTo>
                  <a:pt x="1809580" y="0"/>
                </a:lnTo>
              </a:path>
            </a:pathLst>
          </a:custGeom>
          <a:noFill/>
          <a:ln w="57150">
            <a:solidFill>
              <a:srgbClr val="5049D5">
                <a:alpha val="16078"/>
              </a:srgbClr>
            </a:solidFill>
            <a:prstDash val="solid"/>
            <a:headEnd type="none"/>
            <a:tailEnd type="none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172" y="1480144"/>
            <a:ext cx="1077978" cy="1077978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277354" y="3192468"/>
            <a:ext cx="439615" cy="0"/>
          </a:xfrm>
          <a:custGeom>
            <a:avLst/>
            <a:gdLst/>
            <a:ahLst/>
            <a:cxnLst/>
            <a:rect l="l" t="t" r="r" b="b"/>
            <a:pathLst>
              <a:path w="439615" h="0">
                <a:moveTo>
                  <a:pt x="0" y="0"/>
                </a:moveTo>
                <a:moveTo>
                  <a:pt x="0" y="0"/>
                </a:moveTo>
                <a:lnTo>
                  <a:pt x="439615" y="0"/>
                </a:lnTo>
              </a:path>
            </a:pathLst>
          </a:custGeom>
          <a:noFill/>
          <a:ln w="38100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0440" y="1812412"/>
            <a:ext cx="413443" cy="413443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399010" y="2701141"/>
            <a:ext cx="2196302" cy="3540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Batch OS</a:t>
            </a:r>
            <a:endParaRPr lang="en-US" sz="1440" dirty="0"/>
          </a:p>
        </p:txBody>
      </p:sp>
      <p:pic>
        <p:nvPicPr>
          <p:cNvPr id="20" name="Image 7" descr="https://oceandoc-ai.obs.ap-southeast-3.myhuaweicloud.com:443/image_1767932301523_i6xVon.jp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3233330" y="1191721"/>
            <a:ext cx="1195928" cy="119592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398933" y="3321081"/>
            <a:ext cx="2196457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Executes jobs without user interaction, processing tasks in sequence.</a:t>
            </a:r>
            <a:endParaRPr lang="en-US" sz="1440" dirty="0"/>
          </a:p>
        </p:txBody>
      </p:sp>
      <p:sp>
        <p:nvSpPr>
          <p:cNvPr id="22" name="Text 12"/>
          <p:cNvSpPr/>
          <p:nvPr/>
        </p:nvSpPr>
        <p:spPr>
          <a:xfrm>
            <a:off x="2850706" y="2959691"/>
            <a:ext cx="1961175" cy="35406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Time-sharing OS</a:t>
            </a:r>
            <a:endParaRPr lang="en-US" sz="1440" dirty="0"/>
          </a:p>
        </p:txBody>
      </p:sp>
      <p:pic>
        <p:nvPicPr>
          <p:cNvPr id="23" name="Image 8" descr="https://oceandoc-ai.obs.ap-southeast-3.myhuaweicloud.com:443/image_1767932305225_LNNaB0.jp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278886" y="1256875"/>
            <a:ext cx="1195928" cy="119592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2886420" y="3311086"/>
            <a:ext cx="1889748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users share resources simultaneously, enabling concurrent access.</a:t>
            </a:r>
            <a:endParaRPr lang="en-US" sz="1440" dirty="0"/>
          </a:p>
        </p:txBody>
      </p:sp>
      <p:sp>
        <p:nvSpPr>
          <p:cNvPr id="25" name="Text 14"/>
          <p:cNvSpPr/>
          <p:nvPr/>
        </p:nvSpPr>
        <p:spPr>
          <a:xfrm>
            <a:off x="4931817" y="2959786"/>
            <a:ext cx="1890065" cy="3538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Distributed OS</a:t>
            </a:r>
            <a:endParaRPr lang="en-US" sz="1440" dirty="0"/>
          </a:p>
        </p:txBody>
      </p:sp>
      <p:pic>
        <p:nvPicPr>
          <p:cNvPr id="26" name="Image 9" descr="https://oceandoc-ai.obs.ap-southeast-3.myhuaweicloud.com:443/image_1767932308887_MmmVG6.jp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337661" y="1249072"/>
            <a:ext cx="1195928" cy="119592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4931817" y="3311086"/>
            <a:ext cx="1890065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multiple computers as one system, coordinating resources across networks.</a:t>
            </a:r>
            <a:endParaRPr lang="en-US" sz="1440" dirty="0"/>
          </a:p>
        </p:txBody>
      </p:sp>
      <p:sp>
        <p:nvSpPr>
          <p:cNvPr id="28" name="Text 16"/>
          <p:cNvSpPr/>
          <p:nvPr/>
        </p:nvSpPr>
        <p:spPr>
          <a:xfrm>
            <a:off x="6990592" y="2959786"/>
            <a:ext cx="1890065" cy="35387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Embedded OS</a:t>
            </a:r>
            <a:endParaRPr lang="en-US" sz="1440" dirty="0"/>
          </a:p>
        </p:txBody>
      </p:sp>
      <p:sp>
        <p:nvSpPr>
          <p:cNvPr id="29" name="Text 17"/>
          <p:cNvSpPr/>
          <p:nvPr/>
        </p:nvSpPr>
        <p:spPr>
          <a:xfrm>
            <a:off x="6990592" y="3311086"/>
            <a:ext cx="1890065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Runs on specialized devices like ATMs, cars, and medical equipment.</a:t>
            </a:r>
            <a:endParaRPr lang="en-US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Examples in practice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001" y="998503"/>
            <a:ext cx="2033674" cy="387497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35904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FFFFFF">
                <a:alpha val="47843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Shape 3"/>
          <p:cNvSpPr/>
          <p:nvPr/>
        </p:nvSpPr>
        <p:spPr>
          <a:xfrm>
            <a:off x="881056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962" y="3981428"/>
            <a:ext cx="385754" cy="385754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9283" y="998503"/>
            <a:ext cx="2033674" cy="3874977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2841186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5049D5">
                <a:alpha val="4902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5"/>
          <p:cNvSpPr/>
          <p:nvPr/>
        </p:nvSpPr>
        <p:spPr>
          <a:xfrm>
            <a:off x="3086338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4565" y="998503"/>
            <a:ext cx="2033674" cy="3874977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5046468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FFFFFF">
                <a:alpha val="47843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Shape 7"/>
          <p:cNvSpPr/>
          <p:nvPr/>
        </p:nvSpPr>
        <p:spPr>
          <a:xfrm>
            <a:off x="5291620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9847" y="998503"/>
            <a:ext cx="2033674" cy="3874977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7251750" y="1931902"/>
            <a:ext cx="1249869" cy="0"/>
          </a:xfrm>
          <a:custGeom>
            <a:avLst/>
            <a:gdLst/>
            <a:ahLst/>
            <a:cxnLst/>
            <a:rect l="l" t="t" r="r" b="b"/>
            <a:pathLst>
              <a:path w="1249869" h="0">
                <a:moveTo>
                  <a:pt x="0" y="0"/>
                </a:moveTo>
                <a:moveTo>
                  <a:pt x="0" y="0"/>
                </a:moveTo>
                <a:lnTo>
                  <a:pt x="1249869" y="0"/>
                </a:lnTo>
              </a:path>
            </a:pathLst>
          </a:custGeom>
          <a:noFill/>
          <a:ln w="10268">
            <a:solidFill>
              <a:srgbClr val="5049D5">
                <a:alpha val="4902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Shape 9"/>
          <p:cNvSpPr/>
          <p:nvPr/>
        </p:nvSpPr>
        <p:spPr>
          <a:xfrm>
            <a:off x="7496902" y="3794523"/>
            <a:ext cx="759564" cy="759564"/>
          </a:xfrm>
          <a:custGeom>
            <a:avLst/>
            <a:gdLst/>
            <a:ahLst/>
            <a:cxnLst/>
            <a:rect l="l" t="t" r="r" b="b"/>
            <a:pathLst>
              <a:path w="759564" h="759564">
                <a:moveTo>
                  <a:pt x="379782" y="0"/>
                </a:moveTo>
                <a:moveTo>
                  <a:pt x="379782" y="0"/>
                </a:moveTo>
                <a:cubicBezTo>
                  <a:pt x="589389" y="0"/>
                  <a:pt x="759564" y="170175"/>
                  <a:pt x="759564" y="379782"/>
                </a:cubicBezTo>
                <a:cubicBezTo>
                  <a:pt x="759564" y="589389"/>
                  <a:pt x="589389" y="759564"/>
                  <a:pt x="379782" y="759564"/>
                </a:cubicBezTo>
                <a:cubicBezTo>
                  <a:pt x="170175" y="759564"/>
                  <a:pt x="0" y="589389"/>
                  <a:pt x="0" y="379782"/>
                </a:cubicBezTo>
                <a:cubicBezTo>
                  <a:pt x="0" y="170175"/>
                  <a:pt x="170175" y="0"/>
                  <a:pt x="379782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9" name="Text 10"/>
          <p:cNvSpPr/>
          <p:nvPr/>
        </p:nvSpPr>
        <p:spPr>
          <a:xfrm>
            <a:off x="340666" y="1057434"/>
            <a:ext cx="1840346" cy="86049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Windows dominates business computing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340666" y="1917928"/>
            <a:ext cx="184034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Preferred for enterprise environments due to compatibility and widespread software support.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2545777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macOS for creatives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2545947" y="1917928"/>
            <a:ext cx="184034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Popular in design, video, and music industries for specialized software and intuitive interface.</a:t>
            </a:r>
            <a:endParaRPr lang="en-US" sz="1440" dirty="0"/>
          </a:p>
        </p:txBody>
      </p:sp>
      <p:sp>
        <p:nvSpPr>
          <p:cNvPr id="23" name="Text 14"/>
          <p:cNvSpPr/>
          <p:nvPr/>
        </p:nvSpPr>
        <p:spPr>
          <a:xfrm>
            <a:off x="4751058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powers servers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4751229" y="1917928"/>
            <a:ext cx="1840346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Runs most web servers, supercomputers, and cybersecurity tools due to stability and customization.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6956340" y="1057434"/>
            <a:ext cx="1840687" cy="86045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Android/iOS mobile dominance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6956511" y="1917928"/>
            <a:ext cx="1840346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operating systems control billions of smartphones worldwide with app-centric ecosystems.</a:t>
            </a:r>
            <a:endParaRPr lang="en-US" sz="144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8258" y="4026443"/>
            <a:ext cx="295724" cy="295724"/>
          </a:xfrm>
          <a:prstGeom prst="rect">
            <a:avLst/>
          </a:prstGeom>
        </p:spPr>
      </p:pic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9609" y="3957441"/>
            <a:ext cx="443585" cy="433728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8965" y="4016586"/>
            <a:ext cx="315439" cy="315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Core Functions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management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31928" y="999968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5049D5">
              <a:alpha val="9020"/>
            </a:srgbClr>
          </a:solidFill>
          <a:ln w="9525">
            <a:solidFill>
              <a:srgbClr val="5049D5">
                <a:alpha val="43137"/>
              </a:srgbClr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731" y="1152829"/>
            <a:ext cx="1990685" cy="53295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311248" y="1060395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9" name="Shape 4"/>
          <p:cNvSpPr/>
          <p:nvPr/>
        </p:nvSpPr>
        <p:spPr>
          <a:xfrm>
            <a:off x="619036" y="1838647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0" name="Text 5"/>
          <p:cNvSpPr/>
          <p:nvPr/>
        </p:nvSpPr>
        <p:spPr>
          <a:xfrm>
            <a:off x="7668574" y="990824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6"/>
          <p:cNvSpPr/>
          <p:nvPr/>
        </p:nvSpPr>
        <p:spPr>
          <a:xfrm>
            <a:off x="407227" y="1930712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5049D5">
              <a:alpha val="9020"/>
            </a:srgbClr>
          </a:solidFill>
          <a:ln w="9525">
            <a:solidFill>
              <a:srgbClr val="5049D5">
                <a:alpha val="43137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030" y="2083573"/>
            <a:ext cx="1990685" cy="532957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286547" y="1991139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196FF"/>
            </a:solidFill>
            <a:prstDash val="solid"/>
            <a:headEnd type="none"/>
            <a:tailEnd type="arrow"/>
          </a:ln>
        </p:spPr>
      </p:sp>
      <p:sp>
        <p:nvSpPr>
          <p:cNvPr id="14" name="Shape 8"/>
          <p:cNvSpPr/>
          <p:nvPr/>
        </p:nvSpPr>
        <p:spPr>
          <a:xfrm>
            <a:off x="594335" y="27693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5196FF"/>
            </a:solidFill>
            <a:prstDash val="solid"/>
            <a:headEnd type="none"/>
            <a:tailEnd type="none"/>
          </a:ln>
        </p:spPr>
      </p:sp>
      <p:sp>
        <p:nvSpPr>
          <p:cNvPr id="15" name="Text 9"/>
          <p:cNvSpPr/>
          <p:nvPr/>
        </p:nvSpPr>
        <p:spPr>
          <a:xfrm>
            <a:off x="7643873" y="1921568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6" name="Shape 10"/>
          <p:cNvSpPr/>
          <p:nvPr/>
        </p:nvSpPr>
        <p:spPr>
          <a:xfrm>
            <a:off x="407227" y="2850413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5049D5">
              <a:alpha val="9020"/>
            </a:srgbClr>
          </a:solidFill>
          <a:ln w="9525">
            <a:solidFill>
              <a:srgbClr val="5049D5">
                <a:alpha val="43137"/>
              </a:srgbClr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30" y="3003274"/>
            <a:ext cx="1990685" cy="532957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286547" y="2910840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19" name="Shape 12"/>
          <p:cNvSpPr/>
          <p:nvPr/>
        </p:nvSpPr>
        <p:spPr>
          <a:xfrm>
            <a:off x="594335" y="36890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20" name="Text 13"/>
          <p:cNvSpPr/>
          <p:nvPr/>
        </p:nvSpPr>
        <p:spPr>
          <a:xfrm>
            <a:off x="7643873" y="2841269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21" name="Shape 14"/>
          <p:cNvSpPr/>
          <p:nvPr/>
        </p:nvSpPr>
        <p:spPr>
          <a:xfrm>
            <a:off x="382526" y="3778065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5049D5">
              <a:alpha val="9020"/>
            </a:srgbClr>
          </a:solidFill>
          <a:ln w="9525">
            <a:solidFill>
              <a:srgbClr val="5049D5">
                <a:alpha val="43137"/>
              </a:srgbClr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329" y="3930926"/>
            <a:ext cx="1990685" cy="53295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61846" y="3838492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196FF"/>
            </a:solidFill>
            <a:prstDash val="solid"/>
            <a:headEnd type="none"/>
            <a:tailEnd type="arrow"/>
          </a:ln>
        </p:spPr>
      </p:sp>
      <p:sp>
        <p:nvSpPr>
          <p:cNvPr id="24" name="Shape 16"/>
          <p:cNvSpPr/>
          <p:nvPr/>
        </p:nvSpPr>
        <p:spPr>
          <a:xfrm>
            <a:off x="569634" y="4616745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5196FF"/>
            </a:solidFill>
            <a:prstDash val="solid"/>
            <a:headEnd type="none"/>
            <a:tailEnd type="none"/>
          </a:ln>
        </p:spPr>
      </p:sp>
      <p:sp>
        <p:nvSpPr>
          <p:cNvPr id="25" name="Text 17"/>
          <p:cNvSpPr/>
          <p:nvPr/>
        </p:nvSpPr>
        <p:spPr>
          <a:xfrm>
            <a:off x="7619172" y="3768921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541731" y="1152829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processes</a:t>
            </a:r>
            <a:endParaRPr lang="en-US" sz="1440" dirty="0"/>
          </a:p>
        </p:txBody>
      </p:sp>
      <p:sp>
        <p:nvSpPr>
          <p:cNvPr id="27" name="Text 19"/>
          <p:cNvSpPr/>
          <p:nvPr/>
        </p:nvSpPr>
        <p:spPr>
          <a:xfrm>
            <a:off x="2576224" y="1117556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creates processes when applications open, managing their lifecycle from start to termination.</a:t>
            </a:r>
            <a:endParaRPr lang="en-US" sz="1440" dirty="0"/>
          </a:p>
        </p:txBody>
      </p:sp>
      <p:sp>
        <p:nvSpPr>
          <p:cNvPr id="28" name="Text 20"/>
          <p:cNvSpPr/>
          <p:nvPr/>
        </p:nvSpPr>
        <p:spPr>
          <a:xfrm>
            <a:off x="517030" y="2083573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CPU scheduling</a:t>
            </a:r>
            <a:endParaRPr lang="en-US" sz="1440" dirty="0"/>
          </a:p>
        </p:txBody>
      </p:sp>
      <p:sp>
        <p:nvSpPr>
          <p:cNvPr id="29" name="Text 21"/>
          <p:cNvSpPr/>
          <p:nvPr/>
        </p:nvSpPr>
        <p:spPr>
          <a:xfrm>
            <a:off x="2551523" y="2048300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Allocates processor time using algorithms like Round Robin and Priority Scheduling for efficient multitasking.</a:t>
            </a:r>
            <a:endParaRPr lang="en-US" sz="1440" dirty="0"/>
          </a:p>
        </p:txBody>
      </p:sp>
      <p:sp>
        <p:nvSpPr>
          <p:cNvPr id="30" name="Text 22"/>
          <p:cNvSpPr/>
          <p:nvPr/>
        </p:nvSpPr>
        <p:spPr>
          <a:xfrm>
            <a:off x="517030" y="3003274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allocation</a:t>
            </a:r>
            <a:endParaRPr lang="en-US" sz="1440" dirty="0"/>
          </a:p>
        </p:txBody>
      </p:sp>
      <p:sp>
        <p:nvSpPr>
          <p:cNvPr id="31" name="Text 23"/>
          <p:cNvSpPr/>
          <p:nvPr/>
        </p:nvSpPr>
        <p:spPr>
          <a:xfrm>
            <a:off x="2551523" y="2968001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Controls access to system resources, preventing deadlocks and ensuring fair distribution among competing processes.</a:t>
            </a:r>
            <a:endParaRPr lang="en-US" sz="1440" dirty="0"/>
          </a:p>
        </p:txBody>
      </p:sp>
      <p:sp>
        <p:nvSpPr>
          <p:cNvPr id="32" name="Text 24"/>
          <p:cNvSpPr/>
          <p:nvPr/>
        </p:nvSpPr>
        <p:spPr>
          <a:xfrm>
            <a:off x="492329" y="3930926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monitoring</a:t>
            </a:r>
            <a:endParaRPr lang="en-US" sz="1440" dirty="0"/>
          </a:p>
        </p:txBody>
      </p:sp>
      <p:sp>
        <p:nvSpPr>
          <p:cNvPr id="33" name="Text 25"/>
          <p:cNvSpPr/>
          <p:nvPr/>
        </p:nvSpPr>
        <p:spPr>
          <a:xfrm>
            <a:off x="2526821" y="3895653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Tracks process performance, status, and resource usage to maintain system stability and responsiveness.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and file systems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32308713_tjdgxc.jpg">    </p:cNvPr>
          <p:cNvPicPr>
            <a:picLocks noChangeAspect="1"/>
          </p:cNvPicPr>
          <p:nvPr/>
        </p:nvPicPr>
        <p:blipFill>
          <a:blip r:embed="rId4"/>
          <a:srcRect l="0" r="0" t="9839" b="9839"/>
          <a:stretch/>
        </p:blipFill>
        <p:spPr>
          <a:xfrm>
            <a:off x="270229" y="1083996"/>
            <a:ext cx="1994265" cy="1595412"/>
          </a:xfrm>
          <a:prstGeom prst="rect">
            <a:avLst/>
          </a:prstGeom>
        </p:spPr>
      </p:pic>
      <p:pic>
        <p:nvPicPr>
          <p:cNvPr id="7" name="Image 3" descr="https://oceandoc-ai.obs.ap-southeast-3.myhuaweicloud.com:443/image_1767932312525_b7Khcx.jpg">    </p:cNvPr>
          <p:cNvPicPr>
            <a:picLocks noChangeAspect="1"/>
          </p:cNvPicPr>
          <p:nvPr/>
        </p:nvPicPr>
        <p:blipFill>
          <a:blip r:embed="rId5"/>
          <a:srcRect l="0" r="0" t="9839" b="9839"/>
          <a:stretch/>
        </p:blipFill>
        <p:spPr>
          <a:xfrm>
            <a:off x="2473278" y="1083996"/>
            <a:ext cx="1994265" cy="1595412"/>
          </a:xfrm>
          <a:prstGeom prst="rect">
            <a:avLst/>
          </a:prstGeom>
        </p:spPr>
      </p:pic>
      <p:pic>
        <p:nvPicPr>
          <p:cNvPr id="8" name="Image 4" descr="https://oceandoc-ai.obs.ap-southeast-3.myhuaweicloud.com:443/image_1767932316302_rkes4h.jpg">    </p:cNvPr>
          <p:cNvPicPr>
            <a:picLocks noChangeAspect="1"/>
          </p:cNvPicPr>
          <p:nvPr/>
        </p:nvPicPr>
        <p:blipFill>
          <a:blip r:embed="rId6"/>
          <a:srcRect l="0" r="0" t="9839" b="9839"/>
          <a:stretch/>
        </p:blipFill>
        <p:spPr>
          <a:xfrm>
            <a:off x="4676328" y="1083996"/>
            <a:ext cx="1994265" cy="1595412"/>
          </a:xfrm>
          <a:prstGeom prst="rect">
            <a:avLst/>
          </a:prstGeom>
        </p:spPr>
      </p:pic>
      <p:pic>
        <p:nvPicPr>
          <p:cNvPr id="9" name="Image 5" descr="https://oceandoc-ai.obs.ap-southeast-3.myhuaweicloud.com:443/image_1767932319826_9A0w5s.jpg">    </p:cNvPr>
          <p:cNvPicPr>
            <a:picLocks noChangeAspect="1"/>
          </p:cNvPicPr>
          <p:nvPr/>
        </p:nvPicPr>
        <p:blipFill>
          <a:blip r:embed="rId7"/>
          <a:srcRect l="0" r="0" t="9839" b="9839"/>
          <a:stretch/>
        </p:blipFill>
        <p:spPr>
          <a:xfrm>
            <a:off x="6879378" y="1083996"/>
            <a:ext cx="1994265" cy="1595412"/>
          </a:xfrm>
          <a:prstGeom prst="rect">
            <a:avLst/>
          </a:prstGeom>
        </p:spPr>
      </p:pic>
      <p:sp>
        <p:nvSpPr>
          <p:cNvPr id="10" name="Shape 2"/>
          <p:cNvSpPr/>
          <p:nvPr/>
        </p:nvSpPr>
        <p:spPr>
          <a:xfrm>
            <a:off x="105667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1" name="Text 3"/>
          <p:cNvSpPr/>
          <p:nvPr/>
        </p:nvSpPr>
        <p:spPr>
          <a:xfrm>
            <a:off x="1022776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2" name="Shape 4"/>
          <p:cNvSpPr/>
          <p:nvPr/>
        </p:nvSpPr>
        <p:spPr>
          <a:xfrm>
            <a:off x="325972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3" name="Shape 5"/>
          <p:cNvSpPr/>
          <p:nvPr/>
        </p:nvSpPr>
        <p:spPr>
          <a:xfrm>
            <a:off x="5462775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Text 6"/>
          <p:cNvSpPr/>
          <p:nvPr/>
        </p:nvSpPr>
        <p:spPr>
          <a:xfrm>
            <a:off x="5428875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5" name="Shape 7"/>
          <p:cNvSpPr/>
          <p:nvPr/>
        </p:nvSpPr>
        <p:spPr>
          <a:xfrm>
            <a:off x="7665824" y="2461348"/>
            <a:ext cx="421372" cy="421372"/>
          </a:xfrm>
          <a:custGeom>
            <a:avLst/>
            <a:gdLst/>
            <a:ahLst/>
            <a:cxnLst/>
            <a:rect l="l" t="t" r="r" b="b"/>
            <a:pathLst>
              <a:path w="421372" h="421372">
                <a:moveTo>
                  <a:pt x="210686" y="0"/>
                </a:moveTo>
                <a:moveTo>
                  <a:pt x="210686" y="0"/>
                </a:moveTo>
                <a:cubicBezTo>
                  <a:pt x="326966" y="0"/>
                  <a:pt x="421372" y="94405"/>
                  <a:pt x="421372" y="210686"/>
                </a:cubicBezTo>
                <a:cubicBezTo>
                  <a:pt x="421372" y="326966"/>
                  <a:pt x="326966" y="421372"/>
                  <a:pt x="210686" y="421372"/>
                </a:cubicBezTo>
                <a:cubicBezTo>
                  <a:pt x="94405" y="421372"/>
                  <a:pt x="0" y="326966"/>
                  <a:pt x="0" y="210686"/>
                </a:cubicBezTo>
                <a:cubicBezTo>
                  <a:pt x="0" y="94405"/>
                  <a:pt x="94405" y="0"/>
                  <a:pt x="210686" y="0"/>
                </a:cubic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6" name="Text 8"/>
          <p:cNvSpPr/>
          <p:nvPr/>
        </p:nvSpPr>
        <p:spPr>
          <a:xfrm>
            <a:off x="3225826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7631925" y="2416002"/>
            <a:ext cx="489170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70229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Memory Management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70229" y="3471122"/>
            <a:ext cx="1994394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Allocates RAM to programs, uses virtual memory when RAM is insufficient, frees memory when programs close.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247327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Virtual Memory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2473278" y="3471122"/>
            <a:ext cx="1994394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 disk space used when RAM fills up, extends available memory, enables multitasking despite limited physical RAM.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467632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System Types</a:t>
            </a:r>
            <a:endParaRPr lang="en-US" sz="1440" dirty="0"/>
          </a:p>
        </p:txBody>
      </p:sp>
      <p:sp>
        <p:nvSpPr>
          <p:cNvPr id="23" name="Text 15"/>
          <p:cNvSpPr/>
          <p:nvPr/>
        </p:nvSpPr>
        <p:spPr>
          <a:xfrm>
            <a:off x="4676328" y="3471122"/>
            <a:ext cx="1994394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NTFS for Windows, HFS+ for macOS, ext4 for Linux, organizing files hierarchically with permissions.</a:t>
            </a:r>
            <a:endParaRPr lang="en-US" sz="1440" dirty="0"/>
          </a:p>
        </p:txBody>
      </p:sp>
      <p:sp>
        <p:nvSpPr>
          <p:cNvPr id="24" name="Text 16"/>
          <p:cNvSpPr/>
          <p:nvPr/>
        </p:nvSpPr>
        <p:spPr>
          <a:xfrm>
            <a:off x="6879378" y="3107772"/>
            <a:ext cx="1994394" cy="27603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File Organization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6879378" y="3471122"/>
            <a:ext cx="1994394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Hierarchical structures with folders, enforces read/write permissions, manages file storage and retrieval efficiently.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 management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89857" y="1001727"/>
            <a:ext cx="8164286" cy="0"/>
          </a:xfrm>
          <a:custGeom>
            <a:avLst/>
            <a:gdLst/>
            <a:ahLst/>
            <a:cxnLst/>
            <a:rect l="l" t="t" r="r" b="b"/>
            <a:pathLst>
              <a:path w="8164286" h="0">
                <a:moveTo>
                  <a:pt x="0" y="0"/>
                </a:moveTo>
                <a:moveTo>
                  <a:pt x="0" y="0"/>
                </a:moveTo>
                <a:lnTo>
                  <a:pt x="8164286" y="0"/>
                </a:lnTo>
              </a:path>
            </a:pathLst>
          </a:custGeom>
          <a:noFill/>
          <a:ln w="19050">
            <a:solidFill>
              <a:srgbClr val="5049D5"/>
            </a:solidFill>
            <a:prstDash val="solid"/>
            <a:headEnd type="none"/>
            <a:tailEnd type="none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9416" y="768754"/>
            <a:ext cx="1301272" cy="53909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386" y="1366180"/>
            <a:ext cx="1917542" cy="318905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28470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0" name="Text 4"/>
          <p:cNvSpPr/>
          <p:nvPr/>
        </p:nvSpPr>
        <p:spPr>
          <a:xfrm>
            <a:off x="625092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Shape 5"/>
          <p:cNvSpPr/>
          <p:nvPr/>
        </p:nvSpPr>
        <p:spPr>
          <a:xfrm>
            <a:off x="574311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Shape 6"/>
          <p:cNvSpPr/>
          <p:nvPr/>
        </p:nvSpPr>
        <p:spPr>
          <a:xfrm>
            <a:off x="2561282" y="1366180"/>
            <a:ext cx="1917542" cy="3189051"/>
          </a:xfrm>
          <a:custGeom>
            <a:avLst/>
            <a:gdLst/>
            <a:ahLst/>
            <a:cxnLst/>
            <a:rect l="l" t="t" r="r" b="b"/>
            <a:pathLst>
              <a:path w="1917542" h="3189051">
                <a:moveTo>
                  <a:pt x="137206" y="0"/>
                </a:moveTo>
                <a:moveTo>
                  <a:pt x="137206" y="0"/>
                </a:moveTo>
                <a:lnTo>
                  <a:pt x="1780335" y="0"/>
                </a:lnTo>
                <a:quadBezTo>
                  <a:pt x="1917542" y="0"/>
                  <a:pt x="1917542" y="153991"/>
                </a:quadBezTo>
                <a:lnTo>
                  <a:pt x="1917542" y="3035060"/>
                </a:lnTo>
                <a:quadBezTo>
                  <a:pt x="1917542" y="3189051"/>
                  <a:pt x="1780335" y="3189051"/>
                </a:quadBezTo>
                <a:lnTo>
                  <a:pt x="137206" y="3189051"/>
                </a:lnTo>
                <a:quadBezTo>
                  <a:pt x="0" y="3189051"/>
                  <a:pt x="0" y="3035060"/>
                </a:quadBezTo>
                <a:lnTo>
                  <a:pt x="0" y="153991"/>
                </a:lnTo>
                <a:quadBezTo>
                  <a:pt x="0" y="0"/>
                  <a:pt x="137206" y="0"/>
                </a:quadBezTo>
                <a:close/>
              </a:path>
            </a:pathLst>
          </a:custGeom>
          <a:solidFill>
            <a:srgbClr val="5049D5"/>
          </a:solidFill>
          <a:ln w="9525">
            <a:solidFill>
              <a:srgbClr val="5049D5">
                <a:alpha val="45882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2632365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8"/>
          <p:cNvSpPr/>
          <p:nvPr/>
        </p:nvSpPr>
        <p:spPr>
          <a:xfrm>
            <a:off x="2728987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Shape 9"/>
          <p:cNvSpPr/>
          <p:nvPr/>
        </p:nvSpPr>
        <p:spPr>
          <a:xfrm>
            <a:off x="267820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FFFFFF">
                <a:alpha val="29020"/>
              </a:srgbClr>
            </a:solidFill>
            <a:prstDash val="solid"/>
            <a:headEnd type="none"/>
            <a:tailEnd type="none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177" y="1366180"/>
            <a:ext cx="1917542" cy="3189051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4736261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8" name="Text 11"/>
          <p:cNvSpPr/>
          <p:nvPr/>
        </p:nvSpPr>
        <p:spPr>
          <a:xfrm>
            <a:off x="4832883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Shape 12"/>
          <p:cNvSpPr/>
          <p:nvPr/>
        </p:nvSpPr>
        <p:spPr>
          <a:xfrm>
            <a:off x="4782102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9072" y="1366180"/>
            <a:ext cx="1917542" cy="3189051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840156" y="4041909"/>
            <a:ext cx="838796" cy="313151"/>
          </a:xfrm>
          <a:custGeom>
            <a:avLst/>
            <a:gdLst/>
            <a:ahLst/>
            <a:cxnLst/>
            <a:rect l="l" t="t" r="r" b="b"/>
            <a:pathLst>
              <a:path w="838796" h="313151">
                <a:moveTo>
                  <a:pt x="156575" y="0"/>
                </a:moveTo>
                <a:moveTo>
                  <a:pt x="156575" y="0"/>
                </a:moveTo>
                <a:lnTo>
                  <a:pt x="682221" y="0"/>
                </a:lnTo>
                <a:quadBezTo>
                  <a:pt x="838796" y="0"/>
                  <a:pt x="838796" y="156575"/>
                </a:quadBezTo>
                <a:lnTo>
                  <a:pt x="838796" y="156575"/>
                </a:lnTo>
                <a:quadBezTo>
                  <a:pt x="838796" y="313151"/>
                  <a:pt x="682221" y="313151"/>
                </a:quadBezTo>
                <a:lnTo>
                  <a:pt x="156575" y="313151"/>
                </a:lnTo>
                <a:quadBezTo>
                  <a:pt x="0" y="313151"/>
                  <a:pt x="0" y="156575"/>
                </a:quadBezTo>
                <a:lnTo>
                  <a:pt x="0" y="156575"/>
                </a:lnTo>
                <a:quadBezTo>
                  <a:pt x="0" y="0"/>
                  <a:pt x="156575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22" name="Text 14"/>
          <p:cNvSpPr/>
          <p:nvPr/>
        </p:nvSpPr>
        <p:spPr>
          <a:xfrm>
            <a:off x="6936778" y="3942452"/>
            <a:ext cx="645553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Shape 15"/>
          <p:cNvSpPr/>
          <p:nvPr/>
        </p:nvSpPr>
        <p:spPr>
          <a:xfrm>
            <a:off x="6885997" y="2295077"/>
            <a:ext cx="1800616" cy="0"/>
          </a:xfrm>
          <a:custGeom>
            <a:avLst/>
            <a:gdLst/>
            <a:ahLst/>
            <a:cxnLst/>
            <a:rect l="l" t="t" r="r" b="b"/>
            <a:pathLst>
              <a:path w="1800616" h="0">
                <a:moveTo>
                  <a:pt x="0" y="0"/>
                </a:moveTo>
                <a:moveTo>
                  <a:pt x="0" y="0"/>
                </a:moveTo>
                <a:lnTo>
                  <a:pt x="1800616" y="0"/>
                </a:lnTo>
              </a:path>
            </a:pathLst>
          </a:custGeom>
          <a:noFill/>
          <a:ln w="9525">
            <a:solidFill>
              <a:srgbClr val="5049D5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16"/>
          <p:cNvSpPr/>
          <p:nvPr/>
        </p:nvSpPr>
        <p:spPr>
          <a:xfrm>
            <a:off x="455517" y="1622847"/>
            <a:ext cx="1919411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Driver Communication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457386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Uses drivers to communicate with hardware devices, enabling proper functionality.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256128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I/O Queue Management</a:t>
            </a:r>
            <a:endParaRPr lang="en-US" sz="1440" dirty="0"/>
          </a:p>
        </p:txBody>
      </p:sp>
      <p:sp>
        <p:nvSpPr>
          <p:cNvPr id="27" name="Text 19"/>
          <p:cNvSpPr/>
          <p:nvPr/>
        </p:nvSpPr>
        <p:spPr>
          <a:xfrm>
            <a:off x="2561282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Manages input/output queues to ensure efficient data transfer between system and devices.</a:t>
            </a:r>
            <a:endParaRPr lang="en-US" sz="1440" dirty="0"/>
          </a:p>
        </p:txBody>
      </p:sp>
      <p:sp>
        <p:nvSpPr>
          <p:cNvPr id="28" name="Text 20"/>
          <p:cNvSpPr/>
          <p:nvPr/>
        </p:nvSpPr>
        <p:spPr>
          <a:xfrm>
            <a:off x="4665177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Hardware Recognition</a:t>
            </a:r>
            <a:endParaRPr lang="en-US" sz="1440" dirty="0"/>
          </a:p>
        </p:txBody>
      </p:sp>
      <p:sp>
        <p:nvSpPr>
          <p:cNvPr id="29" name="Text 21"/>
          <p:cNvSpPr/>
          <p:nvPr/>
        </p:nvSpPr>
        <p:spPr>
          <a:xfrm>
            <a:off x="4665177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Identifies and configures connected peripherals automatically, making them available to applications.</a:t>
            </a:r>
            <a:endParaRPr lang="en-US" sz="1440" dirty="0"/>
          </a:p>
        </p:txBody>
      </p:sp>
      <p:sp>
        <p:nvSpPr>
          <p:cNvPr id="30" name="Text 22"/>
          <p:cNvSpPr/>
          <p:nvPr/>
        </p:nvSpPr>
        <p:spPr>
          <a:xfrm>
            <a:off x="6769072" y="1622847"/>
            <a:ext cx="1917542" cy="5347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15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Allocation</a:t>
            </a:r>
            <a:endParaRPr lang="en-US" sz="1440" dirty="0"/>
          </a:p>
        </p:txBody>
      </p:sp>
      <p:sp>
        <p:nvSpPr>
          <p:cNvPr id="31" name="Text 23"/>
          <p:cNvSpPr/>
          <p:nvPr/>
        </p:nvSpPr>
        <p:spPr>
          <a:xfrm>
            <a:off x="6769072" y="2294733"/>
            <a:ext cx="191754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Assigns system resources to devices, preventing conflicts and optimizing performance.</a:t>
            </a:r>
            <a:endParaRPr lang="en-US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and networking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12" y="995309"/>
            <a:ext cx="3133589" cy="1246675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615856" y="2539853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049D5"/>
          </a:solidFill>
          <a:ln w="190500">
            <a:solidFill>
              <a:srgbClr val="5049D5">
                <a:alpha val="25882"/>
              </a:srgbClr>
            </a:solidFill>
            <a:prstDash val="solid"/>
          </a:ln>
        </p:spPr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194" y="3480115"/>
            <a:ext cx="3133589" cy="124667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3364838" y="2539853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196FF"/>
          </a:solidFill>
          <a:ln w="190500">
            <a:solidFill>
              <a:srgbClr val="5196FF">
                <a:alpha val="25882"/>
              </a:srgbClr>
            </a:solidFill>
            <a:prstDash val="solid"/>
          </a:ln>
        </p:spPr>
      </p:sp>
      <p:sp>
        <p:nvSpPr>
          <p:cNvPr id="10" name="Shape 4"/>
          <p:cNvSpPr/>
          <p:nvPr/>
        </p:nvSpPr>
        <p:spPr>
          <a:xfrm>
            <a:off x="5124593" y="2548997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049D5"/>
          </a:solidFill>
          <a:ln w="190500">
            <a:solidFill>
              <a:srgbClr val="5049D5">
                <a:alpha val="25882"/>
              </a:srgbClr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2350494" y="2853004"/>
            <a:ext cx="870534" cy="0"/>
          </a:xfrm>
          <a:custGeom>
            <a:avLst/>
            <a:gdLst/>
            <a:ahLst/>
            <a:cxnLst/>
            <a:rect l="l" t="t" r="r" b="b"/>
            <a:pathLst>
              <a:path w="870534" h="0">
                <a:moveTo>
                  <a:pt x="0" y="0"/>
                </a:moveTo>
                <a:moveTo>
                  <a:pt x="0" y="0"/>
                </a:moveTo>
                <a:lnTo>
                  <a:pt x="8705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arrow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0949" y="995309"/>
            <a:ext cx="3133589" cy="124667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3677989" y="3278804"/>
            <a:ext cx="0" cy="201311"/>
          </a:xfrm>
          <a:custGeom>
            <a:avLst/>
            <a:gdLst/>
            <a:ahLst/>
            <a:cxnLst/>
            <a:rect l="l" t="t" r="r" b="b"/>
            <a:pathLst>
              <a:path w="0" h="201311">
                <a:moveTo>
                  <a:pt x="0" y="201311"/>
                </a:moveTo>
                <a:moveTo>
                  <a:pt x="0" y="20131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4" name="Shape 7"/>
          <p:cNvSpPr/>
          <p:nvPr/>
        </p:nvSpPr>
        <p:spPr>
          <a:xfrm>
            <a:off x="5437743" y="2242969"/>
            <a:ext cx="0" cy="196229"/>
          </a:xfrm>
          <a:custGeom>
            <a:avLst/>
            <a:gdLst/>
            <a:ahLst/>
            <a:cxnLst/>
            <a:rect l="l" t="t" r="r" b="b"/>
            <a:pathLst>
              <a:path w="0"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5" name="Shape 8"/>
          <p:cNvSpPr/>
          <p:nvPr/>
        </p:nvSpPr>
        <p:spPr>
          <a:xfrm>
            <a:off x="1929006" y="2235310"/>
            <a:ext cx="0" cy="196229"/>
          </a:xfrm>
          <a:custGeom>
            <a:avLst/>
            <a:gdLst/>
            <a:ahLst/>
            <a:cxnLst/>
            <a:rect l="l" t="t" r="r" b="b"/>
            <a:pathLst>
              <a:path w="0"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16" name="Text 9"/>
          <p:cNvSpPr/>
          <p:nvPr/>
        </p:nvSpPr>
        <p:spPr>
          <a:xfrm>
            <a:off x="1553835" y="2583256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17" name="Text 10"/>
          <p:cNvSpPr/>
          <p:nvPr/>
        </p:nvSpPr>
        <p:spPr>
          <a:xfrm>
            <a:off x="3302818" y="2590083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8" name="Text 11"/>
          <p:cNvSpPr/>
          <p:nvPr/>
        </p:nvSpPr>
        <p:spPr>
          <a:xfrm>
            <a:off x="5062573" y="2580939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9" name="Shape 12"/>
          <p:cNvSpPr/>
          <p:nvPr/>
        </p:nvSpPr>
        <p:spPr>
          <a:xfrm>
            <a:off x="4110582" y="2853004"/>
            <a:ext cx="870534" cy="0"/>
          </a:xfrm>
          <a:custGeom>
            <a:avLst/>
            <a:gdLst/>
            <a:ahLst/>
            <a:cxnLst/>
            <a:rect l="l" t="t" r="r" b="b"/>
            <a:pathLst>
              <a:path w="870534" h="0">
                <a:moveTo>
                  <a:pt x="0" y="0"/>
                </a:moveTo>
                <a:moveTo>
                  <a:pt x="0" y="0"/>
                </a:moveTo>
                <a:lnTo>
                  <a:pt x="8705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arrow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8199" y="3480115"/>
            <a:ext cx="3133589" cy="1246675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6901843" y="2539853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5196FF"/>
          </a:solidFill>
          <a:ln w="190500">
            <a:solidFill>
              <a:srgbClr val="5196FF">
                <a:alpha val="25882"/>
              </a:srgbClr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5887499" y="2853004"/>
            <a:ext cx="870534" cy="0"/>
          </a:xfrm>
          <a:custGeom>
            <a:avLst/>
            <a:gdLst/>
            <a:ahLst/>
            <a:cxnLst/>
            <a:rect l="l" t="t" r="r" b="b"/>
            <a:pathLst>
              <a:path w="870534" h="0">
                <a:moveTo>
                  <a:pt x="0" y="0"/>
                </a:moveTo>
                <a:moveTo>
                  <a:pt x="0" y="0"/>
                </a:moveTo>
                <a:lnTo>
                  <a:pt x="870534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arrow"/>
          </a:ln>
        </p:spPr>
      </p:sp>
      <p:sp>
        <p:nvSpPr>
          <p:cNvPr id="23" name="Shape 15"/>
          <p:cNvSpPr/>
          <p:nvPr/>
        </p:nvSpPr>
        <p:spPr>
          <a:xfrm>
            <a:off x="7214994" y="3278804"/>
            <a:ext cx="0" cy="201311"/>
          </a:xfrm>
          <a:custGeom>
            <a:avLst/>
            <a:gdLst/>
            <a:ahLst/>
            <a:cxnLst/>
            <a:rect l="l" t="t" r="r" b="b"/>
            <a:pathLst>
              <a:path w="0" h="201311">
                <a:moveTo>
                  <a:pt x="0" y="201311"/>
                </a:moveTo>
                <a:moveTo>
                  <a:pt x="0" y="201311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5049D5"/>
            </a:solidFill>
            <a:prstDash val="solid"/>
            <a:headEnd type="none"/>
            <a:tailEnd type="none"/>
          </a:ln>
        </p:spPr>
      </p:sp>
      <p:sp>
        <p:nvSpPr>
          <p:cNvPr id="24" name="Text 16"/>
          <p:cNvSpPr/>
          <p:nvPr/>
        </p:nvSpPr>
        <p:spPr>
          <a:xfrm>
            <a:off x="6839823" y="2590083"/>
            <a:ext cx="750342" cy="5394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87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sp>
        <p:nvSpPr>
          <p:cNvPr id="25" name="Text 17"/>
          <p:cNvSpPr/>
          <p:nvPr/>
        </p:nvSpPr>
        <p:spPr>
          <a:xfrm>
            <a:off x="362212" y="1086749"/>
            <a:ext cx="3002626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Authentication Methods</a:t>
            </a:r>
            <a:endParaRPr lang="en-US" sz="1440" dirty="0"/>
          </a:p>
        </p:txBody>
      </p:sp>
      <p:sp>
        <p:nvSpPr>
          <p:cNvPr id="26" name="Text 18"/>
          <p:cNvSpPr/>
          <p:nvPr/>
        </p:nvSpPr>
        <p:spPr>
          <a:xfrm>
            <a:off x="362212" y="1428168"/>
            <a:ext cx="31335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Passwords, biometrics protect system access while authorization controls user privileges.</a:t>
            </a:r>
            <a:endParaRPr lang="en-US" sz="1440" dirty="0"/>
          </a:p>
        </p:txBody>
      </p:sp>
      <p:sp>
        <p:nvSpPr>
          <p:cNvPr id="27" name="Text 19"/>
          <p:cNvSpPr/>
          <p:nvPr/>
        </p:nvSpPr>
        <p:spPr>
          <a:xfrm>
            <a:off x="2111194" y="3571555"/>
            <a:ext cx="2951379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Protection</a:t>
            </a:r>
            <a:endParaRPr lang="en-US" sz="1440" dirty="0"/>
          </a:p>
        </p:txBody>
      </p:sp>
      <p:sp>
        <p:nvSpPr>
          <p:cNvPr id="28" name="Text 20"/>
          <p:cNvSpPr/>
          <p:nvPr/>
        </p:nvSpPr>
        <p:spPr>
          <a:xfrm>
            <a:off x="2111194" y="3912974"/>
            <a:ext cx="313358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Encryption secures sensitive information from unauthorized access during storage and transmission.</a:t>
            </a:r>
            <a:endParaRPr lang="en-US" sz="1440" dirty="0"/>
          </a:p>
        </p:txBody>
      </p:sp>
      <p:sp>
        <p:nvSpPr>
          <p:cNvPr id="29" name="Text 21"/>
          <p:cNvSpPr/>
          <p:nvPr/>
        </p:nvSpPr>
        <p:spPr>
          <a:xfrm>
            <a:off x="3870949" y="1086749"/>
            <a:ext cx="296887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Connectivity</a:t>
            </a:r>
            <a:endParaRPr lang="en-US" sz="1440" dirty="0"/>
          </a:p>
        </p:txBody>
      </p:sp>
      <p:sp>
        <p:nvSpPr>
          <p:cNvPr id="30" name="Text 22"/>
          <p:cNvSpPr/>
          <p:nvPr/>
        </p:nvSpPr>
        <p:spPr>
          <a:xfrm>
            <a:off x="3870949" y="1428168"/>
            <a:ext cx="31335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TCP/IP stack enables internet communication while managing Wi-Fi and Ethernet connections.</a:t>
            </a:r>
            <a:endParaRPr lang="en-US" sz="1440" dirty="0"/>
          </a:p>
        </p:txBody>
      </p:sp>
      <p:sp>
        <p:nvSpPr>
          <p:cNvPr id="31" name="Text 23"/>
          <p:cNvSpPr/>
          <p:nvPr/>
        </p:nvSpPr>
        <p:spPr>
          <a:xfrm>
            <a:off x="5648199" y="3571555"/>
            <a:ext cx="297041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Management</a:t>
            </a:r>
            <a:endParaRPr lang="en-US" sz="1440" dirty="0"/>
          </a:p>
        </p:txBody>
      </p:sp>
      <p:sp>
        <p:nvSpPr>
          <p:cNvPr id="32" name="Text 24"/>
          <p:cNvSpPr/>
          <p:nvPr/>
        </p:nvSpPr>
        <p:spPr>
          <a:xfrm>
            <a:off x="5648199" y="3912974"/>
            <a:ext cx="3133589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OS handles network resource allocation, ensuring stable connectivity for applications and services.</a:t>
            </a:r>
            <a:endParaRPr lang="en-US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interface options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151578" y="2073420"/>
            <a:ext cx="6620780" cy="0"/>
          </a:xfrm>
          <a:custGeom>
            <a:avLst/>
            <a:gdLst/>
            <a:ahLst/>
            <a:cxnLst/>
            <a:rect l="l" t="t" r="r" b="b"/>
            <a:pathLst>
              <a:path w="6620780" h="0">
                <a:moveTo>
                  <a:pt x="0" y="0"/>
                </a:moveTo>
                <a:moveTo>
                  <a:pt x="0" y="0"/>
                </a:moveTo>
                <a:lnTo>
                  <a:pt x="6620780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7" name="Shape 3"/>
          <p:cNvSpPr/>
          <p:nvPr/>
        </p:nvSpPr>
        <p:spPr>
          <a:xfrm>
            <a:off x="2360571" y="2901207"/>
            <a:ext cx="6411786" cy="0"/>
          </a:xfrm>
          <a:custGeom>
            <a:avLst/>
            <a:gdLst/>
            <a:ahLst/>
            <a:cxnLst/>
            <a:rect l="l" t="t" r="r" b="b"/>
            <a:pathLst>
              <a:path w="6411786" h="0">
                <a:moveTo>
                  <a:pt x="0" y="0"/>
                </a:moveTo>
                <a:moveTo>
                  <a:pt x="0" y="0"/>
                </a:moveTo>
                <a:lnTo>
                  <a:pt x="6411786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2681405" y="3756427"/>
            <a:ext cx="6090953" cy="0"/>
          </a:xfrm>
          <a:custGeom>
            <a:avLst/>
            <a:gdLst/>
            <a:ahLst/>
            <a:cxnLst/>
            <a:rect l="l" t="t" r="r" b="b"/>
            <a:pathLst>
              <a:path w="6090953" h="0">
                <a:moveTo>
                  <a:pt x="0" y="0"/>
                </a:moveTo>
                <a:moveTo>
                  <a:pt x="0" y="0"/>
                </a:moveTo>
                <a:lnTo>
                  <a:pt x="6090953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sp>
        <p:nvSpPr>
          <p:cNvPr id="9" name="Shape 5"/>
          <p:cNvSpPr/>
          <p:nvPr/>
        </p:nvSpPr>
        <p:spPr>
          <a:xfrm>
            <a:off x="3560636" y="4639078"/>
            <a:ext cx="5211722" cy="0"/>
          </a:xfrm>
          <a:custGeom>
            <a:avLst/>
            <a:gdLst/>
            <a:ahLst/>
            <a:cxnLst/>
            <a:rect l="l" t="t" r="r" b="b"/>
            <a:pathLst>
              <a:path w="5211722" h="0">
                <a:moveTo>
                  <a:pt x="0" y="0"/>
                </a:moveTo>
                <a:moveTo>
                  <a:pt x="0" y="0"/>
                </a:moveTo>
                <a:lnTo>
                  <a:pt x="5211722" y="0"/>
                </a:lnTo>
              </a:path>
            </a:pathLst>
          </a:custGeom>
          <a:noFill/>
          <a:ln w="16105">
            <a:solidFill>
              <a:srgbClr val="E1E1E1"/>
            </a:solidFill>
            <a:prstDash val="solid"/>
            <a:headEnd type="none"/>
            <a:tailEnd type="none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228600" y="764082"/>
            <a:ext cx="3526203" cy="392106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228600" y="747983"/>
            <a:ext cx="3526203" cy="394393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6">
            <a:alphaModFix amt="80000"/>
          </a:blip>
          <a:stretch>
            <a:fillRect/>
          </a:stretch>
        </p:blipFill>
        <p:spPr>
          <a:xfrm>
            <a:off x="228600" y="761525"/>
            <a:ext cx="3526203" cy="3943937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754754"/>
            <a:ext cx="3526203" cy="3943937"/>
          </a:xfrm>
          <a:prstGeom prst="rect">
            <a:avLst/>
          </a:prstGeom>
        </p:spPr>
      </p:pic>
      <p:sp>
        <p:nvSpPr>
          <p:cNvPr id="14" name="Shape 6"/>
          <p:cNvSpPr/>
          <p:nvPr/>
        </p:nvSpPr>
        <p:spPr>
          <a:xfrm>
            <a:off x="1991701" y="1473117"/>
            <a:ext cx="0" cy="2948042"/>
          </a:xfrm>
          <a:custGeom>
            <a:avLst/>
            <a:gdLst/>
            <a:ahLst/>
            <a:cxnLst/>
            <a:rect l="l" t="t" r="r" b="b"/>
            <a:pathLst>
              <a:path w="0" h="2948042">
                <a:moveTo>
                  <a:pt x="0" y="0"/>
                </a:moveTo>
                <a:moveTo>
                  <a:pt x="0" y="0"/>
                </a:moveTo>
                <a:lnTo>
                  <a:pt x="0" y="2948042"/>
                </a:lnTo>
              </a:path>
            </a:pathLst>
          </a:custGeom>
          <a:noFill/>
          <a:ln w="38100">
            <a:solidFill>
              <a:srgbClr val="FFFFFF"/>
            </a:solidFill>
            <a:prstDash val="solid"/>
            <a:headEnd type="arrow"/>
            <a:tailEnd type="none"/>
          </a:ln>
        </p:spPr>
      </p:sp>
      <p:sp>
        <p:nvSpPr>
          <p:cNvPr id="15" name="Text 7"/>
          <p:cNvSpPr/>
          <p:nvPr/>
        </p:nvSpPr>
        <p:spPr>
          <a:xfrm>
            <a:off x="2443096" y="1463057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GUI options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4642193" y="1293893"/>
            <a:ext cx="4273207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Windows/macOS with icons, menus, and windows for visual interaction.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2814438" y="2283524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 options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4864446" y="2114360"/>
            <a:ext cx="405095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Linux terminal and PowerShell for text-based command input.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3200849" y="3142516"/>
            <a:ext cx="211135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Interface selection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3672507" y="3998773"/>
            <a:ext cx="1825784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Accessibility features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5230409" y="2973352"/>
            <a:ext cx="368499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Choose based on task requirements and user comfort level.</a:t>
            </a:r>
            <a:endParaRPr lang="en-US" sz="1440" dirty="0"/>
          </a:p>
        </p:txBody>
      </p:sp>
      <p:sp>
        <p:nvSpPr>
          <p:cNvPr id="22" name="Text 14"/>
          <p:cNvSpPr/>
          <p:nvPr/>
        </p:nvSpPr>
        <p:spPr>
          <a:xfrm>
            <a:off x="5498290" y="3829609"/>
            <a:ext cx="3417110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Screen readers, magnifiers, and voice control for diverse user needs.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3370" y="1959269"/>
            <a:ext cx="522111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Device Operations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70" y="438260"/>
            <a:ext cx="914028" cy="914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154" y="742055"/>
            <a:ext cx="1356643" cy="92354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888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Startup and shutdown procedures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39" y="1306072"/>
            <a:ext cx="8922252" cy="1895978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44122" y="1219329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8" name="Text 3"/>
          <p:cNvSpPr/>
          <p:nvPr/>
        </p:nvSpPr>
        <p:spPr>
          <a:xfrm>
            <a:off x="444122" y="1118849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9" name="Shape 4"/>
          <p:cNvSpPr/>
          <p:nvPr/>
        </p:nvSpPr>
        <p:spPr>
          <a:xfrm>
            <a:off x="1770341" y="3294391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sp>
        <p:nvSpPr>
          <p:cNvPr id="10" name="Shape 5"/>
          <p:cNvSpPr/>
          <p:nvPr/>
        </p:nvSpPr>
        <p:spPr>
          <a:xfrm>
            <a:off x="3779623" y="1015203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524621" y="1690310"/>
            <a:ext cx="2493292" cy="42050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779623" y="914723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13" name="Shape 7"/>
          <p:cNvSpPr/>
          <p:nvPr/>
        </p:nvSpPr>
        <p:spPr>
          <a:xfrm>
            <a:off x="5604416" y="3020728"/>
            <a:ext cx="750342" cy="292816"/>
          </a:xfrm>
          <a:custGeom>
            <a:avLst/>
            <a:gdLst/>
            <a:ahLst/>
            <a:cxnLst/>
            <a:rect l="l" t="t" r="r" b="b"/>
            <a:pathLst>
              <a:path w="750342" h="292816">
                <a:moveTo>
                  <a:pt x="36602" y="0"/>
                </a:moveTo>
                <a:moveTo>
                  <a:pt x="36602" y="0"/>
                </a:moveTo>
                <a:lnTo>
                  <a:pt x="713740" y="0"/>
                </a:lnTo>
                <a:quadBezTo>
                  <a:pt x="750342" y="0"/>
                  <a:pt x="750342" y="36602"/>
                </a:quadBezTo>
                <a:lnTo>
                  <a:pt x="750342" y="256214"/>
                </a:lnTo>
                <a:quadBezTo>
                  <a:pt x="750342" y="292816"/>
                  <a:pt x="713740" y="292816"/>
                </a:quadBezTo>
                <a:lnTo>
                  <a:pt x="36602" y="292816"/>
                </a:lnTo>
                <a:quadBezTo>
                  <a:pt x="0" y="292816"/>
                  <a:pt x="0" y="256214"/>
                </a:quadBezTo>
                <a:lnTo>
                  <a:pt x="0" y="36602"/>
                </a:lnTo>
                <a:quadBezTo>
                  <a:pt x="0" y="0"/>
                  <a:pt x="36602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910284" y="1803510"/>
            <a:ext cx="2672235" cy="42050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70341" y="3193911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16" name="Text 9"/>
          <p:cNvSpPr/>
          <p:nvPr/>
        </p:nvSpPr>
        <p:spPr>
          <a:xfrm>
            <a:off x="5613560" y="2929392"/>
            <a:ext cx="750342" cy="48463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04</a:t>
            </a:r>
            <a:endParaRPr lang="en-US" sz="144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735766" y="3923167"/>
            <a:ext cx="1831405" cy="389174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743577" y="3732803"/>
            <a:ext cx="1831405" cy="389174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76986" y="152064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Proper Startup Process</a:t>
            </a:r>
            <a:endParaRPr lang="en-US" sz="1440" dirty="0"/>
          </a:p>
        </p:txBody>
      </p:sp>
      <p:sp>
        <p:nvSpPr>
          <p:cNvPr id="20" name="Text 11"/>
          <p:cNvSpPr/>
          <p:nvPr/>
        </p:nvSpPr>
        <p:spPr>
          <a:xfrm>
            <a:off x="576870" y="1932592"/>
            <a:ext cx="2958288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Power button, BIOS check, bootloader loads OS kernel, drivers initialize, login screen appears.</a:t>
            </a:r>
            <a:endParaRPr lang="en-US" sz="1440" dirty="0"/>
          </a:p>
        </p:txBody>
      </p:sp>
      <p:sp>
        <p:nvSpPr>
          <p:cNvPr id="21" name="Text 12"/>
          <p:cNvSpPr/>
          <p:nvPr/>
        </p:nvSpPr>
        <p:spPr>
          <a:xfrm>
            <a:off x="1767535" y="3613709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Safe Shutdown Steps</a:t>
            </a:r>
            <a:endParaRPr lang="en-US" sz="1440" dirty="0"/>
          </a:p>
        </p:txBody>
      </p:sp>
      <p:sp>
        <p:nvSpPr>
          <p:cNvPr id="22" name="Text 13"/>
          <p:cNvSpPr/>
          <p:nvPr/>
        </p:nvSpPr>
        <p:spPr>
          <a:xfrm>
            <a:off x="1748333" y="4036162"/>
            <a:ext cx="2958084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 work, click Start→Power→Shutdown, wait for complete power off to prevent data loss.</a:t>
            </a:r>
            <a:endParaRPr lang="en-US" sz="1440" dirty="0"/>
          </a:p>
        </p:txBody>
      </p:sp>
      <p:sp>
        <p:nvSpPr>
          <p:cNvPr id="23" name="Text 14"/>
          <p:cNvSpPr/>
          <p:nvPr/>
        </p:nvSpPr>
        <p:spPr>
          <a:xfrm>
            <a:off x="3902659" y="1311250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Improper Shutdown Risks</a:t>
            </a:r>
            <a:endParaRPr lang="en-US" sz="1440" dirty="0"/>
          </a:p>
        </p:txBody>
      </p:sp>
      <p:sp>
        <p:nvSpPr>
          <p:cNvPr id="24" name="Text 15"/>
          <p:cNvSpPr/>
          <p:nvPr/>
        </p:nvSpPr>
        <p:spPr>
          <a:xfrm>
            <a:off x="3902646" y="1722730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Holding power button can cause data loss and potential hardware damage.</a:t>
            </a:r>
            <a:endParaRPr lang="en-US" sz="1440" dirty="0"/>
          </a:p>
        </p:txBody>
      </p:sp>
      <p:sp>
        <p:nvSpPr>
          <p:cNvPr id="25" name="Text 16"/>
          <p:cNvSpPr/>
          <p:nvPr/>
        </p:nvSpPr>
        <p:spPr>
          <a:xfrm>
            <a:off x="5773522" y="3395167"/>
            <a:ext cx="295808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Boot Sequence</a:t>
            </a:r>
            <a:endParaRPr lang="en-US" sz="1440" dirty="0"/>
          </a:p>
        </p:txBody>
      </p:sp>
      <p:sp>
        <p:nvSpPr>
          <p:cNvPr id="26" name="Text 17"/>
          <p:cNvSpPr/>
          <p:nvPr/>
        </p:nvSpPr>
        <p:spPr>
          <a:xfrm>
            <a:off x="5773740" y="3813048"/>
            <a:ext cx="2958084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POST hardware check occurs before OS loads, ensuring all components function properly.</a:t>
            </a:r>
            <a:endParaRPr lang="en-US" sz="14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Sleep, hibernate, restart modes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4690102" y="2386557"/>
            <a:ext cx="1279870" cy="127987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3458141" y="2726641"/>
            <a:ext cx="1296296" cy="1296296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4028" y="1507894"/>
            <a:ext cx="1247019" cy="1258243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4319820" y="1120563"/>
            <a:ext cx="1263445" cy="1263445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 rot="5400000">
            <a:off x="4319820" y="1120563"/>
            <a:ext cx="1263445" cy="12634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Bef>
                <a:spcPts val="375"/>
              </a:spcBef>
              <a:buNone/>
            </a:pPr>
            <a:endParaRPr lang="en-US" sz="1440" dirty="0"/>
          </a:p>
        </p:txBody>
      </p:sp>
      <p:sp>
        <p:nvSpPr>
          <p:cNvPr id="11" name="Text 3"/>
          <p:cNvSpPr/>
          <p:nvPr/>
        </p:nvSpPr>
        <p:spPr>
          <a:xfrm>
            <a:off x="258693" y="93911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Sleep Mode</a:t>
            </a:r>
            <a:endParaRPr lang="en-US" sz="1440" dirty="0"/>
          </a:p>
        </p:txBody>
      </p:sp>
      <p:sp>
        <p:nvSpPr>
          <p:cNvPr id="12" name="Text 4"/>
          <p:cNvSpPr/>
          <p:nvPr/>
        </p:nvSpPr>
        <p:spPr>
          <a:xfrm>
            <a:off x="253537" y="1370708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Saves state in RAM for quick resume with key press.</a:t>
            </a:r>
            <a:endParaRPr lang="en-US" sz="1440" dirty="0"/>
          </a:p>
        </p:txBody>
      </p:sp>
      <p:sp>
        <p:nvSpPr>
          <p:cNvPr id="13" name="Text 5"/>
          <p:cNvSpPr/>
          <p:nvPr/>
        </p:nvSpPr>
        <p:spPr>
          <a:xfrm>
            <a:off x="6002866" y="939111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Hibernate Mode</a:t>
            </a:r>
            <a:endParaRPr lang="en-US" sz="1440" dirty="0"/>
          </a:p>
        </p:txBody>
      </p:sp>
      <p:sp>
        <p:nvSpPr>
          <p:cNvPr id="14" name="Text 6"/>
          <p:cNvSpPr/>
          <p:nvPr/>
        </p:nvSpPr>
        <p:spPr>
          <a:xfrm>
            <a:off x="6002866" y="1370686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Saves state to disk, uses no power, resumes slower with power button.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258693" y="3171161"/>
            <a:ext cx="2833736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Restart Function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253537" y="3595443"/>
            <a:ext cx="283889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Reloads OS kernel, clears temporary memory, refreshes system completely.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6002866" y="3171139"/>
            <a:ext cx="2874389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 Selection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6002866" y="3595443"/>
            <a:ext cx="2869730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through Start menu Power options for proper system management.</a:t>
            </a:r>
            <a:endParaRPr lang="en-US" sz="14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account management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746793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5196FF">
              <a:alpha val="1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921810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5196FF">
              <a:alpha val="1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323469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5196FF">
              <a:alpha val="10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2498485" y="948947"/>
            <a:ext cx="2052164" cy="3872237"/>
          </a:xfrm>
          <a:custGeom>
            <a:avLst/>
            <a:gdLst/>
            <a:ahLst/>
            <a:cxnLst/>
            <a:rect l="l" t="t" r="r" b="b"/>
            <a:pathLst>
              <a:path w="2052164" h="3872237">
                <a:moveTo>
                  <a:pt x="0" y="0"/>
                </a:moveTo>
                <a:moveTo>
                  <a:pt x="0" y="0"/>
                </a:moveTo>
                <a:lnTo>
                  <a:pt x="2052164" y="0"/>
                </a:lnTo>
                <a:lnTo>
                  <a:pt x="2052164" y="3872237"/>
                </a:lnTo>
                <a:lnTo>
                  <a:pt x="0" y="3872237"/>
                </a:ln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0" name="Text 6"/>
          <p:cNvSpPr/>
          <p:nvPr/>
        </p:nvSpPr>
        <p:spPr>
          <a:xfrm>
            <a:off x="2367844" y="993482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1" name="Text 7"/>
          <p:cNvSpPr/>
          <p:nvPr/>
        </p:nvSpPr>
        <p:spPr>
          <a:xfrm>
            <a:off x="458210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181976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323469" y="2455856"/>
            <a:ext cx="1978872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Creating new accounts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323469" y="2958637"/>
            <a:ext cx="197887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Settings, add users, choose account type, set password, test login.</a:t>
            </a:r>
            <a:endParaRPr lang="en-US" sz="1440" dirty="0"/>
          </a:p>
        </p:txBody>
      </p:sp>
      <p:sp>
        <p:nvSpPr>
          <p:cNvPr id="15" name="Text 11"/>
          <p:cNvSpPr/>
          <p:nvPr/>
        </p:nvSpPr>
        <p:spPr>
          <a:xfrm>
            <a:off x="2498485" y="1792458"/>
            <a:ext cx="20521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Login methods</a:t>
            </a:r>
            <a:endParaRPr lang="en-US" sz="1440" dirty="0"/>
          </a:p>
        </p:txBody>
      </p:sp>
      <p:sp>
        <p:nvSpPr>
          <p:cNvPr id="16" name="Text 12"/>
          <p:cNvSpPr/>
          <p:nvPr/>
        </p:nvSpPr>
        <p:spPr>
          <a:xfrm>
            <a:off x="2498485" y="2408479"/>
            <a:ext cx="205216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Password, PIN, biometrics, two-factor authentication options for secure access.</a:t>
            </a:r>
            <a:endParaRPr lang="en-US" sz="1440" dirty="0"/>
          </a:p>
        </p:txBody>
      </p:sp>
      <p:sp>
        <p:nvSpPr>
          <p:cNvPr id="17" name="Text 13"/>
          <p:cNvSpPr/>
          <p:nvPr/>
        </p:nvSpPr>
        <p:spPr>
          <a:xfrm>
            <a:off x="4746793" y="2455856"/>
            <a:ext cx="198455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 types</a:t>
            </a:r>
            <a:endParaRPr lang="en-US" sz="1440" dirty="0"/>
          </a:p>
        </p:txBody>
      </p:sp>
      <p:sp>
        <p:nvSpPr>
          <p:cNvPr id="18" name="Text 14"/>
          <p:cNvSpPr/>
          <p:nvPr/>
        </p:nvSpPr>
        <p:spPr>
          <a:xfrm>
            <a:off x="4746793" y="2958637"/>
            <a:ext cx="198455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Administrator has full control; Standard User has limited permissions.</a:t>
            </a:r>
            <a:endParaRPr lang="en-US" sz="1440" dirty="0"/>
          </a:p>
        </p:txBody>
      </p:sp>
      <p:sp>
        <p:nvSpPr>
          <p:cNvPr id="19" name="Text 15"/>
          <p:cNvSpPr/>
          <p:nvPr/>
        </p:nvSpPr>
        <p:spPr>
          <a:xfrm>
            <a:off x="6921810" y="2455856"/>
            <a:ext cx="197887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Account security</a:t>
            </a:r>
            <a:endParaRPr lang="en-US" sz="1440" dirty="0"/>
          </a:p>
        </p:txBody>
      </p:sp>
      <p:sp>
        <p:nvSpPr>
          <p:cNvPr id="20" name="Text 16"/>
          <p:cNvSpPr/>
          <p:nvPr/>
        </p:nvSpPr>
        <p:spPr>
          <a:xfrm>
            <a:off x="6921810" y="2958637"/>
            <a:ext cx="197887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Strong passwords, regular updates, limited sharing prevent unauthorized access.</a:t>
            </a:r>
            <a:endParaRPr lang="en-US" sz="1440" dirty="0"/>
          </a:p>
        </p:txBody>
      </p:sp>
      <p:sp>
        <p:nvSpPr>
          <p:cNvPr id="21" name="Text 17"/>
          <p:cNvSpPr/>
          <p:nvPr/>
        </p:nvSpPr>
        <p:spPr>
          <a:xfrm>
            <a:off x="681202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5196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Basic troubleshooting techniques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pic>
        <p:nvPicPr>
          <p:cNvPr id="6" name="Image 2" descr="https://oceandoc-ai.obs.ap-southeast-3.myhuaweicloud.com:443/image_1767932318508_v90AvA.jpg">    </p:cNvPr>
          <p:cNvPicPr>
            <a:picLocks noChangeAspect="1"/>
          </p:cNvPicPr>
          <p:nvPr/>
        </p:nvPicPr>
        <p:blipFill>
          <a:blip r:embed="rId4"/>
          <a:srcRect l="21910" r="21910" t="0" b="0"/>
          <a:stretch/>
        </p:blipFill>
        <p:spPr>
          <a:xfrm>
            <a:off x="374576" y="1495818"/>
            <a:ext cx="2631059" cy="2631059"/>
          </a:xfrm>
          <a:prstGeom prst="ellipse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47937" y="785540"/>
            <a:ext cx="431572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Frozen Application Solutions</a:t>
            </a:r>
            <a:endParaRPr lang="en-US" sz="1440" dirty="0"/>
          </a:p>
        </p:txBody>
      </p:sp>
      <p:sp>
        <p:nvSpPr>
          <p:cNvPr id="8" name="Text 3"/>
          <p:cNvSpPr/>
          <p:nvPr/>
        </p:nvSpPr>
        <p:spPr>
          <a:xfrm>
            <a:off x="3827468" y="1049450"/>
            <a:ext cx="470723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Task Manager to end unresponsive programs by pressing Ctrl+Shift+Esc, selecting frozen app, clicking End Task.</a:t>
            </a:r>
            <a:endParaRPr lang="en-US" sz="1440" dirty="0"/>
          </a:p>
        </p:txBody>
      </p:sp>
      <p:sp>
        <p:nvSpPr>
          <p:cNvPr id="9" name="Shape 4"/>
          <p:cNvSpPr/>
          <p:nvPr/>
        </p:nvSpPr>
        <p:spPr>
          <a:xfrm>
            <a:off x="3095179" y="899484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0" name="Text 5"/>
          <p:cNvSpPr/>
          <p:nvPr/>
        </p:nvSpPr>
        <p:spPr>
          <a:xfrm>
            <a:off x="3016891" y="885491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1" name="Text 6"/>
          <p:cNvSpPr/>
          <p:nvPr/>
        </p:nvSpPr>
        <p:spPr>
          <a:xfrm>
            <a:off x="4125062" y="1757983"/>
            <a:ext cx="431572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Restart Methods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4125062" y="2030474"/>
            <a:ext cx="470723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Press Ctrl+Alt+Del when system freezes, select Restart option, use Safe Mode for persistent issues.</a:t>
            </a:r>
            <a:endParaRPr lang="en-US" sz="1440" dirty="0"/>
          </a:p>
        </p:txBody>
      </p:sp>
      <p:sp>
        <p:nvSpPr>
          <p:cNvPr id="13" name="Shape 8"/>
          <p:cNvSpPr/>
          <p:nvPr/>
        </p:nvSpPr>
        <p:spPr>
          <a:xfrm>
            <a:off x="3355839" y="1876218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4" name="Text 9"/>
          <p:cNvSpPr/>
          <p:nvPr/>
        </p:nvSpPr>
        <p:spPr>
          <a:xfrm>
            <a:off x="3277551" y="1862225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5" name="Text 10"/>
          <p:cNvSpPr/>
          <p:nvPr/>
        </p:nvSpPr>
        <p:spPr>
          <a:xfrm>
            <a:off x="4125062" y="2748152"/>
            <a:ext cx="431572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Peripheral Connection Issues</a:t>
            </a:r>
            <a:endParaRPr lang="en-US" sz="1440" dirty="0"/>
          </a:p>
        </p:txBody>
      </p:sp>
      <p:sp>
        <p:nvSpPr>
          <p:cNvPr id="16" name="Text 11"/>
          <p:cNvSpPr/>
          <p:nvPr/>
        </p:nvSpPr>
        <p:spPr>
          <a:xfrm>
            <a:off x="4125062" y="3013901"/>
            <a:ext cx="470723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cables, update drivers through Device Manager, test device functionality after troubleshooting steps.</a:t>
            </a:r>
            <a:endParaRPr lang="en-US" sz="1440" dirty="0"/>
          </a:p>
        </p:txBody>
      </p:sp>
      <p:sp>
        <p:nvSpPr>
          <p:cNvPr id="17" name="Shape 12"/>
          <p:cNvSpPr/>
          <p:nvPr/>
        </p:nvSpPr>
        <p:spPr>
          <a:xfrm>
            <a:off x="3355839" y="2872160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18" name="Text 13"/>
          <p:cNvSpPr/>
          <p:nvPr/>
        </p:nvSpPr>
        <p:spPr>
          <a:xfrm>
            <a:off x="3277551" y="2858166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9" name="Text 14"/>
          <p:cNvSpPr/>
          <p:nvPr/>
        </p:nvSpPr>
        <p:spPr>
          <a:xfrm>
            <a:off x="3784504" y="3722434"/>
            <a:ext cx="4315724" cy="4572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Error Message Analysis</a:t>
            </a:r>
            <a:endParaRPr lang="en-US" sz="1440" dirty="0"/>
          </a:p>
        </p:txBody>
      </p:sp>
      <p:sp>
        <p:nvSpPr>
          <p:cNvPr id="20" name="Text 15"/>
          <p:cNvSpPr/>
          <p:nvPr/>
        </p:nvSpPr>
        <p:spPr>
          <a:xfrm>
            <a:off x="3784504" y="3991246"/>
            <a:ext cx="470723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error codes, research solutions through official documentation or support forums for accurate fixes.</a:t>
            </a:r>
            <a:endParaRPr lang="en-US" sz="1440" dirty="0"/>
          </a:p>
        </p:txBody>
      </p:sp>
      <p:sp>
        <p:nvSpPr>
          <p:cNvPr id="21" name="Shape 16"/>
          <p:cNvSpPr/>
          <p:nvPr/>
        </p:nvSpPr>
        <p:spPr>
          <a:xfrm>
            <a:off x="3057547" y="3843402"/>
            <a:ext cx="648669" cy="648669"/>
          </a:xfrm>
          <a:custGeom>
            <a:avLst/>
            <a:gdLst/>
            <a:ahLst/>
            <a:cxnLst/>
            <a:rect l="l" t="t" r="r" b="b"/>
            <a:pathLst>
              <a:path w="648669" h="648669">
                <a:moveTo>
                  <a:pt x="324335" y="0"/>
                </a:moveTo>
                <a:moveTo>
                  <a:pt x="324335" y="0"/>
                </a:moveTo>
                <a:cubicBezTo>
                  <a:pt x="503340" y="0"/>
                  <a:pt x="648669" y="145329"/>
                  <a:pt x="648669" y="324335"/>
                </a:cubicBezTo>
                <a:cubicBezTo>
                  <a:pt x="648669" y="503340"/>
                  <a:pt x="503340" y="648669"/>
                  <a:pt x="324335" y="648669"/>
                </a:cubicBezTo>
                <a:cubicBezTo>
                  <a:pt x="145329" y="648669"/>
                  <a:pt x="0" y="503340"/>
                  <a:pt x="0" y="324335"/>
                </a:cubicBezTo>
                <a:cubicBezTo>
                  <a:pt x="0" y="145329"/>
                  <a:pt x="145329" y="0"/>
                  <a:pt x="324335" y="0"/>
                </a:cubicBezTo>
                <a:close/>
              </a:path>
            </a:pathLst>
          </a:custGeom>
          <a:solidFill>
            <a:srgbClr val="5049D5"/>
          </a:solidFill>
          <a:ln/>
        </p:spPr>
      </p:sp>
      <p:sp>
        <p:nvSpPr>
          <p:cNvPr id="22" name="Text 17"/>
          <p:cNvSpPr/>
          <p:nvPr/>
        </p:nvSpPr>
        <p:spPr>
          <a:xfrm>
            <a:off x="2979259" y="3829408"/>
            <a:ext cx="805245" cy="6766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59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0" y="1147291"/>
            <a:ext cx="3216748" cy="3250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8814" y="77724"/>
            <a:ext cx="8926325" cy="4987842"/>
          </a:xfrm>
          <a:custGeom>
            <a:avLst/>
            <a:gdLst/>
            <a:ahLst/>
            <a:cxnLst/>
            <a:rect l="l" t="t" r="r" b="b"/>
            <a:pathLst>
              <a:path w="8926325" h="4987842">
                <a:moveTo>
                  <a:pt x="0" y="623480"/>
                </a:moveTo>
                <a:moveTo>
                  <a:pt x="0" y="623480"/>
                </a:moveTo>
                <a:quadBezTo>
                  <a:pt x="0" y="0"/>
                  <a:pt x="623480" y="0"/>
                </a:quadBezTo>
                <a:lnTo>
                  <a:pt x="8302845" y="0"/>
                </a:lnTo>
                <a:quadBezTo>
                  <a:pt x="8926325" y="0"/>
                  <a:pt x="8926325" y="623480"/>
                </a:quadBezTo>
                <a:lnTo>
                  <a:pt x="8926325" y="4987842"/>
                </a:lnTo>
                <a:lnTo>
                  <a:pt x="0" y="4987842"/>
                </a:lnTo>
                <a:close/>
              </a:path>
            </a:pathLst>
          </a:custGeom>
          <a:solidFill>
            <a:srgbClr val="FFFFFF">
              <a:alpha val="38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8294" y="123444"/>
            <a:ext cx="8005572" cy="5669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016" b="1" dirty="0">
                <a:solidFill>
                  <a:srgbClr val="0A02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Peripheral issue resolution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0" y="346776"/>
            <a:ext cx="219456" cy="2194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838" y="237048"/>
            <a:ext cx="219456" cy="21945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2700000">
            <a:off x="2995607" y="2562602"/>
            <a:ext cx="911657" cy="911657"/>
          </a:xfrm>
          <a:custGeom>
            <a:avLst/>
            <a:gdLst/>
            <a:ahLst/>
            <a:cxnLst/>
            <a:rect l="l" t="t" r="r" b="b"/>
            <a:pathLst>
              <a:path w="911657" h="911657">
                <a:moveTo>
                  <a:pt x="158693" y="0"/>
                </a:moveTo>
                <a:moveTo>
                  <a:pt x="158693" y="0"/>
                </a:moveTo>
                <a:lnTo>
                  <a:pt x="752964" y="0"/>
                </a:lnTo>
                <a:quadBezTo>
                  <a:pt x="911657" y="0"/>
                  <a:pt x="911657" y="158693"/>
                </a:quadBezTo>
                <a:lnTo>
                  <a:pt x="911657" y="752964"/>
                </a:lnTo>
                <a:quadBezTo>
                  <a:pt x="911657" y="911657"/>
                  <a:pt x="752964" y="911657"/>
                </a:quadBezTo>
                <a:lnTo>
                  <a:pt x="158693" y="911657"/>
                </a:lnTo>
                <a:quadBezTo>
                  <a:pt x="0" y="911657"/>
                  <a:pt x="0" y="752964"/>
                </a:quadBezTo>
                <a:lnTo>
                  <a:pt x="0" y="158693"/>
                </a:lnTo>
                <a:quadBezTo>
                  <a:pt x="0" y="0"/>
                  <a:pt x="15869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182" y="2818177"/>
            <a:ext cx="400507" cy="400507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 rot="2700000">
            <a:off x="3704254" y="1814392"/>
            <a:ext cx="911657" cy="911657"/>
          </a:xfrm>
          <a:custGeom>
            <a:avLst/>
            <a:gdLst/>
            <a:ahLst/>
            <a:cxnLst/>
            <a:rect l="l" t="t" r="r" b="b"/>
            <a:pathLst>
              <a:path w="911657" h="911657">
                <a:moveTo>
                  <a:pt x="158693" y="0"/>
                </a:moveTo>
                <a:moveTo>
                  <a:pt x="158693" y="0"/>
                </a:moveTo>
                <a:lnTo>
                  <a:pt x="752964" y="0"/>
                </a:lnTo>
                <a:quadBezTo>
                  <a:pt x="911657" y="0"/>
                  <a:pt x="911657" y="158693"/>
                </a:quadBezTo>
                <a:lnTo>
                  <a:pt x="911657" y="752964"/>
                </a:lnTo>
                <a:quadBezTo>
                  <a:pt x="911657" y="911657"/>
                  <a:pt x="752964" y="911657"/>
                </a:quadBezTo>
                <a:lnTo>
                  <a:pt x="158693" y="911657"/>
                </a:lnTo>
                <a:quadBezTo>
                  <a:pt x="0" y="911657"/>
                  <a:pt x="0" y="752964"/>
                </a:quadBezTo>
                <a:lnTo>
                  <a:pt x="0" y="158693"/>
                </a:lnTo>
                <a:quadBezTo>
                  <a:pt x="0" y="0"/>
                  <a:pt x="158693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6054" y="2046192"/>
            <a:ext cx="448056" cy="448056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 rot="2700000">
            <a:off x="4521823" y="2553458"/>
            <a:ext cx="911657" cy="911657"/>
          </a:xfrm>
          <a:custGeom>
            <a:avLst/>
            <a:gdLst/>
            <a:ahLst/>
            <a:cxnLst/>
            <a:rect l="l" t="t" r="r" b="b"/>
            <a:pathLst>
              <a:path w="911657" h="911657">
                <a:moveTo>
                  <a:pt x="158693" y="0"/>
                </a:moveTo>
                <a:moveTo>
                  <a:pt x="158693" y="0"/>
                </a:moveTo>
                <a:lnTo>
                  <a:pt x="752964" y="0"/>
                </a:lnTo>
                <a:quadBezTo>
                  <a:pt x="911657" y="0"/>
                  <a:pt x="911657" y="158693"/>
                </a:quadBezTo>
                <a:lnTo>
                  <a:pt x="911657" y="752964"/>
                </a:lnTo>
                <a:quadBezTo>
                  <a:pt x="911657" y="911657"/>
                  <a:pt x="752964" y="911657"/>
                </a:quadBezTo>
                <a:lnTo>
                  <a:pt x="158693" y="911657"/>
                </a:lnTo>
                <a:quadBezTo>
                  <a:pt x="0" y="911657"/>
                  <a:pt x="0" y="752964"/>
                </a:quadBezTo>
                <a:lnTo>
                  <a:pt x="0" y="158693"/>
                </a:lnTo>
                <a:quadBezTo>
                  <a:pt x="0" y="0"/>
                  <a:pt x="158693" y="0"/>
                </a:quadBezTo>
                <a:close/>
              </a:path>
            </a:pathLst>
          </a:custGeom>
          <a:solidFill>
            <a:srgbClr val="5049D5"/>
          </a:solidFill>
          <a:ln/>
        </p:spPr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5642" y="2837278"/>
            <a:ext cx="344018" cy="34401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 rot="2700000">
            <a:off x="5236736" y="1814392"/>
            <a:ext cx="911657" cy="911657"/>
          </a:xfrm>
          <a:custGeom>
            <a:avLst/>
            <a:gdLst/>
            <a:ahLst/>
            <a:cxnLst/>
            <a:rect l="l" t="t" r="r" b="b"/>
            <a:pathLst>
              <a:path w="911657" h="911657">
                <a:moveTo>
                  <a:pt x="158693" y="0"/>
                </a:moveTo>
                <a:moveTo>
                  <a:pt x="158693" y="0"/>
                </a:moveTo>
                <a:lnTo>
                  <a:pt x="752964" y="0"/>
                </a:lnTo>
                <a:quadBezTo>
                  <a:pt x="911657" y="0"/>
                  <a:pt x="911657" y="158693"/>
                </a:quadBezTo>
                <a:lnTo>
                  <a:pt x="911657" y="752964"/>
                </a:lnTo>
                <a:quadBezTo>
                  <a:pt x="911657" y="911657"/>
                  <a:pt x="752964" y="911657"/>
                </a:quadBezTo>
                <a:lnTo>
                  <a:pt x="158693" y="911657"/>
                </a:lnTo>
                <a:quadBezTo>
                  <a:pt x="0" y="911657"/>
                  <a:pt x="0" y="752964"/>
                </a:quadBezTo>
                <a:lnTo>
                  <a:pt x="0" y="158693"/>
                </a:lnTo>
                <a:quadBezTo>
                  <a:pt x="0" y="0"/>
                  <a:pt x="158693" y="0"/>
                </a:quadBezTo>
                <a:close/>
              </a:path>
            </a:pathLst>
          </a:custGeom>
          <a:solidFill>
            <a:srgbClr val="5196FF"/>
          </a:solidFill>
          <a:ln/>
        </p:spPr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0599" y="2088254"/>
            <a:ext cx="363931" cy="363931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228600" y="911657"/>
            <a:ext cx="256306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 connections</a:t>
            </a:r>
            <a:endParaRPr lang="en-US" sz="1440" dirty="0"/>
          </a:p>
        </p:txBody>
      </p:sp>
      <p:sp>
        <p:nvSpPr>
          <p:cNvPr id="15" name="Text 7"/>
          <p:cNvSpPr/>
          <p:nvPr/>
        </p:nvSpPr>
        <p:spPr>
          <a:xfrm>
            <a:off x="228600" y="1398118"/>
            <a:ext cx="256306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Verify all cables are properly connected to both device and computer.</a:t>
            </a:r>
            <a:endParaRPr lang="en-US" sz="1440" dirty="0"/>
          </a:p>
        </p:txBody>
      </p:sp>
      <p:sp>
        <p:nvSpPr>
          <p:cNvPr id="16" name="Text 8"/>
          <p:cNvSpPr/>
          <p:nvPr/>
        </p:nvSpPr>
        <p:spPr>
          <a:xfrm>
            <a:off x="6309771" y="911657"/>
            <a:ext cx="2562880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Update drivers</a:t>
            </a:r>
            <a:endParaRPr lang="en-US" sz="1440" dirty="0"/>
          </a:p>
        </p:txBody>
      </p:sp>
      <p:sp>
        <p:nvSpPr>
          <p:cNvPr id="17" name="Text 9"/>
          <p:cNvSpPr/>
          <p:nvPr/>
        </p:nvSpPr>
        <p:spPr>
          <a:xfrm>
            <a:off x="6309771" y="1398118"/>
            <a:ext cx="256288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Access Device Manager to install latest software drivers for problematic peripherals.</a:t>
            </a:r>
            <a:endParaRPr lang="en-US" sz="1440" dirty="0"/>
          </a:p>
        </p:txBody>
      </p:sp>
      <p:sp>
        <p:nvSpPr>
          <p:cNvPr id="18" name="Text 10"/>
          <p:cNvSpPr/>
          <p:nvPr/>
        </p:nvSpPr>
        <p:spPr>
          <a:xfrm>
            <a:off x="228600" y="2900081"/>
            <a:ext cx="256306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 functionality</a:t>
            </a:r>
            <a:endParaRPr lang="en-US" sz="1440" dirty="0"/>
          </a:p>
        </p:txBody>
      </p:sp>
      <p:sp>
        <p:nvSpPr>
          <p:cNvPr id="19" name="Text 11"/>
          <p:cNvSpPr/>
          <p:nvPr/>
        </p:nvSpPr>
        <p:spPr>
          <a:xfrm>
            <a:off x="228600" y="3360939"/>
            <a:ext cx="2563063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After connections and drivers are fixed, verify device works properly.</a:t>
            </a:r>
            <a:endParaRPr lang="en-US" sz="1440" dirty="0"/>
          </a:p>
        </p:txBody>
      </p:sp>
      <p:sp>
        <p:nvSpPr>
          <p:cNvPr id="20" name="Text 12"/>
          <p:cNvSpPr/>
          <p:nvPr/>
        </p:nvSpPr>
        <p:spPr>
          <a:xfrm>
            <a:off x="6309589" y="2900081"/>
            <a:ext cx="2563063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5049D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Seek support</a:t>
            </a:r>
            <a:endParaRPr lang="en-US" sz="1440" dirty="0"/>
          </a:p>
        </p:txBody>
      </p:sp>
      <p:sp>
        <p:nvSpPr>
          <p:cNvPr id="21" name="Text 13"/>
          <p:cNvSpPr/>
          <p:nvPr/>
        </p:nvSpPr>
        <p:spPr>
          <a:xfrm>
            <a:off x="6309589" y="3360939"/>
            <a:ext cx="2563063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008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issues persist, consult manufacturer documentation or contact technical support.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15396" y="1666794"/>
            <a:ext cx="4313208" cy="11430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040" b="1" dirty="0">
                <a:solidFill>
                  <a:srgbClr val="002D9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2026-01-09T04:26:13Z</dcterms:created>
  <dcterms:modified xsi:type="dcterms:W3CDTF">2026-01-09T04:26:13Z</dcterms:modified>
</cp:coreProperties>
</file>